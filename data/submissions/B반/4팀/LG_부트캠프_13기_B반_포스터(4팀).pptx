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62850" cy="10688638"/>
  <p:notesSz cx="10688638" cy="7562850"/>
  <p:embeddedFontLst>
    <p:embeddedFont>
      <p:font typeface="Black Han Sans" panose="020B0600000101010101" charset="-127"/>
      <p:regular r:id="rId5"/>
    </p:embeddedFont>
    <p:embeddedFont>
      <p:font typeface="Gothic A1" panose="020B0600000101010101" charset="-127"/>
      <p:regular r:id="rId6"/>
      <p:bold r:id="rId7"/>
    </p:embeddedFont>
    <p:embeddedFont>
      <p:font typeface="Malgun Gothic" panose="020B0503020000020004" pitchFamily="50" charset="-127"/>
      <p:regular r:id="rId8"/>
      <p:bold r:id="rId9"/>
    </p:embeddedFont>
    <p:embeddedFont>
      <p:font typeface="Space Grotesk" panose="020B0600000101010101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dzDR8yx4s9hlOWDN5N7jwtQYc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-3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81775" y="567200"/>
            <a:ext cx="7126100" cy="2836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68850" y="3592350"/>
            <a:ext cx="8550900" cy="34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1068850" y="3592350"/>
            <a:ext cx="8550900" cy="3403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40225" y="566738"/>
            <a:ext cx="2008188" cy="2836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1440" y="91440"/>
            <a:ext cx="7379208" cy="292608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91440" y="91440"/>
            <a:ext cx="73792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D93D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방구석 트레이너</a:t>
            </a:r>
            <a:r>
              <a:rPr lang="en-US" sz="800" b="1">
                <a:solidFill>
                  <a:srgbClr val="FFFDF5"/>
                </a:solidFill>
                <a:latin typeface="Space Grotesk"/>
                <a:ea typeface="Space Grotesk"/>
                <a:cs typeface="Space Grotesk"/>
                <a:sym typeface="Space Grotesk"/>
              </a:rPr>
              <a:t>  ★   B반 2팀   ★   메시드리블 ★   이범석   ★   송은지   ★   김진성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74320" y="530352"/>
            <a:ext cx="2788920" cy="256032"/>
          </a:xfrm>
          <a:prstGeom prst="rect">
            <a:avLst/>
          </a:prstGeom>
          <a:solidFill>
            <a:srgbClr val="000000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8575" dir="2700000" algn="bl" rotWithShape="0">
              <a:srgbClr val="FF6B6B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Space Grotesk"/>
              <a:buNone/>
            </a:pPr>
            <a:r>
              <a:rPr lang="en-US" sz="900" b="1">
                <a:solidFill>
                  <a:srgbClr val="FF6B6B"/>
                </a:solidFill>
                <a:latin typeface="Space Grotesk"/>
                <a:ea typeface="Space Grotesk"/>
                <a:cs typeface="Space Grotesk"/>
                <a:sym typeface="Space Grotesk"/>
              </a:rPr>
              <a:t>●  </a:t>
            </a:r>
            <a:r>
              <a:rPr lang="en-US" sz="900" b="1">
                <a:solidFill>
                  <a:srgbClr val="FFFDF5"/>
                </a:solidFill>
                <a:latin typeface="Gothic A1"/>
                <a:ea typeface="Gothic A1"/>
                <a:cs typeface="Gothic A1"/>
                <a:sym typeface="Gothic A1"/>
              </a:rPr>
              <a:t>AI 홈 트레이닝 · 웹캠 자세 코칭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74320" y="84124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Black Han Sans"/>
              <a:buNone/>
            </a:pPr>
            <a:r>
              <a:rPr lang="en-US" sz="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방구석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 rot="-120000">
            <a:off x="292608" y="1436068"/>
            <a:ext cx="2148840" cy="603504"/>
          </a:xfrm>
          <a:prstGeom prst="rect">
            <a:avLst/>
          </a:prstGeom>
          <a:solidFill>
            <a:srgbClr val="FF6B6B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3500"/>
              <a:buFont typeface="Black Han Sans"/>
              <a:buNone/>
            </a:pPr>
            <a:r>
              <a:rPr lang="en-US" sz="3500">
                <a:solidFill>
                  <a:srgbClr val="FFFD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트레이너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74320" y="2284523"/>
            <a:ext cx="3886200" cy="4572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84048" y="2284523"/>
            <a:ext cx="36667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웨어러블·센서 없이 </a:t>
            </a:r>
            <a:r>
              <a:rPr lang="en-US" sz="850" b="1">
                <a:solidFill>
                  <a:srgbClr val="000000"/>
                </a:solidFill>
                <a:highlight>
                  <a:srgbClr val="FFD93D"/>
                </a:highlight>
                <a:latin typeface="Gothic A1"/>
                <a:ea typeface="Gothic A1"/>
                <a:cs typeface="Gothic A1"/>
                <a:sym typeface="Gothic A1"/>
              </a:rPr>
              <a:t>브라우저 카메라 하나로</a:t>
            </a: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운동 자세를 실시간 분석하고, 반복 횟수·자세 점수·교정 피드백을 즉시 돌려주는 </a:t>
            </a:r>
            <a:r>
              <a:rPr lang="en-US" sz="850" b="1">
                <a:solidFill>
                  <a:srgbClr val="000000"/>
                </a:solidFill>
                <a:highlight>
                  <a:srgbClr val="FFD93D"/>
                </a:highlight>
                <a:latin typeface="Gothic A1"/>
                <a:ea typeface="Gothic A1"/>
                <a:cs typeface="Gothic A1"/>
                <a:sym typeface="Gothic A1"/>
              </a:rPr>
              <a:t>홈 피트니스 AI 코치</a:t>
            </a: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315968" y="539496"/>
            <a:ext cx="2971800" cy="658368"/>
          </a:xfrm>
          <a:prstGeom prst="rect">
            <a:avLst/>
          </a:prstGeom>
          <a:solidFill>
            <a:srgbClr val="FFD93D"/>
          </a:solidFill>
          <a:ln w="333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434840" y="667512"/>
            <a:ext cx="384048" cy="384048"/>
          </a:xfrm>
          <a:prstGeom prst="rect">
            <a:avLst/>
          </a:prstGeom>
          <a:solidFill>
            <a:srgbClr val="FFFDF5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8848" y="7315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4937760" y="6400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Black Han Sans"/>
              <a:buNone/>
            </a:pPr>
            <a:r>
              <a:rPr lang="en-US" sz="15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카메라만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937760" y="914400"/>
            <a:ext cx="22585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othic A1"/>
              <a:buNone/>
            </a:pPr>
            <a:r>
              <a:rPr lang="en-US" sz="80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전용 기기 0개 · 웹캠으로 끝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315968" y="1325880"/>
            <a:ext cx="2971800" cy="658368"/>
          </a:xfrm>
          <a:prstGeom prst="rect">
            <a:avLst/>
          </a:prstGeom>
          <a:solidFill>
            <a:srgbClr val="C4B5FD"/>
          </a:solidFill>
          <a:ln w="333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434840" y="1463040"/>
            <a:ext cx="384048" cy="384048"/>
          </a:xfrm>
          <a:prstGeom prst="rect">
            <a:avLst/>
          </a:prstGeom>
          <a:solidFill>
            <a:srgbClr val="FFFDF5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8848" y="1527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4937760" y="143560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Black Han Sans"/>
              <a:buNone/>
            </a:pPr>
            <a:r>
              <a:rPr lang="en-US" sz="15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100% 로컬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937760" y="1709928"/>
            <a:ext cx="22585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othic A1"/>
              <a:buNone/>
            </a:pPr>
            <a:r>
              <a:rPr lang="en-US" sz="80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라즈베리파이 · 외부 전송 없음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315968" y="2121408"/>
            <a:ext cx="2971800" cy="658368"/>
          </a:xfrm>
          <a:prstGeom prst="rect">
            <a:avLst/>
          </a:prstGeom>
          <a:solidFill>
            <a:srgbClr val="FF6B6B"/>
          </a:solidFill>
          <a:ln w="333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434840" y="2258568"/>
            <a:ext cx="384048" cy="384048"/>
          </a:xfrm>
          <a:prstGeom prst="rect">
            <a:avLst/>
          </a:prstGeom>
          <a:solidFill>
            <a:srgbClr val="FFFDF5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98848" y="23225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4937760" y="223113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Black Han Sans"/>
              <a:buNone/>
            </a:pPr>
            <a:r>
              <a:rPr lang="en-US" sz="15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결과 개인화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937760" y="2505456"/>
            <a:ext cx="22585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Gothic A1"/>
              <a:buNone/>
            </a:pPr>
            <a:r>
              <a:rPr lang="en-US" sz="80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체형에 맞춘 결과 제공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 rot="-180000">
            <a:off x="274320" y="3109325"/>
            <a:ext cx="475488" cy="384048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8575" dir="2700000" algn="bl" rotWithShape="0">
              <a:srgbClr val="FF6B6B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100"/>
              <a:buFont typeface="Space Grotesk"/>
              <a:buNone/>
            </a:pPr>
            <a:r>
              <a:rPr lang="en-US" sz="2100" b="1">
                <a:solidFill>
                  <a:srgbClr val="FFFDF5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77824" y="3072749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Black Han Sans"/>
              <a:buNone/>
            </a:pPr>
            <a:r>
              <a:rPr lang="en-US" sz="23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목표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77824" y="3356213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A60"/>
              </a:buClr>
              <a:buSzPts val="900"/>
              <a:buFont typeface="Space Grotesk"/>
              <a:buNone/>
            </a:pPr>
            <a:r>
              <a:rPr lang="en-US" sz="900" b="1">
                <a:solidFill>
                  <a:srgbClr val="6E6A6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GOAL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274320" y="3621943"/>
            <a:ext cx="70134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Black Han Sans"/>
              <a:buNone/>
            </a:pPr>
            <a:r>
              <a:rPr lang="en-US" sz="17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별도 장비 없이, </a:t>
            </a:r>
            <a:r>
              <a:rPr lang="en-US" sz="1700">
                <a:solidFill>
                  <a:srgbClr val="FFD93D"/>
                </a:solidFill>
                <a:highlight>
                  <a:srgbClr val="000000"/>
                </a:highlight>
                <a:latin typeface="Black Han Sans"/>
                <a:ea typeface="Black Han Sans"/>
                <a:cs typeface="Black Han Sans"/>
                <a:sym typeface="Black Han Sans"/>
              </a:rPr>
              <a:t>브라우저 카메라만으로</a:t>
            </a:r>
            <a:r>
              <a:rPr lang="en-US" sz="17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누구나 정확한 홈 트레이닝을.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274320" y="4014490"/>
            <a:ext cx="1664208" cy="1011762"/>
          </a:xfrm>
          <a:prstGeom prst="rect">
            <a:avLst/>
          </a:prstGeom>
          <a:solidFill>
            <a:srgbClr val="FFFDF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74904" y="4105931"/>
            <a:ext cx="310896" cy="310896"/>
          </a:xfrm>
          <a:prstGeom prst="rect">
            <a:avLst/>
          </a:prstGeom>
          <a:solidFill>
            <a:srgbClr val="FFD93D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9768" y="4160795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"/>
          <p:cNvSpPr/>
          <p:nvPr/>
        </p:nvSpPr>
        <p:spPr>
          <a:xfrm>
            <a:off x="374904" y="447215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Black Han Sans"/>
              <a:buNone/>
            </a:pPr>
            <a:r>
              <a:rPr lang="en-US" sz="125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장비 없이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374812" y="4681911"/>
            <a:ext cx="1517904" cy="26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웨어러블 대신 MediaPipe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Pose로 관절 추출.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2057400" y="4014491"/>
            <a:ext cx="1664208" cy="1011761"/>
          </a:xfrm>
          <a:prstGeom prst="rect">
            <a:avLst/>
          </a:prstGeom>
          <a:solidFill>
            <a:srgbClr val="FFFDF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2157984" y="4105931"/>
            <a:ext cx="310896" cy="310896"/>
          </a:xfrm>
          <a:prstGeom prst="rect">
            <a:avLst/>
          </a:prstGeom>
          <a:solidFill>
            <a:srgbClr val="C4B5FD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12848" y="4160795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"/>
          <p:cNvSpPr/>
          <p:nvPr/>
        </p:nvSpPr>
        <p:spPr>
          <a:xfrm>
            <a:off x="2157984" y="447215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Black Han Sans"/>
              <a:buNone/>
            </a:pPr>
            <a:r>
              <a:rPr lang="en-US" sz="125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즉각 피드백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2157984" y="4681911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반복 횟수·점수·교정을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운동 도중 실시간.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3840480" y="4014491"/>
            <a:ext cx="1664208" cy="1011760"/>
          </a:xfrm>
          <a:prstGeom prst="rect">
            <a:avLst/>
          </a:prstGeom>
          <a:solidFill>
            <a:srgbClr val="FFFDF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3941064" y="4105931"/>
            <a:ext cx="310896" cy="310896"/>
          </a:xfrm>
          <a:prstGeom prst="rect">
            <a:avLst/>
          </a:prstGeom>
          <a:solidFill>
            <a:srgbClr val="FF6B6B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95928" y="4160795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/>
          <p:nvPr/>
        </p:nvSpPr>
        <p:spPr>
          <a:xfrm>
            <a:off x="3941064" y="447215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Black Han Sans"/>
              <a:buNone/>
            </a:pPr>
            <a:r>
              <a:rPr lang="en-US" sz="125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프라이버시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3941064" y="4681911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로컬 동작, 영상은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기기 안에만.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623560" y="4014491"/>
            <a:ext cx="1664208" cy="1011760"/>
          </a:xfrm>
          <a:prstGeom prst="rect">
            <a:avLst/>
          </a:prstGeom>
          <a:solidFill>
            <a:srgbClr val="FFFDF5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724144" y="4105931"/>
            <a:ext cx="310896" cy="310896"/>
          </a:xfrm>
          <a:prstGeom prst="rect">
            <a:avLst/>
          </a:prstGeom>
          <a:solidFill>
            <a:srgbClr val="FFFFFF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79008" y="4160795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/>
          <p:nvPr/>
        </p:nvSpPr>
        <p:spPr>
          <a:xfrm>
            <a:off x="5724144" y="447215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Black Han Sans"/>
              <a:buNone/>
            </a:pPr>
            <a:r>
              <a:rPr lang="en-US" sz="125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누구나 쉽게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724144" y="4681911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설정·로그인 없이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Gothic A1"/>
              <a:buNone/>
            </a:pPr>
            <a:r>
              <a:rPr lang="en-US" sz="8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이름·사번만으로.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 rot="-180000">
            <a:off x="274320" y="5407515"/>
            <a:ext cx="475488" cy="384048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8575" dir="2700000" algn="bl" rotWithShape="0">
              <a:srgbClr val="FF6B6B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100"/>
              <a:buFont typeface="Space Grotesk"/>
              <a:buNone/>
            </a:pPr>
            <a:r>
              <a:rPr lang="en-US" sz="2100" b="1">
                <a:solidFill>
                  <a:srgbClr val="FFFDF5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877824" y="5370939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Black Han Sans"/>
              <a:buNone/>
            </a:pPr>
            <a:r>
              <a:rPr lang="en-US" sz="23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핵심 기능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877824" y="5654403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A60"/>
              </a:buClr>
              <a:buSzPts val="900"/>
              <a:buFont typeface="Space Grotesk"/>
              <a:buNone/>
            </a:pPr>
            <a:r>
              <a:rPr lang="en-US" sz="900" b="1">
                <a:solidFill>
                  <a:srgbClr val="6E6A60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274320" y="6045367"/>
            <a:ext cx="2258568" cy="1160644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384048" y="6177360"/>
            <a:ext cx="329184" cy="329184"/>
          </a:xfrm>
          <a:prstGeom prst="rect">
            <a:avLst/>
          </a:prstGeom>
          <a:solidFill>
            <a:srgbClr val="FF6B6B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8912" y="62322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/>
          <p:nvPr/>
        </p:nvSpPr>
        <p:spPr>
          <a:xfrm>
            <a:off x="1984248" y="615907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CABF"/>
              </a:buClr>
              <a:buSzPts val="2000"/>
              <a:buFont typeface="Space Grotesk"/>
              <a:buNone/>
            </a:pPr>
            <a:r>
              <a:rPr lang="en-US" sz="2000" b="1">
                <a:solidFill>
                  <a:srgbClr val="CFC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384048" y="6571287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lack Han Sans"/>
              <a:buNone/>
            </a:pPr>
            <a:r>
              <a:rPr lang="en-US" sz="12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실시간 자세 채점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384048" y="6772641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스쿼트·푸시업·플랭크를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서버 채점 엔진 + YAML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규칙으로 동작 판정.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2642616" y="6045367"/>
            <a:ext cx="2258568" cy="1160644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2752344" y="6177360"/>
            <a:ext cx="329184" cy="329184"/>
          </a:xfrm>
          <a:prstGeom prst="rect">
            <a:avLst/>
          </a:prstGeom>
          <a:solidFill>
            <a:srgbClr val="FFD93D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807208" y="6242289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/>
          <p:nvPr/>
        </p:nvSpPr>
        <p:spPr>
          <a:xfrm>
            <a:off x="4352544" y="6251433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CABF"/>
              </a:buClr>
              <a:buSzPts val="2000"/>
              <a:buFont typeface="Space Grotesk"/>
              <a:buNone/>
            </a:pPr>
            <a:r>
              <a:rPr lang="en-US" sz="2000" b="1">
                <a:solidFill>
                  <a:srgbClr val="CFC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2752344" y="6571287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lack Han Sans"/>
              <a:buNone/>
            </a:pPr>
            <a:r>
              <a:rPr lang="en-US" sz="12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체형 분석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2752344" y="6772641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어깨·골반·척추·거북목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지표로 자세 점수와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'자세 나이' 산출.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5029200" y="6045367"/>
            <a:ext cx="2258568" cy="1160644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5138928" y="6177360"/>
            <a:ext cx="329184" cy="329184"/>
          </a:xfrm>
          <a:prstGeom prst="rect">
            <a:avLst/>
          </a:prstGeom>
          <a:solidFill>
            <a:srgbClr val="C4B5FD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93792" y="6242289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/>
          <p:nvPr/>
        </p:nvSpPr>
        <p:spPr>
          <a:xfrm>
            <a:off x="6739128" y="6232959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CABF"/>
              </a:buClr>
              <a:buSzPts val="2000"/>
              <a:buFont typeface="Space Grotesk"/>
              <a:buNone/>
            </a:pPr>
            <a:r>
              <a:rPr lang="en-US" sz="2000" b="1">
                <a:solidFill>
                  <a:srgbClr val="CFC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5138928" y="6571287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lack Han Sans"/>
              <a:buNone/>
            </a:pPr>
            <a:r>
              <a:rPr lang="en-US" sz="12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맞춤 코스 생성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5138928" y="6772641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목표·강도·부상 부위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기반으로 개인별 운동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플랜 자동 생성.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274320" y="7349264"/>
            <a:ext cx="2258568" cy="115740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384048" y="7449848"/>
            <a:ext cx="329184" cy="329184"/>
          </a:xfrm>
          <a:prstGeom prst="rect">
            <a:avLst/>
          </a:prstGeom>
          <a:solidFill>
            <a:srgbClr val="FFD93D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38912" y="7504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/>
          <p:nvPr/>
        </p:nvSpPr>
        <p:spPr>
          <a:xfrm>
            <a:off x="1984248" y="7431560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CABF"/>
              </a:buClr>
              <a:buSzPts val="2000"/>
              <a:buFont typeface="Space Grotesk"/>
              <a:buNone/>
            </a:pPr>
            <a:r>
              <a:rPr lang="en-US" sz="2000" b="1">
                <a:solidFill>
                  <a:srgbClr val="CFC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384048" y="784839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lack Han Sans"/>
              <a:buNone/>
            </a:pPr>
            <a:r>
              <a:rPr lang="en-US" sz="12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개인화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384048" y="8072836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신체 프로필·부상 이력·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개인 ROM 보정으로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채점 맞춤화.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651760" y="7349263"/>
            <a:ext cx="2258568" cy="1157409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761488" y="7449848"/>
            <a:ext cx="329184" cy="329184"/>
          </a:xfrm>
          <a:prstGeom prst="rect">
            <a:avLst/>
          </a:prstGeom>
          <a:solidFill>
            <a:srgbClr val="C4B5FD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816352" y="7504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4361688" y="7431560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CABF"/>
              </a:buClr>
              <a:buSzPts val="2000"/>
              <a:buFont typeface="Space Grotesk"/>
              <a:buNone/>
            </a:pPr>
            <a:r>
              <a:rPr lang="en-US" sz="2000" b="1">
                <a:solidFill>
                  <a:srgbClr val="CFC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2761488" y="784839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lack Han Sans"/>
              <a:buNone/>
            </a:pPr>
            <a:r>
              <a:rPr lang="en-US" sz="12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AI 코칭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761488" y="8072836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장기 성장 리포트 + 세트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직후 피드백.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로컬 LLM · 폴백.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5029200" y="7349264"/>
            <a:ext cx="2258568" cy="115740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508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138928" y="7449848"/>
            <a:ext cx="329184" cy="329184"/>
          </a:xfrm>
          <a:prstGeom prst="rect">
            <a:avLst/>
          </a:prstGeom>
          <a:solidFill>
            <a:srgbClr val="FF6B6B"/>
          </a:solidFill>
          <a:ln w="23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93792" y="7504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6739128" y="7431560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CABF"/>
              </a:buClr>
              <a:buSzPts val="2000"/>
              <a:buFont typeface="Space Grotesk"/>
              <a:buNone/>
            </a:pPr>
            <a:r>
              <a:rPr lang="en-US" sz="2000" b="1">
                <a:solidFill>
                  <a:srgbClr val="CFC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138928" y="784839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lack Han Sans"/>
              <a:buNone/>
            </a:pPr>
            <a:r>
              <a:rPr lang="en-US" sz="12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게이미피케이션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138928" y="8072836"/>
            <a:ext cx="20939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퀘스트·포인트·티어,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히스토리·히트맵.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Gothic A1"/>
              <a:buNone/>
            </a:pPr>
            <a:r>
              <a:rPr lang="en-US" sz="7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＋음성 AI 상담.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74320" y="9466145"/>
            <a:ext cx="1479042" cy="86868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FFFFFF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393" y="955758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/>
          <p:nvPr/>
        </p:nvSpPr>
        <p:spPr>
          <a:xfrm>
            <a:off x="301752" y="9886769"/>
            <a:ext cx="142417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Black Han Sans"/>
              <a:buNone/>
            </a:pPr>
            <a:r>
              <a:rPr lang="en-US" sz="125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웹캠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292608" y="10097265"/>
            <a:ext cx="144246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Gothic A1"/>
              <a:buNone/>
            </a:pPr>
            <a:r>
              <a:rPr lang="en-US" sz="76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카메라 프레임 캡처</a:t>
            </a:r>
            <a:endParaRPr sz="7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817370" y="9781613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2119122" y="9466145"/>
            <a:ext cx="1479042" cy="868680"/>
          </a:xfrm>
          <a:prstGeom prst="rect">
            <a:avLst/>
          </a:prstGeom>
          <a:solidFill>
            <a:srgbClr val="C4B5F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FFFFFF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03195" y="955758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2146554" y="9886769"/>
            <a:ext cx="142417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Black Han Sans"/>
              <a:buNone/>
            </a:pPr>
            <a:r>
              <a:rPr lang="en-US" sz="125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MediaPipe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2137410" y="10097265"/>
            <a:ext cx="144246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Gothic A1"/>
              <a:buNone/>
            </a:pPr>
            <a:r>
              <a:rPr lang="en-US" sz="76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브라우저 랜드마크 추출</a:t>
            </a:r>
            <a:endParaRPr sz="7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62172" y="9781613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3963924" y="9466145"/>
            <a:ext cx="1479042" cy="868680"/>
          </a:xfrm>
          <a:prstGeom prst="rect">
            <a:avLst/>
          </a:prstGeom>
          <a:solidFill>
            <a:srgbClr val="FFD93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FFFFFF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547997" y="955758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/>
          <p:nvPr/>
        </p:nvSpPr>
        <p:spPr>
          <a:xfrm>
            <a:off x="3991356" y="9886769"/>
            <a:ext cx="142417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Black Han Sans"/>
              <a:buNone/>
            </a:pPr>
            <a:r>
              <a:rPr lang="en-US" sz="125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채점 엔진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3982212" y="10097265"/>
            <a:ext cx="144246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Gothic A1"/>
              <a:buNone/>
            </a:pPr>
            <a:r>
              <a:rPr lang="en-US" sz="76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서버 규칙 평가</a:t>
            </a:r>
            <a:endParaRPr sz="7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506974" y="9781613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/>
          <p:nvPr/>
        </p:nvSpPr>
        <p:spPr>
          <a:xfrm>
            <a:off x="5808726" y="9466145"/>
            <a:ext cx="1479042" cy="868680"/>
          </a:xfrm>
          <a:prstGeom prst="rect">
            <a:avLst/>
          </a:prstGeom>
          <a:solidFill>
            <a:srgbClr val="FF6B6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FFFFFF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92799" y="9557585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/>
          <p:nvPr/>
        </p:nvSpPr>
        <p:spPr>
          <a:xfrm>
            <a:off x="5836158" y="9886769"/>
            <a:ext cx="142417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Black Han Sans"/>
              <a:buNone/>
            </a:pPr>
            <a:r>
              <a:rPr lang="en-US" sz="125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점수 · 피드백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5827014" y="10097265"/>
            <a:ext cx="144246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Gothic A1"/>
              <a:buNone/>
            </a:pPr>
            <a:r>
              <a:rPr lang="en-US" sz="76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점수·코멘트·리포트</a:t>
            </a:r>
            <a:endParaRPr sz="7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82296" y="82296"/>
            <a:ext cx="7397496" cy="10524744"/>
          </a:xfrm>
          <a:prstGeom prst="rect">
            <a:avLst/>
          </a:prstGeom>
          <a:noFill/>
          <a:ln w="508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 rot="-180000">
            <a:off x="274320" y="8880102"/>
            <a:ext cx="475488" cy="384048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8575" dir="2700000" algn="bl" rotWithShape="0">
              <a:srgbClr val="FF6B6B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2100"/>
              <a:buFont typeface="Space Grotesk"/>
              <a:buNone/>
            </a:pPr>
            <a:r>
              <a:rPr lang="en-US" sz="2100" b="1">
                <a:solidFill>
                  <a:srgbClr val="FFFDF5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77824" y="884352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Black Han Sans"/>
              <a:buNone/>
            </a:pPr>
            <a:r>
              <a:rPr lang="en-US" sz="23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구현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77824" y="912699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A60"/>
              </a:buClr>
              <a:buSzPts val="900"/>
              <a:buFont typeface="Space Grotesk"/>
              <a:buNone/>
            </a:pPr>
            <a:r>
              <a:rPr lang="en-US" sz="900" b="1">
                <a:solidFill>
                  <a:srgbClr val="6E6A60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IT WORKS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/>
          <p:nvPr/>
        </p:nvSpPr>
        <p:spPr>
          <a:xfrm>
            <a:off x="91440" y="91440"/>
            <a:ext cx="7379208" cy="310896"/>
          </a:xfrm>
          <a:prstGeom prst="rect">
            <a:avLst/>
          </a:prstGeom>
          <a:solidFill>
            <a:srgbClr val="000000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28575" dir="2700000" algn="bl" rotWithShape="0">
              <a:srgbClr val="FF6B6B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91440" y="91440"/>
            <a:ext cx="737920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6B6B"/>
                </a:solidFill>
                <a:latin typeface="Space Grotesk"/>
                <a:ea typeface="Space Grotesk"/>
                <a:cs typeface="Space Grotesk"/>
                <a:sym typeface="Space Grotesk"/>
              </a:rPr>
              <a:t>●  </a:t>
            </a:r>
            <a:r>
              <a:rPr lang="en-US" sz="900" b="1">
                <a:solidFill>
                  <a:srgbClr val="FFFDF5"/>
                </a:solidFill>
                <a:latin typeface="Gothic A1"/>
                <a:ea typeface="Gothic A1"/>
                <a:cs typeface="Gothic A1"/>
                <a:sym typeface="Gothic A1"/>
              </a:rPr>
              <a:t>화면으로 보는 방구석 트레이너</a:t>
            </a:r>
            <a:r>
              <a:rPr lang="en-US" sz="900" b="1">
                <a:solidFill>
                  <a:srgbClr val="FFD93D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★    </a:t>
            </a:r>
            <a:r>
              <a:rPr lang="en-US" sz="900" b="1">
                <a:solidFill>
                  <a:srgbClr val="FFFDF5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COACHING DEMO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 rot="-180000">
            <a:off x="274320" y="626364"/>
            <a:ext cx="420624" cy="365760"/>
          </a:xfrm>
          <a:prstGeom prst="rect">
            <a:avLst/>
          </a:prstGeom>
          <a:solidFill>
            <a:srgbClr val="000000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28575" dir="2700000" algn="bl" rotWithShape="0">
              <a:srgbClr val="FF6B6B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DF5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841248" y="585216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실시간 자세 채점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841248" y="932193"/>
            <a:ext cx="6217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6E6A60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FORM SCORING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274320" y="1158075"/>
            <a:ext cx="70134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웹캠 영상에서 관절을 추출해 동작을 채점하고, 좋음·보통·위험 상태와 교정 메시지를 운동 도중 실시간으로 보여줍니다.</a:t>
            </a:r>
            <a:endParaRPr sz="1000" b="0">
              <a:solidFill>
                <a:srgbClr val="000000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스쿼트, 푸시업 이외에도 런치, 플랭크 자세를 확인해볼 수 있어요.</a:t>
            </a:r>
            <a:endParaRPr sz="1000" b="0">
              <a:solidFill>
                <a:srgbClr val="000000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130" name="Google Shape;130;p2" descr="squa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635499"/>
            <a:ext cx="2688336" cy="2066543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</p:pic>
      <p:sp>
        <p:nvSpPr>
          <p:cNvPr id="131" name="Google Shape;131;p2"/>
          <p:cNvSpPr/>
          <p:nvPr/>
        </p:nvSpPr>
        <p:spPr>
          <a:xfrm>
            <a:off x="3163824" y="1635499"/>
            <a:ext cx="4124675" cy="2066543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3346704" y="1800090"/>
            <a:ext cx="726947" cy="274320"/>
          </a:xfrm>
          <a:prstGeom prst="rect">
            <a:avLst/>
          </a:prstGeom>
          <a:solidFill>
            <a:srgbClr val="FFD93D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220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3346704" y="1800090"/>
            <a:ext cx="72694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스쿼트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4183380" y="1818379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E6A60"/>
                </a:solidFill>
                <a:latin typeface="Space Grotesk"/>
                <a:ea typeface="Space Grotesk"/>
                <a:cs typeface="Space Grotesk"/>
                <a:sym typeface="Space Grotesk"/>
              </a:rPr>
              <a:t>SQUAT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3346704" y="2184138"/>
            <a:ext cx="3758915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이렇게 채점해요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3346704" y="2476747"/>
            <a:ext cx="375891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상체-다리 평행도, 무릎 정렬, 무릎 안쪽 무너짐, 좌우 무릎 대칭, 상체 안정성, 스쿼트 깊이까지 한 동작에서 종합 평가합니다.</a:t>
            </a: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3346704" y="3183619"/>
            <a:ext cx="3758915" cy="329184"/>
          </a:xfrm>
          <a:prstGeom prst="rect">
            <a:avLst/>
          </a:prstGeom>
          <a:solidFill>
            <a:srgbClr val="FFD93D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3456432" y="3183619"/>
            <a:ext cx="3539459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6B6B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 </a:t>
            </a:r>
            <a:r>
              <a:rPr lang="en-US" sz="90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동작마다 좋음·보통·위험 판정 + 반복 횟수 자동 카운트</a:t>
            </a:r>
            <a:endParaRPr/>
          </a:p>
        </p:txBody>
      </p:sp>
      <p:pic>
        <p:nvPicPr>
          <p:cNvPr id="139" name="Google Shape;139;p2" descr="pushup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2023" y="3958075"/>
            <a:ext cx="3476475" cy="1993392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</p:pic>
      <p:sp>
        <p:nvSpPr>
          <p:cNvPr id="140" name="Google Shape;140;p2"/>
          <p:cNvSpPr/>
          <p:nvPr/>
        </p:nvSpPr>
        <p:spPr>
          <a:xfrm>
            <a:off x="274320" y="3958075"/>
            <a:ext cx="3354823" cy="1993392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457200" y="4122667"/>
            <a:ext cx="726947" cy="274320"/>
          </a:xfrm>
          <a:prstGeom prst="rect">
            <a:avLst/>
          </a:prstGeom>
          <a:solidFill>
            <a:srgbClr val="C4B5FD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220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457200" y="4122667"/>
            <a:ext cx="72694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푸시업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1293876" y="4140955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E6A60"/>
                </a:solidFill>
                <a:latin typeface="Space Grotesk"/>
                <a:ea typeface="Space Grotesk"/>
                <a:cs typeface="Space Grotesk"/>
                <a:sym typeface="Space Grotesk"/>
              </a:rPr>
              <a:t>PUSH-UP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457200" y="4506715"/>
            <a:ext cx="2989063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이렇게 채점해요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457200" y="4799323"/>
            <a:ext cx="2989063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상체 각도, 푸시업 깊이, 팔 펴기, 몸통 일직선, 동작 템포를 평가합니다.</a:t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457200" y="5409719"/>
            <a:ext cx="2989063" cy="365760"/>
          </a:xfrm>
          <a:prstGeom prst="rect">
            <a:avLst/>
          </a:prstGeom>
          <a:solidFill>
            <a:srgbClr val="FF6B6B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566928" y="5409719"/>
            <a:ext cx="276960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자세가 흐트러지면 즉시 </a:t>
            </a:r>
            <a:r>
              <a:rPr lang="en-US" sz="88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‘몸을 일직선으로’</a:t>
            </a:r>
            <a:r>
              <a:rPr lang="en-US" sz="880" b="1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 교정 안내</a:t>
            </a:r>
            <a:endParaRPr/>
          </a:p>
        </p:txBody>
      </p:sp>
      <p:sp>
        <p:nvSpPr>
          <p:cNvPr id="148" name="Google Shape;148;p2"/>
          <p:cNvSpPr/>
          <p:nvPr/>
        </p:nvSpPr>
        <p:spPr>
          <a:xfrm rot="-180000">
            <a:off x="274320" y="6345595"/>
            <a:ext cx="420624" cy="365760"/>
          </a:xfrm>
          <a:prstGeom prst="rect">
            <a:avLst/>
          </a:prstGeom>
          <a:solidFill>
            <a:srgbClr val="000000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28575" dir="2700000" algn="bl" rotWithShape="0">
              <a:srgbClr val="FF6B6B"/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DF5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841248" y="6304447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체형 분석 리포트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841248" y="6663781"/>
            <a:ext cx="6217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6E6A60"/>
                </a:solidFill>
                <a:latin typeface="Space Grotesk"/>
                <a:ea typeface="Space Grotesk"/>
                <a:cs typeface="Space Grotesk"/>
                <a:sym typeface="Space Grotesk"/>
              </a:rPr>
              <a:t>BODY SCAN REPORT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274320" y="6926734"/>
            <a:ext cx="70134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정면·측면 전신을 한 번씩 캡처해 정렬을 분석하고, 자세를 점수로 환산해 한눈에 보는 리포트로 정리합니다.</a:t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3127248" y="7237135"/>
            <a:ext cx="4161300" cy="2798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4445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3310128" y="7401726"/>
            <a:ext cx="1028700" cy="274320"/>
          </a:xfrm>
          <a:prstGeom prst="rect">
            <a:avLst/>
          </a:prstGeom>
          <a:solidFill>
            <a:srgbClr val="FF6B6B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220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3310128" y="7406489"/>
            <a:ext cx="102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 err="1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체형</a:t>
            </a:r>
            <a:r>
              <a:rPr lang="en-US" sz="1250" b="1" dirty="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분석</a:t>
            </a:r>
            <a:endParaRPr dirty="0"/>
          </a:p>
        </p:txBody>
      </p:sp>
      <p:sp>
        <p:nvSpPr>
          <p:cNvPr id="155" name="Google Shape;155;p2"/>
          <p:cNvSpPr txBox="1"/>
          <p:nvPr/>
        </p:nvSpPr>
        <p:spPr>
          <a:xfrm>
            <a:off x="4448556" y="7424778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6E6A60"/>
                </a:solidFill>
                <a:latin typeface="Space Grotesk"/>
                <a:ea typeface="Space Grotesk"/>
                <a:cs typeface="Space Grotesk"/>
                <a:sym typeface="Space Grotesk"/>
              </a:rPr>
              <a:t>BODY SCAN</a:t>
            </a: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3310128" y="7777019"/>
            <a:ext cx="1755600" cy="603600"/>
          </a:xfrm>
          <a:prstGeom prst="rect">
            <a:avLst/>
          </a:prstGeom>
          <a:solidFill>
            <a:srgbClr val="FFD93D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260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3305556" y="7817165"/>
            <a:ext cx="175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82</a:t>
            </a:r>
            <a:r>
              <a:rPr lang="en-US" sz="1100" b="1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점</a:t>
            </a:r>
            <a:endParaRPr dirty="0"/>
          </a:p>
        </p:txBody>
      </p:sp>
      <p:sp>
        <p:nvSpPr>
          <p:cNvPr id="158" name="Google Shape;158;p2"/>
          <p:cNvSpPr txBox="1"/>
          <p:nvPr/>
        </p:nvSpPr>
        <p:spPr>
          <a:xfrm>
            <a:off x="3310128" y="8179354"/>
            <a:ext cx="1755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종합 점수 · SCORE</a:t>
            </a:r>
            <a:endParaRPr/>
          </a:p>
        </p:txBody>
      </p:sp>
      <p:sp>
        <p:nvSpPr>
          <p:cNvPr id="159" name="Google Shape;159;p2"/>
          <p:cNvSpPr/>
          <p:nvPr/>
        </p:nvSpPr>
        <p:spPr>
          <a:xfrm>
            <a:off x="5230368" y="7777019"/>
            <a:ext cx="1755600" cy="603600"/>
          </a:xfrm>
          <a:prstGeom prst="rect">
            <a:avLst/>
          </a:prstGeom>
          <a:solidFill>
            <a:srgbClr val="FFFFFF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101600" dist="26000" dir="27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5230368" y="7822739"/>
            <a:ext cx="175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Black Han Sans"/>
                <a:ea typeface="Black Han Sans"/>
                <a:cs typeface="Black Han Sans"/>
                <a:sym typeface="Black Han Sans"/>
              </a:rPr>
              <a:t>29</a:t>
            </a:r>
            <a:r>
              <a:rPr lang="en-US" sz="110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세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5230368" y="8179354"/>
            <a:ext cx="17556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>
                <a:solidFill>
                  <a:srgbClr val="6E6A60"/>
                </a:solidFill>
                <a:latin typeface="Gothic A1"/>
                <a:ea typeface="Gothic A1"/>
                <a:cs typeface="Gothic A1"/>
                <a:sym typeface="Gothic A1"/>
              </a:rPr>
              <a:t>자세 나이 · BODY AGE</a:t>
            </a:r>
            <a:endParaRPr/>
          </a:p>
        </p:txBody>
      </p:sp>
      <p:sp>
        <p:nvSpPr>
          <p:cNvPr id="162" name="Google Shape;162;p2"/>
          <p:cNvSpPr txBox="1"/>
          <p:nvPr/>
        </p:nvSpPr>
        <p:spPr>
          <a:xfrm>
            <a:off x="3310125" y="8468031"/>
            <a:ext cx="37956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어깨·골반</a:t>
            </a:r>
            <a:r>
              <a:rPr lang="en-US" sz="950" b="1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기울기</a:t>
            </a:r>
            <a:r>
              <a:rPr lang="en-US" sz="950" b="1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, </a:t>
            </a: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척추</a:t>
            </a:r>
            <a:r>
              <a:rPr lang="en-US" sz="950" b="1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정렬</a:t>
            </a:r>
            <a:r>
              <a:rPr lang="en-US" sz="950" b="1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, 목 </a:t>
            </a: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전방</a:t>
            </a:r>
            <a:r>
              <a:rPr lang="en-US" sz="950" b="1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각도</a:t>
            </a:r>
            <a:r>
              <a:rPr lang="en-US" sz="950" b="1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1" dirty="0" err="1">
                <a:latin typeface="Gothic A1"/>
                <a:ea typeface="Gothic A1"/>
                <a:cs typeface="Gothic A1"/>
                <a:sym typeface="Gothic A1"/>
              </a:rPr>
              <a:t>등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을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항목별로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채점</a:t>
            </a:r>
            <a:endParaRPr dirty="0"/>
          </a:p>
          <a:p>
            <a:pPr marL="0" marR="0" lvl="0" indent="0" algn="l" rtl="0">
              <a:lnSpc>
                <a:spcPct val="152631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 b="1" dirty="0">
                <a:latin typeface="Gothic A1"/>
                <a:ea typeface="Gothic A1"/>
                <a:cs typeface="Gothic A1"/>
                <a:sym typeface="Gothic A1"/>
              </a:rPr>
              <a:t>3D </a:t>
            </a:r>
            <a:r>
              <a:rPr lang="en-US" sz="950" b="1" dirty="0" err="1">
                <a:latin typeface="Gothic A1"/>
                <a:ea typeface="Gothic A1"/>
                <a:cs typeface="Gothic A1"/>
                <a:sym typeface="Gothic A1"/>
              </a:rPr>
              <a:t>랜더링</a:t>
            </a:r>
            <a:r>
              <a:rPr lang="en-US" sz="950" b="1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1" dirty="0" err="1">
                <a:latin typeface="Gothic A1"/>
                <a:ea typeface="Gothic A1"/>
                <a:cs typeface="Gothic A1"/>
                <a:sym typeface="Gothic A1"/>
              </a:rPr>
              <a:t>모델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및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정면·측면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스냅샷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으로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분석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결과를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그대로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확인</a:t>
            </a:r>
            <a:endParaRPr dirty="0"/>
          </a:p>
          <a:p>
            <a:pPr marL="0" marR="0" lvl="0" indent="0" algn="l" rtl="0">
              <a:lnSpc>
                <a:spcPct val="152631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신체</a:t>
            </a:r>
            <a:r>
              <a:rPr lang="en-US" sz="950" b="1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1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사이즈·비율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(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어깨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너비·팔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/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다리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0" dirty="0" err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길이</a:t>
            </a:r>
            <a:r>
              <a:rPr lang="en-US" sz="950" b="0" dirty="0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 등)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추정치도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함께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제공</a:t>
            </a:r>
            <a:endParaRPr sz="950" dirty="0">
              <a:latin typeface="Gothic A1"/>
              <a:ea typeface="Gothic A1"/>
              <a:cs typeface="Gothic A1"/>
              <a:sym typeface="Gothic A1"/>
            </a:endParaRPr>
          </a:p>
          <a:p>
            <a:pPr marL="0" marR="0" lvl="0" indent="0" algn="l" rtl="0">
              <a:lnSpc>
                <a:spcPct val="152631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 b="1" dirty="0" err="1">
                <a:latin typeface="Gothic A1"/>
                <a:ea typeface="Gothic A1"/>
                <a:cs typeface="Gothic A1"/>
                <a:sym typeface="Gothic A1"/>
              </a:rPr>
              <a:t>리포트</a:t>
            </a:r>
            <a:r>
              <a:rPr lang="en-US" sz="950" b="1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b="1" dirty="0" err="1">
                <a:latin typeface="Gothic A1"/>
                <a:ea typeface="Gothic A1"/>
                <a:cs typeface="Gothic A1"/>
                <a:sym typeface="Gothic A1"/>
              </a:rPr>
              <a:t>저장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기능으로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과거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분석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결과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언제든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다시</a:t>
            </a:r>
            <a:r>
              <a:rPr lang="en-US" sz="950" dirty="0">
                <a:latin typeface="Gothic A1"/>
                <a:ea typeface="Gothic A1"/>
                <a:cs typeface="Gothic A1"/>
                <a:sym typeface="Gothic A1"/>
              </a:rPr>
              <a:t> </a:t>
            </a:r>
            <a:r>
              <a:rPr lang="en-US" sz="950" dirty="0" err="1">
                <a:latin typeface="Gothic A1"/>
                <a:ea typeface="Gothic A1"/>
                <a:cs typeface="Gothic A1"/>
                <a:sym typeface="Gothic A1"/>
              </a:rPr>
              <a:t>확인</a:t>
            </a:r>
            <a:endParaRPr sz="950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3310128" y="9587939"/>
            <a:ext cx="3795600" cy="365700"/>
          </a:xfrm>
          <a:prstGeom prst="rect">
            <a:avLst/>
          </a:prstGeom>
          <a:solidFill>
            <a:srgbClr val="C4B5FD"/>
          </a:solidFill>
          <a:ln w="238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3419856" y="9587939"/>
            <a:ext cx="3576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 </a:t>
            </a:r>
            <a:r>
              <a:rPr lang="en-US" sz="900" b="1">
                <a:solidFill>
                  <a:srgbClr val="000000"/>
                </a:solidFill>
                <a:latin typeface="Gothic A1"/>
                <a:ea typeface="Gothic A1"/>
                <a:cs typeface="Gothic A1"/>
                <a:sym typeface="Gothic A1"/>
              </a:rPr>
              <a:t>진단 결과는 맞춤 코스·개인화 채점의 기준으로 이어집니다</a:t>
            </a:r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274320" y="10218079"/>
            <a:ext cx="70134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6B6B"/>
                </a:solidFill>
                <a:latin typeface="Gothic A1"/>
                <a:ea typeface="Gothic A1"/>
                <a:cs typeface="Gothic A1"/>
                <a:sym typeface="Gothic A1"/>
              </a:rPr>
              <a:t>※ </a:t>
            </a:r>
            <a:r>
              <a:rPr lang="en-US" sz="850" b="0">
                <a:solidFill>
                  <a:srgbClr val="6E6A60"/>
                </a:solidFill>
                <a:latin typeface="Gothic A1"/>
                <a:ea typeface="Gothic A1"/>
                <a:cs typeface="Gothic A1"/>
                <a:sym typeface="Gothic A1"/>
              </a:rPr>
              <a:t>의료 진단이 아닌 운동 보조·자세 코칭 도구입니다. 통증·저림 등 위험 신호가 있으면 운동을 멈추고 전문가와 상담하세요.</a:t>
            </a:r>
            <a:endParaRPr/>
          </a:p>
        </p:txBody>
      </p:sp>
      <p:pic>
        <p:nvPicPr>
          <p:cNvPr id="166" name="Google Shape;166;p2" descr="squat.png"/>
          <p:cNvPicPr preferRelativeResize="0"/>
          <p:nvPr/>
        </p:nvPicPr>
        <p:blipFill rotWithShape="1">
          <a:blip r:embed="rId5">
            <a:alphaModFix/>
          </a:blip>
          <a:srcRect l="34588" t="50933" r="58251" b="40792"/>
          <a:stretch/>
        </p:blipFill>
        <p:spPr>
          <a:xfrm>
            <a:off x="1197623" y="2694348"/>
            <a:ext cx="192506" cy="171019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7" name="Google Shape;167;p2"/>
          <p:cNvPicPr preferRelativeResize="0"/>
          <p:nvPr/>
        </p:nvPicPr>
        <p:blipFill rotWithShape="1">
          <a:blip r:embed="rId6">
            <a:alphaModFix/>
          </a:blip>
          <a:srcRect l="2309" t="2070" r="2095"/>
          <a:stretch/>
        </p:blipFill>
        <p:spPr>
          <a:xfrm>
            <a:off x="213668" y="7244486"/>
            <a:ext cx="2748988" cy="2790714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8" name="Google Shape;168;p2"/>
          <p:cNvSpPr txBox="1"/>
          <p:nvPr/>
        </p:nvSpPr>
        <p:spPr>
          <a:xfrm>
            <a:off x="9544850" y="8294700"/>
            <a:ext cx="571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Microsoft Office PowerPoint</Application>
  <PresentationFormat>사용자 지정</PresentationFormat>
  <Paragraphs>104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Arial</vt:lpstr>
      <vt:lpstr>Gothic A1</vt:lpstr>
      <vt:lpstr>Calibri</vt:lpstr>
      <vt:lpstr>Black Han Sans</vt:lpstr>
      <vt:lpstr>Malgun Gothic</vt:lpstr>
      <vt:lpstr>Space Grotesk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Room Trainer</dc:creator>
  <cp:lastModifiedBy>진성 김</cp:lastModifiedBy>
  <cp:revision>1</cp:revision>
  <dcterms:created xsi:type="dcterms:W3CDTF">2026-06-29T05:01:24Z</dcterms:created>
  <dcterms:modified xsi:type="dcterms:W3CDTF">2026-06-30T23:40:37Z</dcterms:modified>
</cp:coreProperties>
</file>