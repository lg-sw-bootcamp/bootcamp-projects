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38" autoAdjust="0"/>
    <p:restoredTop sz="96336" autoAdjust="0"/>
  </p:normalViewPr>
  <p:slideViewPr>
    <p:cSldViewPr snapToGrid="0" snapToObjects="1">
      <p:cViewPr>
        <p:scale>
          <a:sx n="125" d="100"/>
          <a:sy n="125" d="100"/>
        </p:scale>
        <p:origin x="2598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69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7562088" cy="1161337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2"/>
          <p:cNvSpPr/>
          <p:nvPr/>
        </p:nvSpPr>
        <p:spPr>
          <a:xfrm>
            <a:off x="1189228" y="786384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SDV→AIDV 전환 — 묻기 전에 먼저 · 끊겨도 끝까지 · </a:t>
            </a:r>
            <a:r>
              <a:rPr lang="en-US" sz="100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138379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83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프로젝트 개요</a:t>
            </a:r>
            <a:endParaRPr lang="en-US" sz="14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804416"/>
            <a:ext cx="6830568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923288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음성 AI는 늘었지만(NIO NOMI · MBUX+ChatGPT · BYD God’s Eye) </a:t>
            </a:r>
            <a:r>
              <a:rPr lang="en-US" sz="11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전부 클라우드·발화 기반 ‘반응형(reactive)’</a:t>
            </a:r>
            <a:r>
              <a:rPr lang="en-US" sz="115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— 하루를 가로질러 상태를 들고·되돌리고, 묻지 않아도 재계획하는 </a:t>
            </a:r>
            <a:r>
              <a:rPr lang="en-US" sz="11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 에이전트는 없었다. PCAA가 그 빈칸을 채운다.</a:t>
            </a:r>
            <a:endParaRPr lang="en-US" sz="11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6928" y="2572512"/>
            <a:ext cx="2069592" cy="640080"/>
          </a:xfrm>
          <a:prstGeom prst="roundRect">
            <a:avLst>
              <a:gd name="adj" fmla="val 7143"/>
            </a:avLst>
          </a:prstGeom>
          <a:solidFill>
            <a:srgbClr val="FCEDEF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67309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2645664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CONTINUITY · 끝까지 완성</a:t>
            </a:r>
            <a:endParaRPr lang="en-US" sz="9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6656" y="290169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변수가 생겨도 끊긴 여정을 다시 엮어 끝까지 잇는다</a:t>
            </a:r>
            <a:endParaRPr lang="en-US" sz="8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46248" y="2572512"/>
            <a:ext cx="2069592" cy="640080"/>
          </a:xfrm>
          <a:prstGeom prst="roundRect">
            <a:avLst>
              <a:gd name="adj" fmla="val 7143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976" y="26730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12008" y="2645664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PROACTIVE · 능동</a:t>
            </a:r>
            <a:endParaRPr lang="en-US" sz="9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855976" y="290169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감지→수집→해결→승인, 묻기 전에 먼저 움직인다</a:t>
            </a:r>
            <a:endParaRPr lang="en-US" sz="8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925568" y="2572512"/>
            <a:ext cx="2069592" cy="640080"/>
          </a:xfrm>
          <a:prstGeom prst="roundRect">
            <a:avLst>
              <a:gd name="adj" fmla="val 7143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296" y="267309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91328" y="2645664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ON-DEVICE · 신뢰</a:t>
            </a:r>
            <a:endParaRPr lang="en-US" sz="9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035296" y="290169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판단·실행이 전부 차 안, 개인정보가 밖으로 안 나간다</a:t>
            </a:r>
            <a:endParaRPr lang="en-US" sz="8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65760" y="3442716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/>
        </p:spPr>
      </p:sp>
      <p:sp>
        <p:nvSpPr>
          <p:cNvPr id="24" name="Text 18"/>
          <p:cNvSpPr/>
          <p:nvPr/>
        </p:nvSpPr>
        <p:spPr>
          <a:xfrm>
            <a:off x="365760" y="34427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핵심 기술</a:t>
            </a:r>
            <a:endParaRPr lang="en-US" sz="14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65760" y="3863340"/>
            <a:ext cx="6830568" cy="2555748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66928" y="3954780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차별점은 모델이 아니라, 이를 엮는 ‘에이전트 엔진’ — </a:t>
            </a:r>
            <a:r>
              <a:rPr lang="en-US" sz="10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쏟아지는 데이터에서 ‘지금 필요한 사실만’ </a:t>
            </a:r>
            <a:r>
              <a:rPr lang="en-US" sz="10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골라</a:t>
            </a:r>
            <a:r>
              <a:rPr lang="en-US" sz="10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VLM에</a:t>
            </a:r>
            <a:r>
              <a:rPr lang="en-US" sz="10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넘긴다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66928" y="4320540"/>
            <a:ext cx="1935480" cy="731520"/>
          </a:xfrm>
          <a:prstGeom prst="roundRect">
            <a:avLst>
              <a:gd name="adj" fmla="val 6250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43941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4411980"/>
            <a:ext cx="1423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상황 인식 데이터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13232" y="4704588"/>
            <a:ext cx="1661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raw data </a:t>
            </a:r>
            <a:r>
              <a:rPr lang="ko-KR" alt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기반 상황 인식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713232" y="4860036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6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카메라</a:t>
            </a:r>
            <a:r>
              <a:rPr 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ko-KR" alt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마이크 </a:t>
            </a:r>
            <a:r>
              <a:rPr lang="en-US" altLang="ko-KR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·</a:t>
            </a:r>
            <a:r>
              <a:rPr lang="ko-KR" alt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6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내비</a:t>
            </a:r>
            <a:r>
              <a:rPr 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76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일정</a:t>
            </a:r>
            <a:r>
              <a:rPr 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등</a:t>
            </a:r>
            <a:endParaRPr lang="en-US" sz="7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2538984" y="455828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▶</a:t>
            </a:r>
            <a:endParaRPr 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2813304" y="4320540"/>
            <a:ext cx="1935480" cy="731520"/>
          </a:xfrm>
          <a:prstGeom prst="roundRect">
            <a:avLst>
              <a:gd name="adj" fmla="val 6250"/>
            </a:avLst>
          </a:prstGeom>
          <a:solidFill>
            <a:srgbClr val="C8102E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1320" y="443941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33928" y="4411980"/>
            <a:ext cx="1423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에이전트 엔진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2959608" y="4704588"/>
            <a:ext cx="1661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관련 사실만 골라 </a:t>
            </a:r>
            <a:r>
              <a:rPr lang="en-US" sz="86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맥락</a:t>
            </a:r>
            <a:r>
              <a:rPr lang="en-US" sz="86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86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조립</a:t>
            </a:r>
            <a:r>
              <a:rPr lang="en-US" sz="86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2959608" y="4860036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★ </a:t>
            </a:r>
            <a:r>
              <a:rPr lang="en-US" sz="76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우리의</a:t>
            </a:r>
            <a:r>
              <a:rPr lang="en-US" sz="76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핵심</a:t>
            </a:r>
            <a:endParaRPr lang="en-US" sz="7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4785360" y="455828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▶</a:t>
            </a:r>
            <a:endParaRPr lang="en-US" sz="1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5059680" y="4320540"/>
            <a:ext cx="1935480" cy="731520"/>
          </a:xfrm>
          <a:prstGeom prst="roundRect">
            <a:avLst>
              <a:gd name="adj" fmla="val 6250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7696" y="4439412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80304" y="4411980"/>
            <a:ext cx="1423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 · Qwen 9B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5205984" y="4704588"/>
            <a:ext cx="1661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의미</a:t>
            </a: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86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판단만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Text 34"/>
          <p:cNvSpPr/>
          <p:nvPr/>
        </p:nvSpPr>
        <p:spPr>
          <a:xfrm>
            <a:off x="5205984" y="4860036"/>
            <a:ext cx="166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6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추론</a:t>
            </a:r>
            <a:r>
              <a:rPr 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altLang="ko-KR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· </a:t>
            </a:r>
            <a:r>
              <a:rPr lang="ko-KR" alt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판단</a:t>
            </a:r>
            <a:r>
              <a:rPr lang="en-US" sz="76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endParaRPr lang="en-US" sz="7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4" name="Text 35"/>
          <p:cNvSpPr/>
          <p:nvPr/>
        </p:nvSpPr>
        <p:spPr>
          <a:xfrm>
            <a:off x="566928" y="5189220"/>
            <a:ext cx="6428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엔진이 호출하는 온디바이스 AI 모듈 5종 </a:t>
            </a:r>
            <a:r>
              <a:rPr lang="en-US" sz="9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— 경량·실시간·오프라인 commodity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566928" y="5381244"/>
            <a:ext cx="1212494" cy="530352"/>
          </a:xfrm>
          <a:prstGeom prst="roundRect">
            <a:avLst>
              <a:gd name="adj" fmla="val 8621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5536692"/>
            <a:ext cx="219456" cy="219456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32688" y="5445252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VAD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932688" y="5637276"/>
            <a:ext cx="7918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Silero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-VAD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Text 39"/>
          <p:cNvSpPr/>
          <p:nvPr/>
        </p:nvSpPr>
        <p:spPr>
          <a:xfrm>
            <a:off x="932688" y="5765292"/>
            <a:ext cx="791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2E5A8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Pi 엣지</a:t>
            </a:r>
            <a:endParaRPr lang="en-US" sz="68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1870862" y="5381244"/>
            <a:ext cx="1212494" cy="530352"/>
          </a:xfrm>
          <a:prstGeom prst="roundRect">
            <a:avLst>
              <a:gd name="adj" fmla="val 8621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2302" y="5536692"/>
            <a:ext cx="219456" cy="21945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236622" y="5445252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STT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Text 42"/>
          <p:cNvSpPr/>
          <p:nvPr/>
        </p:nvSpPr>
        <p:spPr>
          <a:xfrm>
            <a:off x="2236622" y="5637276"/>
            <a:ext cx="7918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Zipformer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Text 43"/>
          <p:cNvSpPr/>
          <p:nvPr/>
        </p:nvSpPr>
        <p:spPr>
          <a:xfrm>
            <a:off x="2236622" y="5765292"/>
            <a:ext cx="791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2E5A8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Pi 엣지</a:t>
            </a:r>
            <a:endParaRPr lang="en-US" sz="68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3174797" y="5381244"/>
            <a:ext cx="1212494" cy="530352"/>
          </a:xfrm>
          <a:prstGeom prst="roundRect">
            <a:avLst>
              <a:gd name="adj" fmla="val 8621"/>
            </a:avLst>
          </a:prstGeom>
          <a:solidFill>
            <a:srgbClr val="F6F7F8"/>
          </a:solidFill>
          <a:ln w="12700">
            <a:solidFill>
              <a:srgbClr val="E3E3E3"/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6237" y="5536692"/>
            <a:ext cx="219456" cy="219456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3540557" y="5445252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TTS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8" name="Text 46"/>
          <p:cNvSpPr/>
          <p:nvPr/>
        </p:nvSpPr>
        <p:spPr>
          <a:xfrm>
            <a:off x="3540557" y="5637276"/>
            <a:ext cx="7918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Piper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9" name="Text 47"/>
          <p:cNvSpPr/>
          <p:nvPr/>
        </p:nvSpPr>
        <p:spPr>
          <a:xfrm>
            <a:off x="3540557" y="5765292"/>
            <a:ext cx="791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2E5A8C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Pi 엣지</a:t>
            </a:r>
            <a:endParaRPr lang="en-US" sz="68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4478731" y="5381244"/>
            <a:ext cx="1212494" cy="530352"/>
          </a:xfrm>
          <a:prstGeom prst="roundRect">
            <a:avLst>
              <a:gd name="adj" fmla="val 8621"/>
            </a:avLst>
          </a:prstGeom>
          <a:solidFill>
            <a:srgbClr val="FCEDEF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0171" y="5536692"/>
            <a:ext cx="219456" cy="219456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4844491" y="5445252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Face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50"/>
          <p:cNvSpPr/>
          <p:nvPr/>
        </p:nvSpPr>
        <p:spPr>
          <a:xfrm>
            <a:off x="4844491" y="5637276"/>
            <a:ext cx="7918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InsightFace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4" name="Text 51"/>
          <p:cNvSpPr/>
          <p:nvPr/>
        </p:nvSpPr>
        <p:spPr>
          <a:xfrm>
            <a:off x="4844491" y="5765292"/>
            <a:ext cx="791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Thor</a:t>
            </a:r>
            <a:endParaRPr lang="en-US" sz="68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5" name="Shape 52"/>
          <p:cNvSpPr/>
          <p:nvPr/>
        </p:nvSpPr>
        <p:spPr>
          <a:xfrm>
            <a:off x="5782666" y="5381244"/>
            <a:ext cx="1212494" cy="530352"/>
          </a:xfrm>
          <a:prstGeom prst="roundRect">
            <a:avLst>
              <a:gd name="adj" fmla="val 8621"/>
            </a:avLst>
          </a:prstGeom>
          <a:solidFill>
            <a:srgbClr val="FCEDEF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4106" y="5536692"/>
            <a:ext cx="219456" cy="219456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6148426" y="5445252"/>
            <a:ext cx="791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8" name="Text 54"/>
          <p:cNvSpPr/>
          <p:nvPr/>
        </p:nvSpPr>
        <p:spPr>
          <a:xfrm>
            <a:off x="6148426" y="5637276"/>
            <a:ext cx="7918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Qwen 9B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9" name="Text 55"/>
          <p:cNvSpPr/>
          <p:nvPr/>
        </p:nvSpPr>
        <p:spPr>
          <a:xfrm>
            <a:off x="6148426" y="5765292"/>
            <a:ext cx="791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Thor</a:t>
            </a:r>
            <a:endParaRPr lang="en-US" sz="68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Shape 56"/>
          <p:cNvSpPr/>
          <p:nvPr/>
        </p:nvSpPr>
        <p:spPr>
          <a:xfrm>
            <a:off x="566928" y="6003036"/>
            <a:ext cx="6428232" cy="292608"/>
          </a:xfrm>
          <a:prstGeom prst="roundRect">
            <a:avLst>
              <a:gd name="adj" fmla="val 12500"/>
            </a:avLst>
          </a:prstGeom>
          <a:solidFill>
            <a:srgbClr val="F6F7F8"/>
          </a:solidFill>
          <a:ln/>
        </p:spPr>
      </p:sp>
      <p:sp>
        <p:nvSpPr>
          <p:cNvPr id="71" name="Text 57"/>
          <p:cNvSpPr/>
          <p:nvPr/>
        </p:nvSpPr>
        <p:spPr>
          <a:xfrm>
            <a:off x="694944" y="600303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왜 Qwen 9B · Thor — </a:t>
            </a:r>
            <a:r>
              <a:rPr lang="en-US" sz="86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VAD·STT·TTS는 Pi 엣지, </a:t>
            </a:r>
            <a:r>
              <a:rPr lang="en-US" sz="86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Face·VLM은</a:t>
            </a:r>
            <a:r>
              <a:rPr lang="en-US" sz="86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Thor · 9B 채택: TTFT ~1s · TPS 35–40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2" name="Shape 58"/>
          <p:cNvSpPr/>
          <p:nvPr/>
        </p:nvSpPr>
        <p:spPr>
          <a:xfrm>
            <a:off x="365760" y="6528816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/>
        </p:spPr>
      </p:sp>
      <p:sp>
        <p:nvSpPr>
          <p:cNvPr id="73" name="Text 59"/>
          <p:cNvSpPr/>
          <p:nvPr/>
        </p:nvSpPr>
        <p:spPr>
          <a:xfrm>
            <a:off x="365760" y="6528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프로젝트 결과</a:t>
            </a:r>
            <a:endParaRPr lang="en-US" sz="14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Shape 60"/>
          <p:cNvSpPr/>
          <p:nvPr/>
        </p:nvSpPr>
        <p:spPr>
          <a:xfrm>
            <a:off x="365760" y="6949440"/>
            <a:ext cx="6830568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Text 61"/>
          <p:cNvSpPr/>
          <p:nvPr/>
        </p:nvSpPr>
        <p:spPr>
          <a:xfrm>
            <a:off x="566928" y="7059168"/>
            <a:ext cx="6428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프로젝트 결과 — 온디바이스(Pi5+Thor)로 실측 검증된 코어 성과</a:t>
            </a:r>
            <a:endParaRPr 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Shape 62"/>
          <p:cNvSpPr/>
          <p:nvPr/>
        </p:nvSpPr>
        <p:spPr>
          <a:xfrm>
            <a:off x="566928" y="7388352"/>
            <a:ext cx="206959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685800" y="7498080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8" name="Text 64"/>
          <p:cNvSpPr/>
          <p:nvPr/>
        </p:nvSpPr>
        <p:spPr>
          <a:xfrm>
            <a:off x="685800" y="7498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</a:t>
            </a:r>
            <a:endParaRPr 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Text 65"/>
          <p:cNvSpPr/>
          <p:nvPr/>
        </p:nvSpPr>
        <p:spPr>
          <a:xfrm>
            <a:off x="1024128" y="7461504"/>
            <a:ext cx="152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 Proactive Agent 구현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Text 66"/>
          <p:cNvSpPr/>
          <p:nvPr/>
        </p:nvSpPr>
        <p:spPr>
          <a:xfrm>
            <a:off x="1029005" y="7780528"/>
            <a:ext cx="10296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→  완전 </a:t>
            </a:r>
            <a:r>
              <a:rPr lang="ko-KR" altLang="en-US" sz="75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</a:t>
            </a:r>
            <a:r>
              <a:rPr lang="ko-KR" altLang="en-US" sz="7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구동</a:t>
            </a:r>
            <a:endParaRPr lang="en-US" sz="7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Shape 67"/>
          <p:cNvSpPr/>
          <p:nvPr/>
        </p:nvSpPr>
        <p:spPr>
          <a:xfrm>
            <a:off x="2746248" y="7388352"/>
            <a:ext cx="206959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2865120" y="7498080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3" name="Text 69"/>
          <p:cNvSpPr/>
          <p:nvPr/>
        </p:nvSpPr>
        <p:spPr>
          <a:xfrm>
            <a:off x="2865120" y="7498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2</a:t>
            </a:r>
            <a:endParaRPr 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Text 70"/>
          <p:cNvSpPr/>
          <p:nvPr/>
        </p:nvSpPr>
        <p:spPr>
          <a:xfrm>
            <a:off x="3203448" y="7461504"/>
            <a:ext cx="152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5개 AI </a:t>
            </a:r>
            <a:r>
              <a:rPr lang="en-US" sz="86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모듈</a:t>
            </a: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오케스트레이션 통합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Shape 72"/>
          <p:cNvSpPr/>
          <p:nvPr/>
        </p:nvSpPr>
        <p:spPr>
          <a:xfrm>
            <a:off x="4925568" y="7388352"/>
            <a:ext cx="206959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5044440" y="7498080"/>
            <a:ext cx="274320" cy="2743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8" name="Text 74"/>
          <p:cNvSpPr/>
          <p:nvPr/>
        </p:nvSpPr>
        <p:spPr>
          <a:xfrm>
            <a:off x="5044440" y="7498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</a:t>
            </a:r>
            <a:endParaRPr lang="en-US" sz="13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9" name="Text 75"/>
          <p:cNvSpPr/>
          <p:nvPr/>
        </p:nvSpPr>
        <p:spPr>
          <a:xfrm>
            <a:off x="5382768" y="7461504"/>
            <a:ext cx="152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차량 최적화 System Architecture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1" name="Shape 77"/>
          <p:cNvSpPr/>
          <p:nvPr/>
        </p:nvSpPr>
        <p:spPr>
          <a:xfrm>
            <a:off x="566928" y="8284464"/>
            <a:ext cx="1212494" cy="1188720"/>
          </a:xfrm>
          <a:prstGeom prst="roundRect">
            <a:avLst>
              <a:gd name="adj" fmla="val 4615"/>
            </a:avLst>
          </a:prstGeom>
          <a:solidFill>
            <a:srgbClr val="FCEDEF"/>
          </a:solidFill>
          <a:ln w="15875">
            <a:solidFill>
              <a:srgbClr val="C8102E"/>
            </a:solidFill>
            <a:prstDash val="solid"/>
          </a:ln>
          <a:effectLst>
            <a:outerShdw blurRad="38100" dist="127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727" y="8412480"/>
            <a:ext cx="310896" cy="310896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566928" y="8759952"/>
            <a:ext cx="1212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의도</a:t>
            </a: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인식</a:t>
            </a: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성공률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4" name="Text 79"/>
          <p:cNvSpPr/>
          <p:nvPr/>
        </p:nvSpPr>
        <p:spPr>
          <a:xfrm>
            <a:off x="566928" y="8924544"/>
            <a:ext cx="12124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96%</a:t>
            </a:r>
            <a:endParaRPr lang="en-US" sz="1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5" name="Text 80"/>
          <p:cNvSpPr/>
          <p:nvPr/>
        </p:nvSpPr>
        <p:spPr>
          <a:xfrm>
            <a:off x="603504" y="9272016"/>
            <a:ext cx="1139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목표 ≥95%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Shape 81"/>
          <p:cNvSpPr/>
          <p:nvPr/>
        </p:nvSpPr>
        <p:spPr>
          <a:xfrm>
            <a:off x="1870862" y="8284464"/>
            <a:ext cx="1212494" cy="1188720"/>
          </a:xfrm>
          <a:prstGeom prst="roundRect">
            <a:avLst>
              <a:gd name="adj" fmla="val 4615"/>
            </a:avLst>
          </a:prstGeom>
          <a:solidFill>
            <a:srgbClr val="FCEDEF"/>
          </a:solidFill>
          <a:ln w="15875">
            <a:solidFill>
              <a:srgbClr val="C8102E"/>
            </a:solidFill>
            <a:prstDash val="solid"/>
          </a:ln>
          <a:effectLst>
            <a:outerShdw blurRad="38100" dist="127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1662" y="8412480"/>
            <a:ext cx="310896" cy="310896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870862" y="8759952"/>
            <a:ext cx="1212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얼굴</a:t>
            </a: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인식 </a:t>
            </a:r>
            <a:r>
              <a:rPr lang="ko-KR" alt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오류율</a:t>
            </a: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altLang="ko-KR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(</a:t>
            </a: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FAR)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9" name="Text 83"/>
          <p:cNvSpPr/>
          <p:nvPr/>
        </p:nvSpPr>
        <p:spPr>
          <a:xfrm>
            <a:off x="1870862" y="8924544"/>
            <a:ext cx="12124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3%</a:t>
            </a:r>
            <a:endParaRPr lang="en-US" sz="1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Text 84"/>
          <p:cNvSpPr/>
          <p:nvPr/>
        </p:nvSpPr>
        <p:spPr>
          <a:xfrm>
            <a:off x="1907438" y="9272016"/>
            <a:ext cx="1139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목표 ≤5%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1" name="Shape 85"/>
          <p:cNvSpPr/>
          <p:nvPr/>
        </p:nvSpPr>
        <p:spPr>
          <a:xfrm>
            <a:off x="3174797" y="8284464"/>
            <a:ext cx="1212494" cy="1188720"/>
          </a:xfrm>
          <a:prstGeom prst="roundRect">
            <a:avLst>
              <a:gd name="adj" fmla="val 4615"/>
            </a:avLst>
          </a:prstGeom>
          <a:solidFill>
            <a:srgbClr val="FCEDEF"/>
          </a:solidFill>
          <a:ln w="15875">
            <a:solidFill>
              <a:srgbClr val="C8102E"/>
            </a:solidFill>
            <a:prstDash val="solid"/>
          </a:ln>
          <a:effectLst>
            <a:outerShdw blurRad="38100" dist="127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02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5596" y="8412480"/>
            <a:ext cx="310896" cy="310896"/>
          </a:xfrm>
          <a:prstGeom prst="rect">
            <a:avLst/>
          </a:prstGeom>
        </p:spPr>
      </p:pic>
      <p:sp>
        <p:nvSpPr>
          <p:cNvPr id="103" name="Text 86"/>
          <p:cNvSpPr/>
          <p:nvPr/>
        </p:nvSpPr>
        <p:spPr>
          <a:xfrm>
            <a:off x="3174797" y="8759952"/>
            <a:ext cx="1212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TTS </a:t>
            </a: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첫 응답까지 시간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4" name="Text 87"/>
          <p:cNvSpPr/>
          <p:nvPr/>
        </p:nvSpPr>
        <p:spPr>
          <a:xfrm>
            <a:off x="3174797" y="8924544"/>
            <a:ext cx="12124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1.7s</a:t>
            </a:r>
            <a:endParaRPr lang="en-US" sz="1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5" name="Text 88"/>
          <p:cNvSpPr/>
          <p:nvPr/>
        </p:nvSpPr>
        <p:spPr>
          <a:xfrm>
            <a:off x="3211373" y="9272016"/>
            <a:ext cx="1139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목표 ≤2s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6" name="Shape 89"/>
          <p:cNvSpPr/>
          <p:nvPr/>
        </p:nvSpPr>
        <p:spPr>
          <a:xfrm>
            <a:off x="4478731" y="8284464"/>
            <a:ext cx="1212494" cy="1188720"/>
          </a:xfrm>
          <a:prstGeom prst="roundRect">
            <a:avLst>
              <a:gd name="adj" fmla="val 4615"/>
            </a:avLst>
          </a:prstGeom>
          <a:solidFill>
            <a:srgbClr val="FCEDEF"/>
          </a:solidFill>
          <a:ln w="15875">
            <a:solidFill>
              <a:srgbClr val="C8102E"/>
            </a:solidFill>
            <a:prstDash val="solid"/>
          </a:ln>
          <a:effectLst>
            <a:outerShdw blurRad="38100" dist="127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0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9530" y="8412480"/>
            <a:ext cx="310896" cy="310896"/>
          </a:xfrm>
          <a:prstGeom prst="rect">
            <a:avLst/>
          </a:prstGeom>
        </p:spPr>
      </p:pic>
      <p:sp>
        <p:nvSpPr>
          <p:cNvPr id="108" name="Text 90"/>
          <p:cNvSpPr/>
          <p:nvPr/>
        </p:nvSpPr>
        <p:spPr>
          <a:xfrm>
            <a:off x="4478731" y="8759952"/>
            <a:ext cx="1212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전체 </a:t>
            </a:r>
            <a:r>
              <a:rPr 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응답</a:t>
            </a: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지연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9" name="Text 91"/>
          <p:cNvSpPr/>
          <p:nvPr/>
        </p:nvSpPr>
        <p:spPr>
          <a:xfrm>
            <a:off x="4478731" y="8924544"/>
            <a:ext cx="12124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5.55s</a:t>
            </a:r>
            <a:endParaRPr lang="en-US" sz="1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Text 92"/>
          <p:cNvSpPr/>
          <p:nvPr/>
        </p:nvSpPr>
        <p:spPr>
          <a:xfrm>
            <a:off x="4515307" y="9272016"/>
            <a:ext cx="1139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목표 ≤6s · avg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Shape 93"/>
          <p:cNvSpPr/>
          <p:nvPr/>
        </p:nvSpPr>
        <p:spPr>
          <a:xfrm>
            <a:off x="5782666" y="8284464"/>
            <a:ext cx="1212494" cy="1188720"/>
          </a:xfrm>
          <a:prstGeom prst="roundRect">
            <a:avLst>
              <a:gd name="adj" fmla="val 4615"/>
            </a:avLst>
          </a:prstGeom>
          <a:solidFill>
            <a:srgbClr val="FCEDEF"/>
          </a:solidFill>
          <a:ln w="15875">
            <a:solidFill>
              <a:srgbClr val="C8102E"/>
            </a:solidFill>
            <a:prstDash val="solid"/>
          </a:ln>
          <a:effectLst>
            <a:outerShdw blurRad="38100" dist="12700" dir="5400000" algn="bl" rotWithShape="0">
              <a:srgbClr val="000000">
                <a:alpha val="9000"/>
              </a:srgbClr>
            </a:outerShdw>
          </a:effectLst>
        </p:spPr>
      </p:sp>
      <p:pic>
        <p:nvPicPr>
          <p:cNvPr id="112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3465" y="8412480"/>
            <a:ext cx="310896" cy="310896"/>
          </a:xfrm>
          <a:prstGeom prst="rect">
            <a:avLst/>
          </a:prstGeom>
        </p:spPr>
      </p:pic>
      <p:sp>
        <p:nvSpPr>
          <p:cNvPr id="113" name="Text 94"/>
          <p:cNvSpPr/>
          <p:nvPr/>
        </p:nvSpPr>
        <p:spPr>
          <a:xfrm>
            <a:off x="5782666" y="8759952"/>
            <a:ext cx="1212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 </a:t>
            </a:r>
            <a:r>
              <a:rPr lang="ko-KR" altLang="en-US" sz="800" b="1" dirty="0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추론 </a:t>
            </a:r>
            <a:r>
              <a:rPr lang="en-US" sz="800" b="1" dirty="0" err="1">
                <a:solidFill>
                  <a:srgbClr val="9E0C2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속도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4" name="Text 95"/>
          <p:cNvSpPr/>
          <p:nvPr/>
        </p:nvSpPr>
        <p:spPr>
          <a:xfrm>
            <a:off x="5782666" y="8924544"/>
            <a:ext cx="12124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38</a:t>
            </a:r>
            <a:endParaRPr lang="en-US" sz="1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5" name="Text 96"/>
          <p:cNvSpPr/>
          <p:nvPr/>
        </p:nvSpPr>
        <p:spPr>
          <a:xfrm>
            <a:off x="5819242" y="9272016"/>
            <a:ext cx="1139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tok/s · 목표 ≥35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6" name="Shape 97"/>
          <p:cNvSpPr/>
          <p:nvPr/>
        </p:nvSpPr>
        <p:spPr>
          <a:xfrm>
            <a:off x="566928" y="9619488"/>
            <a:ext cx="6428232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</p:sp>
      <p:sp>
        <p:nvSpPr>
          <p:cNvPr id="117" name="Text 98"/>
          <p:cNvSpPr/>
          <p:nvPr/>
        </p:nvSpPr>
        <p:spPr>
          <a:xfrm>
            <a:off x="694944" y="961948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온디바이스인데도  </a:t>
            </a:r>
            <a:r>
              <a:rPr lang="en-US" sz="900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프라이버시 FAR 3% · 속도 응답 5.55s·VLM 38tok/s · </a:t>
            </a:r>
            <a:r>
              <a:rPr lang="en-US" sz="900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의도</a:t>
            </a:r>
            <a:r>
              <a:rPr lang="en-US" sz="900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900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인식 정확도</a:t>
            </a:r>
            <a:r>
              <a:rPr lang="en-US" sz="900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96%</a:t>
            </a:r>
            <a:r>
              <a:rPr lang="en-US" sz="900" b="1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 동시 달성 · </a:t>
            </a:r>
            <a:r>
              <a:rPr lang="en-US" sz="900" b="1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클라우드</a:t>
            </a:r>
            <a:r>
              <a:rPr lang="en-US" sz="900" b="1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900" b="1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접근</a:t>
            </a:r>
            <a:r>
              <a:rPr lang="en-US" sz="900" b="1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X</a:t>
            </a:r>
            <a:endParaRPr 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8" name="Text 99"/>
          <p:cNvSpPr/>
          <p:nvPr/>
        </p:nvSpPr>
        <p:spPr>
          <a:xfrm>
            <a:off x="566928" y="10058400"/>
            <a:ext cx="6428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dirty="0">
                <a:solidFill>
                  <a:srgbClr val="8A8A8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※ 의도 100%는 텍스트→의도 기준(STT 실측은 Pi5 측정 예정) · 응답 지연 10회 평균 · </a:t>
            </a:r>
            <a:r>
              <a:rPr lang="en-US" sz="640" dirty="0" err="1">
                <a:solidFill>
                  <a:srgbClr val="8A8A8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VLM은</a:t>
            </a:r>
            <a:r>
              <a:rPr lang="en-US" sz="640" dirty="0">
                <a:solidFill>
                  <a:srgbClr val="8A8A8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Thor 9B 기준, RAM 스왑 미발생</a:t>
            </a:r>
            <a:endParaRPr lang="en-US" sz="6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9" name="Text 100"/>
          <p:cNvSpPr/>
          <p:nvPr/>
        </p:nvSpPr>
        <p:spPr>
          <a:xfrm>
            <a:off x="365760" y="10396728"/>
            <a:ext cx="6830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A9A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LG 부트캠프 13기 — PCAA (Proactive Car AI Agent)  |  On-Device · Edge Inference · Privacy-First · Cloud-Zero</a:t>
            </a:r>
            <a:endParaRPr lang="en-US" sz="8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20" name="Image 0" descr="preencoded.png">
            <a:extLst>
              <a:ext uri="{FF2B5EF4-FFF2-40B4-BE49-F238E27FC236}">
                <a16:creationId xmlns:a16="http://schemas.microsoft.com/office/drawing/2014/main" id="{270A5AC5-213E-4625-8F04-AA36A5E6EA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447" y="35070"/>
            <a:ext cx="870235" cy="870235"/>
          </a:xfrm>
          <a:prstGeom prst="rect">
            <a:avLst/>
          </a:prstGeom>
        </p:spPr>
      </p:pic>
      <p:sp>
        <p:nvSpPr>
          <p:cNvPr id="121" name="Text 1">
            <a:extLst>
              <a:ext uri="{FF2B5EF4-FFF2-40B4-BE49-F238E27FC236}">
                <a16:creationId xmlns:a16="http://schemas.microsoft.com/office/drawing/2014/main" id="{DAB4EB12-052A-42B5-A004-838992CEF04B}"/>
              </a:ext>
            </a:extLst>
          </p:cNvPr>
          <p:cNvSpPr/>
          <p:nvPr/>
        </p:nvSpPr>
        <p:spPr>
          <a:xfrm>
            <a:off x="1189228" y="14630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PCAA (Proactive Car AI Agent) </a:t>
            </a:r>
          </a:p>
          <a:p>
            <a:pPr marL="0" indent="0" algn="l">
              <a:buNone/>
            </a:pPr>
            <a:r>
              <a:rPr lang="ko-KR" altLang="en-US" sz="200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</a:t>
            </a:r>
            <a:r>
              <a:rPr lang="ko-KR" alt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능동형</a:t>
            </a: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차량</a:t>
            </a: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AI 에이전트</a:t>
            </a:r>
            <a:endParaRPr lang="en-US" sz="2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22" name="Picture 2" descr="피카츄 (Pokémon) - Pokémon GO">
            <a:extLst>
              <a:ext uri="{FF2B5EF4-FFF2-40B4-BE49-F238E27FC236}">
                <a16:creationId xmlns:a16="http://schemas.microsoft.com/office/drawing/2014/main" id="{FE65E17D-7047-425F-8E63-39D0DCD664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9" t="40257" r="16556" b="7563"/>
          <a:stretch/>
        </p:blipFill>
        <p:spPr bwMode="auto">
          <a:xfrm flipH="1">
            <a:off x="385313" y="151702"/>
            <a:ext cx="369337" cy="38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B107030B-74C0-414D-ABED-D2DB06B5664E}"/>
              </a:ext>
            </a:extLst>
          </p:cNvPr>
          <p:cNvSpPr/>
          <p:nvPr/>
        </p:nvSpPr>
        <p:spPr>
          <a:xfrm>
            <a:off x="425466" y="389989"/>
            <a:ext cx="365760" cy="154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24" name="Picture 2" descr="피카츄 (Pokémon) - Pokémon GO">
            <a:extLst>
              <a:ext uri="{FF2B5EF4-FFF2-40B4-BE49-F238E27FC236}">
                <a16:creationId xmlns:a16="http://schemas.microsoft.com/office/drawing/2014/main" id="{B9F23007-B4F3-4878-9509-4543FE012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9" t="40257" r="16556" b="7563"/>
          <a:stretch/>
        </p:blipFill>
        <p:spPr bwMode="auto">
          <a:xfrm>
            <a:off x="4857902" y="-89328"/>
            <a:ext cx="1106424" cy="114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 3">
            <a:extLst>
              <a:ext uri="{FF2B5EF4-FFF2-40B4-BE49-F238E27FC236}">
                <a16:creationId xmlns:a16="http://schemas.microsoft.com/office/drawing/2014/main" id="{534D5E88-52B8-412F-A808-AACBDB1695F7}"/>
              </a:ext>
            </a:extLst>
          </p:cNvPr>
          <p:cNvSpPr/>
          <p:nvPr/>
        </p:nvSpPr>
        <p:spPr>
          <a:xfrm>
            <a:off x="5236464" y="470187"/>
            <a:ext cx="2153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LG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부트캠프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13기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B반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팀 </a:t>
            </a:r>
            <a:r>
              <a:rPr lang="en-US" altLang="ko-KR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–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피카</a:t>
            </a:r>
            <a:r>
              <a:rPr lang="ko-KR" alt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츄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팀 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김민서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김연진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김희수</a:t>
            </a:r>
            <a:r>
              <a:rPr lang="en-US" sz="11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1100" dirty="0" err="1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한소희</a:t>
            </a:r>
            <a:endParaRPr lang="en-US" sz="11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5" name="Text 66">
            <a:extLst>
              <a:ext uri="{FF2B5EF4-FFF2-40B4-BE49-F238E27FC236}">
                <a16:creationId xmlns:a16="http://schemas.microsoft.com/office/drawing/2014/main" id="{6C25FC01-7204-404D-95D5-A7B79938AA0C}"/>
              </a:ext>
            </a:extLst>
          </p:cNvPr>
          <p:cNvSpPr/>
          <p:nvPr/>
        </p:nvSpPr>
        <p:spPr>
          <a:xfrm>
            <a:off x="5382768" y="7780528"/>
            <a:ext cx="10296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→  실시간 추론 확보</a:t>
            </a:r>
            <a:endParaRPr lang="en-US" sz="7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8" name="Text 66">
            <a:extLst>
              <a:ext uri="{FF2B5EF4-FFF2-40B4-BE49-F238E27FC236}">
                <a16:creationId xmlns:a16="http://schemas.microsoft.com/office/drawing/2014/main" id="{A580EEA6-C599-4462-8BE6-D06CCA038016}"/>
              </a:ext>
            </a:extLst>
          </p:cNvPr>
          <p:cNvSpPr/>
          <p:nvPr/>
        </p:nvSpPr>
        <p:spPr>
          <a:xfrm>
            <a:off x="3166263" y="7780528"/>
            <a:ext cx="13124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75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→  하나의 흐름으로 통합</a:t>
            </a:r>
            <a:endParaRPr lang="en-US" sz="7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940917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42416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424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시스템 아키텍처</a:t>
            </a:r>
            <a:endParaRPr lang="en-US" sz="14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463040"/>
            <a:ext cx="6830568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" y="1554480"/>
            <a:ext cx="6428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추론·통제·상태는 차 안 HPC(Thor) · 음성·센싱은 엣지(Pi) — 바깥 세계 데이터만 목업, 도구 인터페이스는 동일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Text 72"/>
          <p:cNvSpPr/>
          <p:nvPr/>
        </p:nvSpPr>
        <p:spPr>
          <a:xfrm>
            <a:off x="566928" y="5426964"/>
            <a:ext cx="652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능동(Proactive) — </a:t>
            </a:r>
            <a:r>
              <a:rPr lang="en-US" sz="86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이벤트·상태 변화에 묻기 전에 먼저 움직인다 · retrieval·자율 트리거는 게이트웨이→엔진으로 통합 · 전부 차 안 처리(</a:t>
            </a:r>
            <a:r>
              <a:rPr lang="en-US" sz="86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클라우드</a:t>
            </a:r>
            <a:r>
              <a:rPr lang="en-US" sz="86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X)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Shape 73"/>
          <p:cNvSpPr/>
          <p:nvPr/>
        </p:nvSpPr>
        <p:spPr>
          <a:xfrm>
            <a:off x="365760" y="587044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/>
        </p:spPr>
      </p:sp>
      <p:sp>
        <p:nvSpPr>
          <p:cNvPr id="88" name="Text 74"/>
          <p:cNvSpPr/>
          <p:nvPr/>
        </p:nvSpPr>
        <p:spPr>
          <a:xfrm>
            <a:off x="365760" y="5870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데모 요약</a:t>
            </a:r>
            <a:endParaRPr lang="en-US" sz="14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9" name="Shape 75"/>
          <p:cNvSpPr/>
          <p:nvPr/>
        </p:nvSpPr>
        <p:spPr>
          <a:xfrm>
            <a:off x="365760" y="6291072"/>
            <a:ext cx="6830568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Text 76"/>
          <p:cNvSpPr/>
          <p:nvPr/>
        </p:nvSpPr>
        <p:spPr>
          <a:xfrm>
            <a:off x="566928" y="6382512"/>
            <a:ext cx="6428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끊긴 세션이 </a:t>
            </a:r>
            <a:r>
              <a:rPr lang="en-US" sz="10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아니라</a:t>
            </a: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“</a:t>
            </a:r>
            <a:r>
              <a:rPr lang="en-US" sz="10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연속된</a:t>
            </a: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하루</a:t>
            </a: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” — </a:t>
            </a:r>
            <a:r>
              <a:rPr lang="en-US" sz="100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변수가 생겨도(프라이버시·사고·일정) 약속을 끝까지 잇는다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2E75319A-2AAF-41F7-BC4D-4FDC943BF6AF}"/>
              </a:ext>
            </a:extLst>
          </p:cNvPr>
          <p:cNvSpPr/>
          <p:nvPr/>
        </p:nvSpPr>
        <p:spPr>
          <a:xfrm>
            <a:off x="1189228" y="699516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SDV→AIDV 전환 — 묻기 전에 먼저 · 끊겨도 끝까지 · </a:t>
            </a:r>
            <a:r>
              <a:rPr lang="en-US" sz="100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61" name="Image 0" descr="preencoded.png">
            <a:extLst>
              <a:ext uri="{FF2B5EF4-FFF2-40B4-BE49-F238E27FC236}">
                <a16:creationId xmlns:a16="http://schemas.microsoft.com/office/drawing/2014/main" id="{482928A6-CB1B-4DE2-B614-474044CD5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47" y="35070"/>
            <a:ext cx="870235" cy="870235"/>
          </a:xfrm>
          <a:prstGeom prst="rect">
            <a:avLst/>
          </a:prstGeom>
        </p:spPr>
      </p:pic>
      <p:sp>
        <p:nvSpPr>
          <p:cNvPr id="162" name="Text 1">
            <a:extLst>
              <a:ext uri="{FF2B5EF4-FFF2-40B4-BE49-F238E27FC236}">
                <a16:creationId xmlns:a16="http://schemas.microsoft.com/office/drawing/2014/main" id="{76D695E4-DA48-425E-A704-84F83FA6C43D}"/>
              </a:ext>
            </a:extLst>
          </p:cNvPr>
          <p:cNvSpPr/>
          <p:nvPr/>
        </p:nvSpPr>
        <p:spPr>
          <a:xfrm>
            <a:off x="1189228" y="14630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PCAA (Proactive Car AI Agent) </a:t>
            </a:r>
          </a:p>
          <a:p>
            <a:pPr marL="0" indent="0" algn="l">
              <a:buNone/>
            </a:pPr>
            <a:r>
              <a:rPr lang="ko-KR" altLang="en-US" sz="200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온디바이스</a:t>
            </a:r>
            <a:r>
              <a:rPr lang="ko-KR" alt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능동형</a:t>
            </a: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차량</a:t>
            </a:r>
            <a:r>
              <a:rPr lang="en-US" sz="200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AI 에이전트</a:t>
            </a:r>
            <a:endParaRPr lang="en-US" sz="2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63" name="Picture 2" descr="피카츄 (Pokémon) - Pokémon GO">
            <a:extLst>
              <a:ext uri="{FF2B5EF4-FFF2-40B4-BE49-F238E27FC236}">
                <a16:creationId xmlns:a16="http://schemas.microsoft.com/office/drawing/2014/main" id="{65AC8875-71E1-470A-AED7-B2C69EB41A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9" t="40257" r="16556" b="7563"/>
          <a:stretch/>
        </p:blipFill>
        <p:spPr bwMode="auto">
          <a:xfrm flipH="1">
            <a:off x="385313" y="151702"/>
            <a:ext cx="369337" cy="38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F129AB18-986D-4F1C-896B-97911DF06E77}"/>
              </a:ext>
            </a:extLst>
          </p:cNvPr>
          <p:cNvSpPr/>
          <p:nvPr/>
        </p:nvSpPr>
        <p:spPr>
          <a:xfrm>
            <a:off x="425466" y="389989"/>
            <a:ext cx="365760" cy="154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66" name="Picture 2" descr="피카츄 (Pokémon) - Pokémon GO">
            <a:extLst>
              <a:ext uri="{FF2B5EF4-FFF2-40B4-BE49-F238E27FC236}">
                <a16:creationId xmlns:a16="http://schemas.microsoft.com/office/drawing/2014/main" id="{3B1AB3CE-4946-435C-B324-54D3E79DE5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9" t="40257" r="16556" b="7563"/>
          <a:stretch/>
        </p:blipFill>
        <p:spPr bwMode="auto">
          <a:xfrm>
            <a:off x="5120640" y="-126968"/>
            <a:ext cx="1075539" cy="111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Text 100">
            <a:extLst>
              <a:ext uri="{FF2B5EF4-FFF2-40B4-BE49-F238E27FC236}">
                <a16:creationId xmlns:a16="http://schemas.microsoft.com/office/drawing/2014/main" id="{20EB32E0-1E2D-4964-B9EA-5F1B502B16B2}"/>
              </a:ext>
            </a:extLst>
          </p:cNvPr>
          <p:cNvSpPr/>
          <p:nvPr/>
        </p:nvSpPr>
        <p:spPr>
          <a:xfrm>
            <a:off x="365760" y="10396728"/>
            <a:ext cx="6830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A9A9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LG 부트캠프 13기 — PCAA (Proactive Car AI Agent)  |  On-Device · Edge Inference · Privacy-First · Cloud-Zero</a:t>
            </a:r>
            <a:endParaRPr lang="en-US" sz="8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3" name="Shape 8">
            <a:extLst>
              <a:ext uri="{FF2B5EF4-FFF2-40B4-BE49-F238E27FC236}">
                <a16:creationId xmlns:a16="http://schemas.microsoft.com/office/drawing/2014/main" id="{8B9A8052-3321-41B4-B289-EB05BC9E9248}"/>
              </a:ext>
            </a:extLst>
          </p:cNvPr>
          <p:cNvSpPr/>
          <p:nvPr/>
        </p:nvSpPr>
        <p:spPr>
          <a:xfrm>
            <a:off x="566928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C8102E"/>
          </a:solidFill>
          <a:ln w="12700">
            <a:solidFill>
              <a:srgbClr val="9E0C24"/>
            </a:solidFill>
            <a:prstDash val="solid"/>
          </a:ln>
        </p:spPr>
      </p:sp>
      <p:sp>
        <p:nvSpPr>
          <p:cNvPr id="174" name="Text 9">
            <a:extLst>
              <a:ext uri="{FF2B5EF4-FFF2-40B4-BE49-F238E27FC236}">
                <a16:creationId xmlns:a16="http://schemas.microsoft.com/office/drawing/2014/main" id="{87D9DD45-C043-4C6A-AC1E-373E02CBEBC6}"/>
              </a:ext>
            </a:extLst>
          </p:cNvPr>
          <p:cNvSpPr/>
          <p:nvPr/>
        </p:nvSpPr>
        <p:spPr>
          <a:xfrm>
            <a:off x="777240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에이전트 엔진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5" name="Shape 10">
            <a:extLst>
              <a:ext uri="{FF2B5EF4-FFF2-40B4-BE49-F238E27FC236}">
                <a16:creationId xmlns:a16="http://schemas.microsoft.com/office/drawing/2014/main" id="{263507DA-E443-40D4-899F-D7FD4CC3521C}"/>
              </a:ext>
            </a:extLst>
          </p:cNvPr>
          <p:cNvSpPr/>
          <p:nvPr/>
        </p:nvSpPr>
        <p:spPr>
          <a:xfrm>
            <a:off x="1638300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6" name="Text 11">
            <a:extLst>
              <a:ext uri="{FF2B5EF4-FFF2-40B4-BE49-F238E27FC236}">
                <a16:creationId xmlns:a16="http://schemas.microsoft.com/office/drawing/2014/main" id="{C298407E-E8FB-4E3A-83EF-EF3514163E16}"/>
              </a:ext>
            </a:extLst>
          </p:cNvPr>
          <p:cNvSpPr/>
          <p:nvPr/>
        </p:nvSpPr>
        <p:spPr>
          <a:xfrm>
            <a:off x="1848612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VLM 추론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7" name="Shape 12">
            <a:extLst>
              <a:ext uri="{FF2B5EF4-FFF2-40B4-BE49-F238E27FC236}">
                <a16:creationId xmlns:a16="http://schemas.microsoft.com/office/drawing/2014/main" id="{94F3CDC7-BEDD-4FAB-B875-62EEA2107457}"/>
              </a:ext>
            </a:extLst>
          </p:cNvPr>
          <p:cNvSpPr/>
          <p:nvPr/>
        </p:nvSpPr>
        <p:spPr>
          <a:xfrm>
            <a:off x="2709672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8" name="Text 13">
            <a:extLst>
              <a:ext uri="{FF2B5EF4-FFF2-40B4-BE49-F238E27FC236}">
                <a16:creationId xmlns:a16="http://schemas.microsoft.com/office/drawing/2014/main" id="{923508EF-62AA-4A47-B487-5010662E9775}"/>
              </a:ext>
            </a:extLst>
          </p:cNvPr>
          <p:cNvSpPr/>
          <p:nvPr/>
        </p:nvSpPr>
        <p:spPr>
          <a:xfrm>
            <a:off x="2919984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얼굴 인식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9" name="Shape 14">
            <a:extLst>
              <a:ext uri="{FF2B5EF4-FFF2-40B4-BE49-F238E27FC236}">
                <a16:creationId xmlns:a16="http://schemas.microsoft.com/office/drawing/2014/main" id="{97904373-730A-4216-B7F6-6C4100DB7F27}"/>
              </a:ext>
            </a:extLst>
          </p:cNvPr>
          <p:cNvSpPr/>
          <p:nvPr/>
        </p:nvSpPr>
        <p:spPr>
          <a:xfrm>
            <a:off x="3781044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0" name="Text 15">
            <a:extLst>
              <a:ext uri="{FF2B5EF4-FFF2-40B4-BE49-F238E27FC236}">
                <a16:creationId xmlns:a16="http://schemas.microsoft.com/office/drawing/2014/main" id="{3BB59DFE-1536-486B-B4CC-BE48CCC2B14B}"/>
              </a:ext>
            </a:extLst>
          </p:cNvPr>
          <p:cNvSpPr/>
          <p:nvPr/>
        </p:nvSpPr>
        <p:spPr>
          <a:xfrm>
            <a:off x="3991356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음성·엣지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1" name="Shape 16">
            <a:extLst>
              <a:ext uri="{FF2B5EF4-FFF2-40B4-BE49-F238E27FC236}">
                <a16:creationId xmlns:a16="http://schemas.microsoft.com/office/drawing/2014/main" id="{A4B1CF78-FD80-45D3-9C12-549EEDB37997}"/>
              </a:ext>
            </a:extLst>
          </p:cNvPr>
          <p:cNvSpPr/>
          <p:nvPr/>
        </p:nvSpPr>
        <p:spPr>
          <a:xfrm>
            <a:off x="4852416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2" name="Text 17">
            <a:extLst>
              <a:ext uri="{FF2B5EF4-FFF2-40B4-BE49-F238E27FC236}">
                <a16:creationId xmlns:a16="http://schemas.microsoft.com/office/drawing/2014/main" id="{CAE547C8-4234-4C54-8C98-3EE2F021A911}"/>
              </a:ext>
            </a:extLst>
          </p:cNvPr>
          <p:cNvSpPr/>
          <p:nvPr/>
        </p:nvSpPr>
        <p:spPr>
          <a:xfrm>
            <a:off x="5062728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세션·상태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3" name="Shape 18">
            <a:extLst>
              <a:ext uri="{FF2B5EF4-FFF2-40B4-BE49-F238E27FC236}">
                <a16:creationId xmlns:a16="http://schemas.microsoft.com/office/drawing/2014/main" id="{A19E9D9C-F313-470C-BE23-20ACD57B0399}"/>
              </a:ext>
            </a:extLst>
          </p:cNvPr>
          <p:cNvSpPr/>
          <p:nvPr/>
        </p:nvSpPr>
        <p:spPr>
          <a:xfrm>
            <a:off x="5923788" y="18470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AAB2BD"/>
            </a:solidFill>
            <a:prstDash val="dash"/>
          </a:ln>
        </p:spPr>
      </p:sp>
      <p:sp>
        <p:nvSpPr>
          <p:cNvPr id="184" name="Text 19">
            <a:extLst>
              <a:ext uri="{FF2B5EF4-FFF2-40B4-BE49-F238E27FC236}">
                <a16:creationId xmlns:a16="http://schemas.microsoft.com/office/drawing/2014/main" id="{5EE85D8B-A6DE-4350-9EF9-4F256DDE5DB0}"/>
              </a:ext>
            </a:extLst>
          </p:cNvPr>
          <p:cNvSpPr/>
          <p:nvPr/>
        </p:nvSpPr>
        <p:spPr>
          <a:xfrm>
            <a:off x="6134100" y="1828800"/>
            <a:ext cx="833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목업(외부)</a:t>
            </a:r>
            <a:endParaRPr 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5" name="Shape 20">
            <a:extLst>
              <a:ext uri="{FF2B5EF4-FFF2-40B4-BE49-F238E27FC236}">
                <a16:creationId xmlns:a16="http://schemas.microsoft.com/office/drawing/2014/main" id="{09E8BCCE-9CF3-4AE5-A1CC-EB1A48FB8F30}"/>
              </a:ext>
            </a:extLst>
          </p:cNvPr>
          <p:cNvSpPr/>
          <p:nvPr/>
        </p:nvSpPr>
        <p:spPr>
          <a:xfrm>
            <a:off x="566928" y="2231136"/>
            <a:ext cx="1517904" cy="3127248"/>
          </a:xfrm>
          <a:prstGeom prst="roundRect">
            <a:avLst>
              <a:gd name="adj" fmla="val 4217"/>
            </a:avLst>
          </a:prstGeom>
          <a:solidFill>
            <a:srgbClr val="FBFCFE"/>
          </a:solidFill>
          <a:ln w="15875">
            <a:solidFill>
              <a:srgbClr val="C7D0DB"/>
            </a:solidFill>
            <a:prstDash val="dash"/>
          </a:ln>
        </p:spPr>
      </p:sp>
      <p:sp>
        <p:nvSpPr>
          <p:cNvPr id="186" name="Shape 21">
            <a:extLst>
              <a:ext uri="{FF2B5EF4-FFF2-40B4-BE49-F238E27FC236}">
                <a16:creationId xmlns:a16="http://schemas.microsoft.com/office/drawing/2014/main" id="{28EE148C-3FFD-424B-A430-4C13C666EFB6}"/>
              </a:ext>
            </a:extLst>
          </p:cNvPr>
          <p:cNvSpPr/>
          <p:nvPr/>
        </p:nvSpPr>
        <p:spPr>
          <a:xfrm>
            <a:off x="713232" y="210312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475569"/>
          </a:solidFill>
          <a:ln/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7" name="Text 22">
            <a:extLst>
              <a:ext uri="{FF2B5EF4-FFF2-40B4-BE49-F238E27FC236}">
                <a16:creationId xmlns:a16="http://schemas.microsoft.com/office/drawing/2014/main" id="{4117CB72-2A70-42A8-8BFF-25C0AB8F2122}"/>
              </a:ext>
            </a:extLst>
          </p:cNvPr>
          <p:cNvSpPr/>
          <p:nvPr/>
        </p:nvSpPr>
        <p:spPr>
          <a:xfrm>
            <a:off x="713232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3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차량 </a:t>
            </a:r>
            <a:r>
              <a:rPr lang="en-US" sz="830" b="1" dirty="0" err="1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엣지</a:t>
            </a:r>
            <a:r>
              <a:rPr lang="en-US" sz="83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Pi 5</a:t>
            </a:r>
            <a:endParaRPr lang="en-US" sz="8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8" name="Shape 23">
            <a:extLst>
              <a:ext uri="{FF2B5EF4-FFF2-40B4-BE49-F238E27FC236}">
                <a16:creationId xmlns:a16="http://schemas.microsoft.com/office/drawing/2014/main" id="{378AB344-2B93-4788-B98C-5F3B1235FB2D}"/>
              </a:ext>
            </a:extLst>
          </p:cNvPr>
          <p:cNvSpPr/>
          <p:nvPr/>
        </p:nvSpPr>
        <p:spPr>
          <a:xfrm>
            <a:off x="2395728" y="2231136"/>
            <a:ext cx="4599432" cy="3127248"/>
          </a:xfrm>
          <a:prstGeom prst="roundRect">
            <a:avLst>
              <a:gd name="adj" fmla="val 2047"/>
            </a:avLst>
          </a:prstGeom>
          <a:solidFill>
            <a:srgbClr val="FBFCFE"/>
          </a:solidFill>
          <a:ln w="15875">
            <a:solidFill>
              <a:srgbClr val="C7D0DB"/>
            </a:solidFill>
            <a:prstDash val="dash"/>
          </a:ln>
        </p:spPr>
      </p:sp>
      <p:sp>
        <p:nvSpPr>
          <p:cNvPr id="189" name="Shape 24">
            <a:extLst>
              <a:ext uri="{FF2B5EF4-FFF2-40B4-BE49-F238E27FC236}">
                <a16:creationId xmlns:a16="http://schemas.microsoft.com/office/drawing/2014/main" id="{8A6A09A2-ADBD-4AB6-A1FF-EDC93798292E}"/>
              </a:ext>
            </a:extLst>
          </p:cNvPr>
          <p:cNvSpPr/>
          <p:nvPr/>
        </p:nvSpPr>
        <p:spPr>
          <a:xfrm>
            <a:off x="2542032" y="2103120"/>
            <a:ext cx="2788920" cy="274320"/>
          </a:xfrm>
          <a:prstGeom prst="roundRect">
            <a:avLst>
              <a:gd name="adj" fmla="val 23333"/>
            </a:avLst>
          </a:prstGeom>
          <a:solidFill>
            <a:srgbClr val="1E293B"/>
          </a:solidFill>
          <a:ln/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0" name="Text 25">
            <a:extLst>
              <a:ext uri="{FF2B5EF4-FFF2-40B4-BE49-F238E27FC236}">
                <a16:creationId xmlns:a16="http://schemas.microsoft.com/office/drawing/2014/main" id="{A226A8E5-ADA3-4DB6-B49A-10D62C317AF8}"/>
              </a:ext>
            </a:extLst>
          </p:cNvPr>
          <p:cNvSpPr/>
          <p:nvPr/>
        </p:nvSpPr>
        <p:spPr>
          <a:xfrm>
            <a:off x="2542032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3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차량 </a:t>
            </a:r>
            <a:r>
              <a:rPr lang="en-US" sz="83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HPC · NVIDIA Thor (automotive-grade)</a:t>
            </a:r>
            <a:endParaRPr lang="en-US" sz="8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1" name="Shape 26">
            <a:extLst>
              <a:ext uri="{FF2B5EF4-FFF2-40B4-BE49-F238E27FC236}">
                <a16:creationId xmlns:a16="http://schemas.microsoft.com/office/drawing/2014/main" id="{41AD6201-ACD2-4751-9FE2-F309FA64FF11}"/>
              </a:ext>
            </a:extLst>
          </p:cNvPr>
          <p:cNvSpPr/>
          <p:nvPr/>
        </p:nvSpPr>
        <p:spPr>
          <a:xfrm>
            <a:off x="658368" y="2514600"/>
            <a:ext cx="1335024" cy="59436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15875">
            <a:solidFill>
              <a:srgbClr val="94A3B8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2" name="Shape 27">
            <a:extLst>
              <a:ext uri="{FF2B5EF4-FFF2-40B4-BE49-F238E27FC236}">
                <a16:creationId xmlns:a16="http://schemas.microsoft.com/office/drawing/2014/main" id="{BF3C84FF-CF5C-4FA1-A96C-AAAAABF8839A}"/>
              </a:ext>
            </a:extLst>
          </p:cNvPr>
          <p:cNvSpPr/>
          <p:nvPr/>
        </p:nvSpPr>
        <p:spPr>
          <a:xfrm>
            <a:off x="726948" y="2587752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93" name="Image 1" descr="preencoded.png">
            <a:extLst>
              <a:ext uri="{FF2B5EF4-FFF2-40B4-BE49-F238E27FC236}">
                <a16:creationId xmlns:a16="http://schemas.microsoft.com/office/drawing/2014/main" id="{A1070DB2-14CE-46EA-9367-23E0BC1EC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628900"/>
            <a:ext cx="146304" cy="146304"/>
          </a:xfrm>
          <a:prstGeom prst="rect">
            <a:avLst/>
          </a:prstGeom>
        </p:spPr>
      </p:pic>
      <p:sp>
        <p:nvSpPr>
          <p:cNvPr id="194" name="Text 28">
            <a:extLst>
              <a:ext uri="{FF2B5EF4-FFF2-40B4-BE49-F238E27FC236}">
                <a16:creationId xmlns:a16="http://schemas.microsoft.com/office/drawing/2014/main" id="{1002CB05-C9E9-4EF0-8422-1FE0BF53BCBD}"/>
              </a:ext>
            </a:extLst>
          </p:cNvPr>
          <p:cNvSpPr/>
          <p:nvPr/>
        </p:nvSpPr>
        <p:spPr>
          <a:xfrm>
            <a:off x="1037844" y="2606040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7556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인캐빈 UI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5" name="Text 29">
            <a:extLst>
              <a:ext uri="{FF2B5EF4-FFF2-40B4-BE49-F238E27FC236}">
                <a16:creationId xmlns:a16="http://schemas.microsoft.com/office/drawing/2014/main" id="{764FDBE7-40BF-46B9-9063-F109AD863592}"/>
              </a:ext>
            </a:extLst>
          </p:cNvPr>
          <p:cNvSpPr/>
          <p:nvPr/>
        </p:nvSpPr>
        <p:spPr>
          <a:xfrm>
            <a:off x="1010682" y="2866644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화면·지도·카드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6" name="Shape 30">
            <a:extLst>
              <a:ext uri="{FF2B5EF4-FFF2-40B4-BE49-F238E27FC236}">
                <a16:creationId xmlns:a16="http://schemas.microsoft.com/office/drawing/2014/main" id="{83CE5824-02A8-49C6-9245-97971B6AFB8C}"/>
              </a:ext>
            </a:extLst>
          </p:cNvPr>
          <p:cNvSpPr/>
          <p:nvPr/>
        </p:nvSpPr>
        <p:spPr>
          <a:xfrm>
            <a:off x="658368" y="3218688"/>
            <a:ext cx="1335024" cy="594360"/>
          </a:xfrm>
          <a:prstGeom prst="roundRect">
            <a:avLst>
              <a:gd name="adj" fmla="val 7692"/>
            </a:avLst>
          </a:prstGeom>
          <a:solidFill>
            <a:srgbClr val="E0F5F1"/>
          </a:solidFill>
          <a:ln w="15875">
            <a:solidFill>
              <a:srgbClr val="14B8A6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7" name="Shape 31">
            <a:extLst>
              <a:ext uri="{FF2B5EF4-FFF2-40B4-BE49-F238E27FC236}">
                <a16:creationId xmlns:a16="http://schemas.microsoft.com/office/drawing/2014/main" id="{3A852BCD-D1FF-4BC3-A588-88459365F236}"/>
              </a:ext>
            </a:extLst>
          </p:cNvPr>
          <p:cNvSpPr/>
          <p:nvPr/>
        </p:nvSpPr>
        <p:spPr>
          <a:xfrm>
            <a:off x="726948" y="3291840"/>
            <a:ext cx="228600" cy="2286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8" name="Image 2" descr="preencoded.png">
            <a:extLst>
              <a:ext uri="{FF2B5EF4-FFF2-40B4-BE49-F238E27FC236}">
                <a16:creationId xmlns:a16="http://schemas.microsoft.com/office/drawing/2014/main" id="{A66717CF-EA52-4D2C-8503-2650F4186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332988"/>
            <a:ext cx="146304" cy="146304"/>
          </a:xfrm>
          <a:prstGeom prst="rect">
            <a:avLst/>
          </a:prstGeom>
        </p:spPr>
      </p:pic>
      <p:sp>
        <p:nvSpPr>
          <p:cNvPr id="199" name="Text 32">
            <a:extLst>
              <a:ext uri="{FF2B5EF4-FFF2-40B4-BE49-F238E27FC236}">
                <a16:creationId xmlns:a16="http://schemas.microsoft.com/office/drawing/2014/main" id="{7B596C52-DAAB-4B58-93DF-ABC1C4161A6C}"/>
              </a:ext>
            </a:extLst>
          </p:cNvPr>
          <p:cNvSpPr/>
          <p:nvPr/>
        </p:nvSpPr>
        <p:spPr>
          <a:xfrm>
            <a:off x="1037844" y="3310128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F766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음성 입출력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0" name="Text 33">
            <a:extLst>
              <a:ext uri="{FF2B5EF4-FFF2-40B4-BE49-F238E27FC236}">
                <a16:creationId xmlns:a16="http://schemas.microsoft.com/office/drawing/2014/main" id="{6C3A4464-3E30-4218-B5C8-5599328F18BB}"/>
              </a:ext>
            </a:extLst>
          </p:cNvPr>
          <p:cNvSpPr/>
          <p:nvPr/>
        </p:nvSpPr>
        <p:spPr>
          <a:xfrm>
            <a:off x="1035558" y="3607308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VAD·STT·TTS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1" name="Shape 34">
            <a:extLst>
              <a:ext uri="{FF2B5EF4-FFF2-40B4-BE49-F238E27FC236}">
                <a16:creationId xmlns:a16="http://schemas.microsoft.com/office/drawing/2014/main" id="{22083B73-1621-4620-A913-EFFE167B6475}"/>
              </a:ext>
            </a:extLst>
          </p:cNvPr>
          <p:cNvSpPr/>
          <p:nvPr/>
        </p:nvSpPr>
        <p:spPr>
          <a:xfrm>
            <a:off x="658368" y="3922776"/>
            <a:ext cx="1335024" cy="59436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15875">
            <a:solidFill>
              <a:srgbClr val="94A3B8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2" name="Shape 35">
            <a:extLst>
              <a:ext uri="{FF2B5EF4-FFF2-40B4-BE49-F238E27FC236}">
                <a16:creationId xmlns:a16="http://schemas.microsoft.com/office/drawing/2014/main" id="{5DA71F9D-19C5-41F6-97FE-8DF1422077B8}"/>
              </a:ext>
            </a:extLst>
          </p:cNvPr>
          <p:cNvSpPr/>
          <p:nvPr/>
        </p:nvSpPr>
        <p:spPr>
          <a:xfrm>
            <a:off x="726948" y="3995928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03" name="Image 3" descr="preencoded.png">
            <a:extLst>
              <a:ext uri="{FF2B5EF4-FFF2-40B4-BE49-F238E27FC236}">
                <a16:creationId xmlns:a16="http://schemas.microsoft.com/office/drawing/2014/main" id="{1A9EE7BB-9780-4CE0-AB57-72E39E9DC0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037076"/>
            <a:ext cx="146304" cy="146304"/>
          </a:xfrm>
          <a:prstGeom prst="rect">
            <a:avLst/>
          </a:prstGeom>
        </p:spPr>
      </p:pic>
      <p:sp>
        <p:nvSpPr>
          <p:cNvPr id="204" name="Text 36">
            <a:extLst>
              <a:ext uri="{FF2B5EF4-FFF2-40B4-BE49-F238E27FC236}">
                <a16:creationId xmlns:a16="http://schemas.microsoft.com/office/drawing/2014/main" id="{4AFE18B4-1A26-473F-9AFE-85AFAE18B769}"/>
              </a:ext>
            </a:extLst>
          </p:cNvPr>
          <p:cNvSpPr/>
          <p:nvPr/>
        </p:nvSpPr>
        <p:spPr>
          <a:xfrm>
            <a:off x="1037844" y="4014216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7556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마이크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5" name="Text 37">
            <a:extLst>
              <a:ext uri="{FF2B5EF4-FFF2-40B4-BE49-F238E27FC236}">
                <a16:creationId xmlns:a16="http://schemas.microsoft.com/office/drawing/2014/main" id="{6ECEE314-6D9F-4718-BF3C-0827A6E666FF}"/>
              </a:ext>
            </a:extLst>
          </p:cNvPr>
          <p:cNvSpPr/>
          <p:nvPr/>
        </p:nvSpPr>
        <p:spPr>
          <a:xfrm>
            <a:off x="1005840" y="428091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센서 입력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6" name="Shape 38">
            <a:extLst>
              <a:ext uri="{FF2B5EF4-FFF2-40B4-BE49-F238E27FC236}">
                <a16:creationId xmlns:a16="http://schemas.microsoft.com/office/drawing/2014/main" id="{618A009A-8FDD-4A35-898E-4C3EAAAF3AC9}"/>
              </a:ext>
            </a:extLst>
          </p:cNvPr>
          <p:cNvSpPr/>
          <p:nvPr/>
        </p:nvSpPr>
        <p:spPr>
          <a:xfrm>
            <a:off x="658368" y="4626864"/>
            <a:ext cx="1335024" cy="59436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15875">
            <a:solidFill>
              <a:srgbClr val="94A3B8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7" name="Shape 39">
            <a:extLst>
              <a:ext uri="{FF2B5EF4-FFF2-40B4-BE49-F238E27FC236}">
                <a16:creationId xmlns:a16="http://schemas.microsoft.com/office/drawing/2014/main" id="{30DB7123-CDC1-41D6-A5FF-25476947DB31}"/>
              </a:ext>
            </a:extLst>
          </p:cNvPr>
          <p:cNvSpPr/>
          <p:nvPr/>
        </p:nvSpPr>
        <p:spPr>
          <a:xfrm>
            <a:off x="726948" y="4700016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08" name="Image 4" descr="preencoded.png">
            <a:extLst>
              <a:ext uri="{FF2B5EF4-FFF2-40B4-BE49-F238E27FC236}">
                <a16:creationId xmlns:a16="http://schemas.microsoft.com/office/drawing/2014/main" id="{684E8434-CC51-4F56-84B7-DDE9DFEE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4741164"/>
            <a:ext cx="146304" cy="146304"/>
          </a:xfrm>
          <a:prstGeom prst="rect">
            <a:avLst/>
          </a:prstGeom>
        </p:spPr>
      </p:pic>
      <p:sp>
        <p:nvSpPr>
          <p:cNvPr id="209" name="Text 40">
            <a:extLst>
              <a:ext uri="{FF2B5EF4-FFF2-40B4-BE49-F238E27FC236}">
                <a16:creationId xmlns:a16="http://schemas.microsoft.com/office/drawing/2014/main" id="{501A30B7-AC54-4DFE-9431-4BC4FB0D55CB}"/>
              </a:ext>
            </a:extLst>
          </p:cNvPr>
          <p:cNvSpPr/>
          <p:nvPr/>
        </p:nvSpPr>
        <p:spPr>
          <a:xfrm>
            <a:off x="1037844" y="4718304"/>
            <a:ext cx="8823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7556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SSH Tunnel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0" name="Text 41">
            <a:extLst>
              <a:ext uri="{FF2B5EF4-FFF2-40B4-BE49-F238E27FC236}">
                <a16:creationId xmlns:a16="http://schemas.microsoft.com/office/drawing/2014/main" id="{BCEC26D7-581F-4C73-A582-BC98F8501216}"/>
              </a:ext>
            </a:extLst>
          </p:cNvPr>
          <p:cNvSpPr/>
          <p:nvPr/>
        </p:nvSpPr>
        <p:spPr>
          <a:xfrm>
            <a:off x="1010682" y="5014534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→ Thor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1" name="Shape 42">
            <a:extLst>
              <a:ext uri="{FF2B5EF4-FFF2-40B4-BE49-F238E27FC236}">
                <a16:creationId xmlns:a16="http://schemas.microsoft.com/office/drawing/2014/main" id="{8A86B5AF-418D-4896-90B5-854ABFE734CD}"/>
              </a:ext>
            </a:extLst>
          </p:cNvPr>
          <p:cNvSpPr/>
          <p:nvPr/>
        </p:nvSpPr>
        <p:spPr>
          <a:xfrm>
            <a:off x="2514600" y="2505456"/>
            <a:ext cx="1133856" cy="493776"/>
          </a:xfrm>
          <a:prstGeom prst="roundRect">
            <a:avLst>
              <a:gd name="adj" fmla="val 9259"/>
            </a:avLst>
          </a:prstGeom>
          <a:solidFill>
            <a:srgbClr val="EDF1F7"/>
          </a:solidFill>
          <a:ln w="15875">
            <a:solidFill>
              <a:srgbClr val="94A3B8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2" name="Shape 43">
            <a:extLst>
              <a:ext uri="{FF2B5EF4-FFF2-40B4-BE49-F238E27FC236}">
                <a16:creationId xmlns:a16="http://schemas.microsoft.com/office/drawing/2014/main" id="{5C8E0575-5F1D-42D4-80A9-331C95AE6E67}"/>
              </a:ext>
            </a:extLst>
          </p:cNvPr>
          <p:cNvSpPr/>
          <p:nvPr/>
        </p:nvSpPr>
        <p:spPr>
          <a:xfrm>
            <a:off x="2583180" y="2638044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13" name="Image 5" descr="preencoded.png">
            <a:extLst>
              <a:ext uri="{FF2B5EF4-FFF2-40B4-BE49-F238E27FC236}">
                <a16:creationId xmlns:a16="http://schemas.microsoft.com/office/drawing/2014/main" id="{FFF85F53-1D1B-4F4B-850A-EAE2628B59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4328" y="2679192"/>
            <a:ext cx="146304" cy="146304"/>
          </a:xfrm>
          <a:prstGeom prst="rect">
            <a:avLst/>
          </a:prstGeom>
        </p:spPr>
      </p:pic>
      <p:sp>
        <p:nvSpPr>
          <p:cNvPr id="214" name="Text 44">
            <a:extLst>
              <a:ext uri="{FF2B5EF4-FFF2-40B4-BE49-F238E27FC236}">
                <a16:creationId xmlns:a16="http://schemas.microsoft.com/office/drawing/2014/main" id="{FDB63627-9765-40D3-9CB9-4D16440FBFD1}"/>
              </a:ext>
            </a:extLst>
          </p:cNvPr>
          <p:cNvSpPr/>
          <p:nvPr/>
        </p:nvSpPr>
        <p:spPr>
          <a:xfrm>
            <a:off x="2894076" y="2505456"/>
            <a:ext cx="740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60" b="1">
                <a:solidFill>
                  <a:srgbClr val="47556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게이트웨이</a:t>
            </a:r>
            <a:endParaRPr lang="en-US" sz="86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전송 · 이벤트 전달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5" name="Shape 45">
            <a:extLst>
              <a:ext uri="{FF2B5EF4-FFF2-40B4-BE49-F238E27FC236}">
                <a16:creationId xmlns:a16="http://schemas.microsoft.com/office/drawing/2014/main" id="{6393DE31-DFDA-4D37-AF0A-E0F215737C6A}"/>
              </a:ext>
            </a:extLst>
          </p:cNvPr>
          <p:cNvSpPr/>
          <p:nvPr/>
        </p:nvSpPr>
        <p:spPr>
          <a:xfrm>
            <a:off x="3776472" y="2505456"/>
            <a:ext cx="1133856" cy="493776"/>
          </a:xfrm>
          <a:prstGeom prst="roundRect">
            <a:avLst>
              <a:gd name="adj" fmla="val 9259"/>
            </a:avLst>
          </a:prstGeom>
          <a:solidFill>
            <a:srgbClr val="FEF1E0"/>
          </a:solidFill>
          <a:ln w="15875">
            <a:solidFill>
              <a:srgbClr val="F59E0B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6" name="Shape 46">
            <a:extLst>
              <a:ext uri="{FF2B5EF4-FFF2-40B4-BE49-F238E27FC236}">
                <a16:creationId xmlns:a16="http://schemas.microsoft.com/office/drawing/2014/main" id="{C802653B-54B9-40C1-B31D-7093FB89D233}"/>
              </a:ext>
            </a:extLst>
          </p:cNvPr>
          <p:cNvSpPr/>
          <p:nvPr/>
        </p:nvSpPr>
        <p:spPr>
          <a:xfrm>
            <a:off x="3845052" y="2638044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7" name="Image 6" descr="preencoded.png">
            <a:extLst>
              <a:ext uri="{FF2B5EF4-FFF2-40B4-BE49-F238E27FC236}">
                <a16:creationId xmlns:a16="http://schemas.microsoft.com/office/drawing/2014/main" id="{AA9656C0-0730-4D8F-866B-247866183D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0" y="2679192"/>
            <a:ext cx="146304" cy="146304"/>
          </a:xfrm>
          <a:prstGeom prst="rect">
            <a:avLst/>
          </a:prstGeom>
        </p:spPr>
      </p:pic>
      <p:sp>
        <p:nvSpPr>
          <p:cNvPr id="218" name="Text 47">
            <a:extLst>
              <a:ext uri="{FF2B5EF4-FFF2-40B4-BE49-F238E27FC236}">
                <a16:creationId xmlns:a16="http://schemas.microsoft.com/office/drawing/2014/main" id="{49B5B55F-6CE9-4D13-96D8-AA815AA60F3C}"/>
              </a:ext>
            </a:extLst>
          </p:cNvPr>
          <p:cNvSpPr/>
          <p:nvPr/>
        </p:nvSpPr>
        <p:spPr>
          <a:xfrm>
            <a:off x="4101084" y="2505456"/>
            <a:ext cx="7909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얼굴 식별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InsightFace</a:t>
            </a: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  <a:r>
              <a:rPr lang="en-US" sz="70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탑승자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9" name="Shape 48">
            <a:extLst>
              <a:ext uri="{FF2B5EF4-FFF2-40B4-BE49-F238E27FC236}">
                <a16:creationId xmlns:a16="http://schemas.microsoft.com/office/drawing/2014/main" id="{865C0ECA-7AFE-4AA8-89B7-7BFD1593FCAA}"/>
              </a:ext>
            </a:extLst>
          </p:cNvPr>
          <p:cNvSpPr/>
          <p:nvPr/>
        </p:nvSpPr>
        <p:spPr>
          <a:xfrm>
            <a:off x="5056632" y="2523744"/>
            <a:ext cx="2286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0" name="Text 49">
            <a:extLst>
              <a:ext uri="{FF2B5EF4-FFF2-40B4-BE49-F238E27FC236}">
                <a16:creationId xmlns:a16="http://schemas.microsoft.com/office/drawing/2014/main" id="{84B499C5-D807-4057-B27F-1B9649F1E850}"/>
              </a:ext>
            </a:extLst>
          </p:cNvPr>
          <p:cNvSpPr/>
          <p:nvPr/>
        </p:nvSpPr>
        <p:spPr>
          <a:xfrm>
            <a:off x="5155845" y="2470404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4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능동 (Proactive)</a:t>
            </a:r>
            <a:endParaRPr lang="en-US" sz="8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68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이벤트·상태 변화에 묻기 전에 먼저</a:t>
            </a:r>
            <a:endParaRPr lang="en-US" sz="8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1" name="Shape 50">
            <a:extLst>
              <a:ext uri="{FF2B5EF4-FFF2-40B4-BE49-F238E27FC236}">
                <a16:creationId xmlns:a16="http://schemas.microsoft.com/office/drawing/2014/main" id="{0BC23AE1-DF29-4545-B990-23AEA54AD554}"/>
              </a:ext>
            </a:extLst>
          </p:cNvPr>
          <p:cNvSpPr/>
          <p:nvPr/>
        </p:nvSpPr>
        <p:spPr>
          <a:xfrm>
            <a:off x="2514600" y="3236976"/>
            <a:ext cx="2395728" cy="900684"/>
          </a:xfrm>
          <a:prstGeom prst="roundRect">
            <a:avLst>
              <a:gd name="adj" fmla="val 4310"/>
            </a:avLst>
          </a:prstGeom>
          <a:solidFill>
            <a:srgbClr val="C8102E"/>
          </a:solidFill>
          <a:ln w="15875">
            <a:solidFill>
              <a:srgbClr val="9E0C24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2" name="Shape 51">
            <a:extLst>
              <a:ext uri="{FF2B5EF4-FFF2-40B4-BE49-F238E27FC236}">
                <a16:creationId xmlns:a16="http://schemas.microsoft.com/office/drawing/2014/main" id="{00ECBEBB-EC92-4778-9380-62D1304E4E03}"/>
              </a:ext>
            </a:extLst>
          </p:cNvPr>
          <p:cNvSpPr/>
          <p:nvPr/>
        </p:nvSpPr>
        <p:spPr>
          <a:xfrm>
            <a:off x="2583180" y="3378708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3" name="Image 7" descr="preencoded.png">
            <a:extLst>
              <a:ext uri="{FF2B5EF4-FFF2-40B4-BE49-F238E27FC236}">
                <a16:creationId xmlns:a16="http://schemas.microsoft.com/office/drawing/2014/main" id="{6AE13F4A-8407-4F15-B01A-73AD05D304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4328" y="3419856"/>
            <a:ext cx="146304" cy="146304"/>
          </a:xfrm>
          <a:prstGeom prst="rect">
            <a:avLst/>
          </a:prstGeom>
        </p:spPr>
      </p:pic>
      <p:sp>
        <p:nvSpPr>
          <p:cNvPr id="224" name="Text 52">
            <a:extLst>
              <a:ext uri="{FF2B5EF4-FFF2-40B4-BE49-F238E27FC236}">
                <a16:creationId xmlns:a16="http://schemas.microsoft.com/office/drawing/2014/main" id="{2368CA5E-91E6-4833-B652-45A6B3BD4B57}"/>
              </a:ext>
            </a:extLst>
          </p:cNvPr>
          <p:cNvSpPr/>
          <p:nvPr/>
        </p:nvSpPr>
        <p:spPr>
          <a:xfrm>
            <a:off x="2894076" y="3328416"/>
            <a:ext cx="1943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에이전트 엔진 · 허브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5" name="Text 53">
            <a:extLst>
              <a:ext uri="{FF2B5EF4-FFF2-40B4-BE49-F238E27FC236}">
                <a16:creationId xmlns:a16="http://schemas.microsoft.com/office/drawing/2014/main" id="{3384C905-C0D0-46F2-A62F-34A240C0501A}"/>
              </a:ext>
            </a:extLst>
          </p:cNvPr>
          <p:cNvSpPr/>
          <p:nvPr/>
        </p:nvSpPr>
        <p:spPr>
          <a:xfrm>
            <a:off x="2907792" y="3571737"/>
            <a:ext cx="19431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관련 사실 retrieval · 컨텍스트 조립 · 추론 </a:t>
            </a:r>
            <a:r>
              <a:rPr lang="en-US" sz="74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루프</a:t>
            </a:r>
            <a:r>
              <a:rPr lang="en-US" sz="74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·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74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약속</a:t>
            </a:r>
            <a:r>
              <a:rPr lang="en-US" sz="74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장부·되돌리기·승인 관문·세이프티 · 조립·retrieval은 </a:t>
            </a:r>
            <a:r>
              <a:rPr lang="en-US" sz="74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엔진</a:t>
            </a:r>
            <a:r>
              <a:rPr lang="en-US" sz="74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dirty="0" err="1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책임</a:t>
            </a:r>
            <a:r>
              <a:rPr lang="en-US" sz="740" dirty="0">
                <a:solidFill>
                  <a:srgbClr val="FFE3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(전송과 분리)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6" name="Shape 54">
            <a:extLst>
              <a:ext uri="{FF2B5EF4-FFF2-40B4-BE49-F238E27FC236}">
                <a16:creationId xmlns:a16="http://schemas.microsoft.com/office/drawing/2014/main" id="{6CE3374C-A6E0-4B77-B0D7-DEACB7402B04}"/>
              </a:ext>
            </a:extLst>
          </p:cNvPr>
          <p:cNvSpPr/>
          <p:nvPr/>
        </p:nvSpPr>
        <p:spPr>
          <a:xfrm>
            <a:off x="5056632" y="3410712"/>
            <a:ext cx="1819656" cy="713232"/>
          </a:xfrm>
          <a:prstGeom prst="roundRect">
            <a:avLst>
              <a:gd name="adj" fmla="val 6410"/>
            </a:avLst>
          </a:prstGeom>
          <a:solidFill>
            <a:srgbClr val="F0EBFC"/>
          </a:solidFill>
          <a:ln w="15875">
            <a:solidFill>
              <a:srgbClr val="8B5CF6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7" name="Shape 55">
            <a:extLst>
              <a:ext uri="{FF2B5EF4-FFF2-40B4-BE49-F238E27FC236}">
                <a16:creationId xmlns:a16="http://schemas.microsoft.com/office/drawing/2014/main" id="{0972A00A-ADA7-4BE2-B5D4-DE7AF6A5444E}"/>
              </a:ext>
            </a:extLst>
          </p:cNvPr>
          <p:cNvSpPr/>
          <p:nvPr/>
        </p:nvSpPr>
        <p:spPr>
          <a:xfrm>
            <a:off x="5125212" y="3499104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8" name="Image 8" descr="preencoded.png">
            <a:extLst>
              <a:ext uri="{FF2B5EF4-FFF2-40B4-BE49-F238E27FC236}">
                <a16:creationId xmlns:a16="http://schemas.microsoft.com/office/drawing/2014/main" id="{2D3EB349-9A05-408B-9432-FAA8835565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6360" y="3540252"/>
            <a:ext cx="146304" cy="146304"/>
          </a:xfrm>
          <a:prstGeom prst="rect">
            <a:avLst/>
          </a:prstGeom>
        </p:spPr>
      </p:pic>
      <p:sp>
        <p:nvSpPr>
          <p:cNvPr id="229" name="Text 56">
            <a:extLst>
              <a:ext uri="{FF2B5EF4-FFF2-40B4-BE49-F238E27FC236}">
                <a16:creationId xmlns:a16="http://schemas.microsoft.com/office/drawing/2014/main" id="{5309C7B5-FC5C-44E1-9D37-6AFB0FE12761}"/>
              </a:ext>
            </a:extLst>
          </p:cNvPr>
          <p:cNvSpPr/>
          <p:nvPr/>
        </p:nvSpPr>
        <p:spPr>
          <a:xfrm>
            <a:off x="5436108" y="3502152"/>
            <a:ext cx="1367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6D28D9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Qwen VLM 9B</a:t>
            </a:r>
            <a:endParaRPr lang="en-US" sz="9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0" name="Text 57">
            <a:extLst>
              <a:ext uri="{FF2B5EF4-FFF2-40B4-BE49-F238E27FC236}">
                <a16:creationId xmlns:a16="http://schemas.microsoft.com/office/drawing/2014/main" id="{0C539A3C-CD68-4225-A3F8-3523CF41018C}"/>
              </a:ext>
            </a:extLst>
          </p:cNvPr>
          <p:cNvSpPr/>
          <p:nvPr/>
        </p:nvSpPr>
        <p:spPr>
          <a:xfrm>
            <a:off x="5431536" y="376732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추론 + 비전 · TensorRT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1" name="Shape 58">
            <a:extLst>
              <a:ext uri="{FF2B5EF4-FFF2-40B4-BE49-F238E27FC236}">
                <a16:creationId xmlns:a16="http://schemas.microsoft.com/office/drawing/2014/main" id="{BF5BF44A-BEBF-4953-909F-D60261EFFC31}"/>
              </a:ext>
            </a:extLst>
          </p:cNvPr>
          <p:cNvSpPr/>
          <p:nvPr/>
        </p:nvSpPr>
        <p:spPr>
          <a:xfrm>
            <a:off x="2514600" y="4375404"/>
            <a:ext cx="1133856" cy="566928"/>
          </a:xfrm>
          <a:prstGeom prst="roundRect">
            <a:avLst>
              <a:gd name="adj" fmla="val 8065"/>
            </a:avLst>
          </a:prstGeom>
          <a:solidFill>
            <a:srgbClr val="E8F1FB"/>
          </a:solidFill>
          <a:ln w="15875">
            <a:solidFill>
              <a:srgbClr val="3B82F6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2" name="Shape 59">
            <a:extLst>
              <a:ext uri="{FF2B5EF4-FFF2-40B4-BE49-F238E27FC236}">
                <a16:creationId xmlns:a16="http://schemas.microsoft.com/office/drawing/2014/main" id="{0820BA53-72CB-46FE-9988-ED4D8CA5D189}"/>
              </a:ext>
            </a:extLst>
          </p:cNvPr>
          <p:cNvSpPr/>
          <p:nvPr/>
        </p:nvSpPr>
        <p:spPr>
          <a:xfrm>
            <a:off x="2583180" y="454456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3" name="Image 9" descr="preencoded.png">
            <a:extLst>
              <a:ext uri="{FF2B5EF4-FFF2-40B4-BE49-F238E27FC236}">
                <a16:creationId xmlns:a16="http://schemas.microsoft.com/office/drawing/2014/main" id="{09F567EC-7B4D-4B4F-BDBD-DCE449A440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4328" y="4585716"/>
            <a:ext cx="146304" cy="146304"/>
          </a:xfrm>
          <a:prstGeom prst="rect">
            <a:avLst/>
          </a:prstGeom>
        </p:spPr>
      </p:pic>
      <p:sp>
        <p:nvSpPr>
          <p:cNvPr id="234" name="Text 60">
            <a:extLst>
              <a:ext uri="{FF2B5EF4-FFF2-40B4-BE49-F238E27FC236}">
                <a16:creationId xmlns:a16="http://schemas.microsoft.com/office/drawing/2014/main" id="{B3511D6B-8665-4864-8DBF-4165D45B60EB}"/>
              </a:ext>
            </a:extLst>
          </p:cNvPr>
          <p:cNvSpPr/>
          <p:nvPr/>
        </p:nvSpPr>
        <p:spPr>
          <a:xfrm>
            <a:off x="2894076" y="4375404"/>
            <a:ext cx="6812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60" b="1" dirty="0">
                <a:solidFill>
                  <a:srgbClr val="1D4ED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세션 관리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Session Mgr · SQLite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5" name="Shape 61">
            <a:extLst>
              <a:ext uri="{FF2B5EF4-FFF2-40B4-BE49-F238E27FC236}">
                <a16:creationId xmlns:a16="http://schemas.microsoft.com/office/drawing/2014/main" id="{4F6537F0-22D3-407C-A497-40FEDB41F3C7}"/>
              </a:ext>
            </a:extLst>
          </p:cNvPr>
          <p:cNvSpPr/>
          <p:nvPr/>
        </p:nvSpPr>
        <p:spPr>
          <a:xfrm>
            <a:off x="3776472" y="4375404"/>
            <a:ext cx="1133856" cy="566928"/>
          </a:xfrm>
          <a:prstGeom prst="roundRect">
            <a:avLst>
              <a:gd name="adj" fmla="val 8065"/>
            </a:avLst>
          </a:prstGeom>
          <a:solidFill>
            <a:srgbClr val="E8F1FB"/>
          </a:solidFill>
          <a:ln w="15875">
            <a:solidFill>
              <a:srgbClr val="3B82F6"/>
            </a:solidFill>
            <a:prstDash val="solid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6" name="Shape 62">
            <a:extLst>
              <a:ext uri="{FF2B5EF4-FFF2-40B4-BE49-F238E27FC236}">
                <a16:creationId xmlns:a16="http://schemas.microsoft.com/office/drawing/2014/main" id="{BB40C361-8332-4822-85DF-2710A10EAF50}"/>
              </a:ext>
            </a:extLst>
          </p:cNvPr>
          <p:cNvSpPr/>
          <p:nvPr/>
        </p:nvSpPr>
        <p:spPr>
          <a:xfrm>
            <a:off x="3845052" y="454456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7" name="Image 10" descr="preencoded.png">
            <a:extLst>
              <a:ext uri="{FF2B5EF4-FFF2-40B4-BE49-F238E27FC236}">
                <a16:creationId xmlns:a16="http://schemas.microsoft.com/office/drawing/2014/main" id="{90EB2A28-3AA7-430B-889F-51579A4A17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6200" y="4585716"/>
            <a:ext cx="146304" cy="146304"/>
          </a:xfrm>
          <a:prstGeom prst="rect">
            <a:avLst/>
          </a:prstGeom>
        </p:spPr>
      </p:pic>
      <p:sp>
        <p:nvSpPr>
          <p:cNvPr id="238" name="Text 63">
            <a:extLst>
              <a:ext uri="{FF2B5EF4-FFF2-40B4-BE49-F238E27FC236}">
                <a16:creationId xmlns:a16="http://schemas.microsoft.com/office/drawing/2014/main" id="{6C656C82-B409-43B8-915D-779C03C01381}"/>
              </a:ext>
            </a:extLst>
          </p:cNvPr>
          <p:cNvSpPr/>
          <p:nvPr/>
        </p:nvSpPr>
        <p:spPr>
          <a:xfrm>
            <a:off x="4155948" y="4375404"/>
            <a:ext cx="6812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60" b="1" dirty="0">
                <a:solidFill>
                  <a:srgbClr val="1D4ED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상태원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day_service · 약속·결정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9" name="Shape 64">
            <a:extLst>
              <a:ext uri="{FF2B5EF4-FFF2-40B4-BE49-F238E27FC236}">
                <a16:creationId xmlns:a16="http://schemas.microsoft.com/office/drawing/2014/main" id="{0B0B801B-D653-4D96-B721-C62106702EB1}"/>
              </a:ext>
            </a:extLst>
          </p:cNvPr>
          <p:cNvSpPr/>
          <p:nvPr/>
        </p:nvSpPr>
        <p:spPr>
          <a:xfrm>
            <a:off x="5056632" y="4375404"/>
            <a:ext cx="1084707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AAB2BD"/>
            </a:solidFill>
            <a:prstDash val="dash"/>
          </a:ln>
          <a:effectLst>
            <a:outerShdw blurRad="50800" dist="1524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0" name="Shape 65">
            <a:extLst>
              <a:ext uri="{FF2B5EF4-FFF2-40B4-BE49-F238E27FC236}">
                <a16:creationId xmlns:a16="http://schemas.microsoft.com/office/drawing/2014/main" id="{EE9B6401-01FA-43EB-A864-079E84131431}"/>
              </a:ext>
            </a:extLst>
          </p:cNvPr>
          <p:cNvSpPr/>
          <p:nvPr/>
        </p:nvSpPr>
        <p:spPr>
          <a:xfrm>
            <a:off x="5125212" y="4491228"/>
            <a:ext cx="228600" cy="228600"/>
          </a:xfrm>
          <a:prstGeom prst="ellipse">
            <a:avLst/>
          </a:prstGeom>
          <a:solidFill>
            <a:srgbClr val="AAB2BD"/>
          </a:solidFill>
          <a:ln/>
        </p:spPr>
      </p:sp>
      <p:pic>
        <p:nvPicPr>
          <p:cNvPr id="241" name="Image 11" descr="preencoded.png">
            <a:extLst>
              <a:ext uri="{FF2B5EF4-FFF2-40B4-BE49-F238E27FC236}">
                <a16:creationId xmlns:a16="http://schemas.microsoft.com/office/drawing/2014/main" id="{6E0E9A65-2934-40E3-A16D-71FFF2E453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6360" y="4532376"/>
            <a:ext cx="146304" cy="146304"/>
          </a:xfrm>
          <a:prstGeom prst="rect">
            <a:avLst/>
          </a:prstGeom>
        </p:spPr>
      </p:pic>
      <p:sp>
        <p:nvSpPr>
          <p:cNvPr id="242" name="Text 66">
            <a:extLst>
              <a:ext uri="{FF2B5EF4-FFF2-40B4-BE49-F238E27FC236}">
                <a16:creationId xmlns:a16="http://schemas.microsoft.com/office/drawing/2014/main" id="{E16A03F5-11BA-42EA-935A-FD84C446A253}"/>
              </a:ext>
            </a:extLst>
          </p:cNvPr>
          <p:cNvSpPr/>
          <p:nvPr/>
        </p:nvSpPr>
        <p:spPr>
          <a:xfrm>
            <a:off x="5436108" y="4375404"/>
            <a:ext cx="7360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60" b="1" dirty="0">
                <a:solidFill>
                  <a:srgbClr val="8A8A8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목업 데이터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캘린더·메일·경로</a:t>
            </a: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·</a:t>
            </a:r>
          </a:p>
          <a:p>
            <a:pPr marL="0" indent="0" algn="l">
              <a:lnSpc>
                <a:spcPct val="94000"/>
              </a:lnSpc>
              <a:buNone/>
            </a:pPr>
            <a:r>
              <a:rPr lang="en-US" sz="70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미디어·센서</a:t>
            </a:r>
            <a:endParaRPr lang="en-US" sz="86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3" name="Shape 67">
            <a:extLst>
              <a:ext uri="{FF2B5EF4-FFF2-40B4-BE49-F238E27FC236}">
                <a16:creationId xmlns:a16="http://schemas.microsoft.com/office/drawing/2014/main" id="{34BEFBB4-4B41-4C3B-88B7-A5124FED3ED9}"/>
              </a:ext>
            </a:extLst>
          </p:cNvPr>
          <p:cNvSpPr/>
          <p:nvPr/>
        </p:nvSpPr>
        <p:spPr>
          <a:xfrm>
            <a:off x="3081528" y="2999232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4" name="Shape 68">
            <a:extLst>
              <a:ext uri="{FF2B5EF4-FFF2-40B4-BE49-F238E27FC236}">
                <a16:creationId xmlns:a16="http://schemas.microsoft.com/office/drawing/2014/main" id="{6886FFF0-A43B-4265-AD8C-452BE8A01752}"/>
              </a:ext>
            </a:extLst>
          </p:cNvPr>
          <p:cNvSpPr/>
          <p:nvPr/>
        </p:nvSpPr>
        <p:spPr>
          <a:xfrm>
            <a:off x="4343400" y="2999232"/>
            <a:ext cx="0" cy="2377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45" name="Text 69">
            <a:extLst>
              <a:ext uri="{FF2B5EF4-FFF2-40B4-BE49-F238E27FC236}">
                <a16:creationId xmlns:a16="http://schemas.microsoft.com/office/drawing/2014/main" id="{EE60C7E7-52C5-4AD1-AB32-656D56446359}"/>
              </a:ext>
            </a:extLst>
          </p:cNvPr>
          <p:cNvSpPr/>
          <p:nvPr/>
        </p:nvSpPr>
        <p:spPr>
          <a:xfrm>
            <a:off x="4379976" y="30449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F59E0B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얼굴ID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6" name="Shape 70">
            <a:extLst>
              <a:ext uri="{FF2B5EF4-FFF2-40B4-BE49-F238E27FC236}">
                <a16:creationId xmlns:a16="http://schemas.microsoft.com/office/drawing/2014/main" id="{20B63F0C-B248-4056-AD62-F85FC2FB9E97}"/>
              </a:ext>
            </a:extLst>
          </p:cNvPr>
          <p:cNvSpPr/>
          <p:nvPr/>
        </p:nvSpPr>
        <p:spPr>
          <a:xfrm>
            <a:off x="4910328" y="3767328"/>
            <a:ext cx="146304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headEnd type="triangle"/>
            <a:tailEnd type="triangle"/>
          </a:ln>
        </p:spPr>
      </p:sp>
      <p:sp>
        <p:nvSpPr>
          <p:cNvPr id="247" name="Text 71">
            <a:extLst>
              <a:ext uri="{FF2B5EF4-FFF2-40B4-BE49-F238E27FC236}">
                <a16:creationId xmlns:a16="http://schemas.microsoft.com/office/drawing/2014/main" id="{DDA85D55-A463-4698-B388-CA794711370F}"/>
              </a:ext>
            </a:extLst>
          </p:cNvPr>
          <p:cNvSpPr/>
          <p:nvPr/>
        </p:nvSpPr>
        <p:spPr>
          <a:xfrm>
            <a:off x="4727448" y="3621024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추론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8" name="Shape 72">
            <a:extLst>
              <a:ext uri="{FF2B5EF4-FFF2-40B4-BE49-F238E27FC236}">
                <a16:creationId xmlns:a16="http://schemas.microsoft.com/office/drawing/2014/main" id="{B6101CD9-7B5D-46F1-897B-7F827B60D579}"/>
              </a:ext>
            </a:extLst>
          </p:cNvPr>
          <p:cNvSpPr/>
          <p:nvPr/>
        </p:nvSpPr>
        <p:spPr>
          <a:xfrm>
            <a:off x="3081528" y="4137660"/>
            <a:ext cx="0" cy="23774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triangle"/>
            <a:tailEnd type="triangle"/>
          </a:ln>
        </p:spPr>
      </p:sp>
      <p:sp>
        <p:nvSpPr>
          <p:cNvPr id="249" name="Shape 73">
            <a:extLst>
              <a:ext uri="{FF2B5EF4-FFF2-40B4-BE49-F238E27FC236}">
                <a16:creationId xmlns:a16="http://schemas.microsoft.com/office/drawing/2014/main" id="{008A97A9-F609-483B-ADE6-7B468FB9981F}"/>
              </a:ext>
            </a:extLst>
          </p:cNvPr>
          <p:cNvSpPr/>
          <p:nvPr/>
        </p:nvSpPr>
        <p:spPr>
          <a:xfrm>
            <a:off x="4343400" y="4137660"/>
            <a:ext cx="0" cy="23774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triangle"/>
            <a:tailEnd type="triangle"/>
          </a:ln>
        </p:spPr>
      </p:sp>
      <p:sp>
        <p:nvSpPr>
          <p:cNvPr id="250" name="Text 74">
            <a:extLst>
              <a:ext uri="{FF2B5EF4-FFF2-40B4-BE49-F238E27FC236}">
                <a16:creationId xmlns:a16="http://schemas.microsoft.com/office/drawing/2014/main" id="{7F3E0228-8F01-4B7C-A294-9667D0C367C8}"/>
              </a:ext>
            </a:extLst>
          </p:cNvPr>
          <p:cNvSpPr/>
          <p:nvPr/>
        </p:nvSpPr>
        <p:spPr>
          <a:xfrm>
            <a:off x="4379976" y="41833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" b="1" dirty="0">
                <a:solidFill>
                  <a:srgbClr val="3B82F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retrieval·상태감시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2" name="Text 76">
            <a:extLst>
              <a:ext uri="{FF2B5EF4-FFF2-40B4-BE49-F238E27FC236}">
                <a16:creationId xmlns:a16="http://schemas.microsoft.com/office/drawing/2014/main" id="{0DBC153B-9E50-4D4C-8C11-F2FC49DC64F3}"/>
              </a:ext>
            </a:extLst>
          </p:cNvPr>
          <p:cNvSpPr/>
          <p:nvPr/>
        </p:nvSpPr>
        <p:spPr>
          <a:xfrm>
            <a:off x="4873752" y="4512564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AAB2BD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조회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3" name="Shape 77">
            <a:extLst>
              <a:ext uri="{FF2B5EF4-FFF2-40B4-BE49-F238E27FC236}">
                <a16:creationId xmlns:a16="http://schemas.microsoft.com/office/drawing/2014/main" id="{653CE6A7-E07A-4779-8B57-775C69D8AB39}"/>
              </a:ext>
            </a:extLst>
          </p:cNvPr>
          <p:cNvSpPr/>
          <p:nvPr/>
        </p:nvSpPr>
        <p:spPr>
          <a:xfrm>
            <a:off x="2121408" y="2651760"/>
            <a:ext cx="237744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headEnd type="none"/>
            <a:tailEnd type="triangle"/>
          </a:ln>
        </p:spPr>
      </p:sp>
      <p:sp>
        <p:nvSpPr>
          <p:cNvPr id="254" name="Text 78">
            <a:extLst>
              <a:ext uri="{FF2B5EF4-FFF2-40B4-BE49-F238E27FC236}">
                <a16:creationId xmlns:a16="http://schemas.microsoft.com/office/drawing/2014/main" id="{7F1EF68A-9438-4D56-B92D-9D7828D0890E}"/>
              </a:ext>
            </a:extLst>
          </p:cNvPr>
          <p:cNvSpPr/>
          <p:nvPr/>
        </p:nvSpPr>
        <p:spPr>
          <a:xfrm>
            <a:off x="1938528" y="250545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이벤트·음성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5" name="Shape 79">
            <a:extLst>
              <a:ext uri="{FF2B5EF4-FFF2-40B4-BE49-F238E27FC236}">
                <a16:creationId xmlns:a16="http://schemas.microsoft.com/office/drawing/2014/main" id="{C71C5A92-135F-4182-8C8F-94BAF5CB6821}"/>
              </a:ext>
            </a:extLst>
          </p:cNvPr>
          <p:cNvSpPr/>
          <p:nvPr/>
        </p:nvSpPr>
        <p:spPr>
          <a:xfrm>
            <a:off x="2121408" y="2962656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triangle"/>
            <a:tailEnd type="none"/>
          </a:ln>
        </p:spPr>
      </p:sp>
      <p:sp>
        <p:nvSpPr>
          <p:cNvPr id="256" name="Text 80">
            <a:extLst>
              <a:ext uri="{FF2B5EF4-FFF2-40B4-BE49-F238E27FC236}">
                <a16:creationId xmlns:a16="http://schemas.microsoft.com/office/drawing/2014/main" id="{B436D395-FB1C-4280-AA84-261C189BF1E1}"/>
              </a:ext>
            </a:extLst>
          </p:cNvPr>
          <p:cNvSpPr/>
          <p:nvPr/>
        </p:nvSpPr>
        <p:spPr>
          <a:xfrm>
            <a:off x="1938528" y="281635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94A3B8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응답·능동</a:t>
            </a:r>
            <a:endParaRPr lang="en-US" sz="63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7" name="Shape 79">
            <a:extLst>
              <a:ext uri="{FF2B5EF4-FFF2-40B4-BE49-F238E27FC236}">
                <a16:creationId xmlns:a16="http://schemas.microsoft.com/office/drawing/2014/main" id="{46EEB80A-B4EE-408D-AF5A-FFDD8B290494}"/>
              </a:ext>
            </a:extLst>
          </p:cNvPr>
          <p:cNvSpPr/>
          <p:nvPr/>
        </p:nvSpPr>
        <p:spPr>
          <a:xfrm flipH="1" flipV="1">
            <a:off x="4906229" y="4663438"/>
            <a:ext cx="17326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triangle"/>
            <a:tailEnd type="none"/>
          </a:ln>
        </p:spPr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765B3C0-E67D-443A-8C1F-4A010E470D57}"/>
              </a:ext>
            </a:extLst>
          </p:cNvPr>
          <p:cNvGrpSpPr/>
          <p:nvPr/>
        </p:nvGrpSpPr>
        <p:grpSpPr>
          <a:xfrm>
            <a:off x="2544866" y="5115271"/>
            <a:ext cx="489037" cy="186725"/>
            <a:chOff x="10344548" y="4489036"/>
            <a:chExt cx="836318" cy="578916"/>
          </a:xfrm>
        </p:grpSpPr>
        <p:sp>
          <p:nvSpPr>
            <p:cNvPr id="260" name="원통[C] 93">
              <a:extLst>
                <a:ext uri="{FF2B5EF4-FFF2-40B4-BE49-F238E27FC236}">
                  <a16:creationId xmlns:a16="http://schemas.microsoft.com/office/drawing/2014/main" id="{7400461E-86A6-43B2-B897-93D095966ED7}"/>
                </a:ext>
              </a:extLst>
            </p:cNvPr>
            <p:cNvSpPr/>
            <p:nvPr/>
          </p:nvSpPr>
          <p:spPr>
            <a:xfrm>
              <a:off x="10344548" y="4829832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61" name="원통[C] 94">
              <a:extLst>
                <a:ext uri="{FF2B5EF4-FFF2-40B4-BE49-F238E27FC236}">
                  <a16:creationId xmlns:a16="http://schemas.microsoft.com/office/drawing/2014/main" id="{CD0F8D5C-F3CB-4258-8F68-25E5086E70D9}"/>
                </a:ext>
              </a:extLst>
            </p:cNvPr>
            <p:cNvSpPr/>
            <p:nvPr/>
          </p:nvSpPr>
          <p:spPr>
            <a:xfrm>
              <a:off x="10344548" y="4658659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62" name="원통[C] 95">
              <a:extLst>
                <a:ext uri="{FF2B5EF4-FFF2-40B4-BE49-F238E27FC236}">
                  <a16:creationId xmlns:a16="http://schemas.microsoft.com/office/drawing/2014/main" id="{95C191ED-EF41-4000-B7A8-3E717F0150E7}"/>
                </a:ext>
              </a:extLst>
            </p:cNvPr>
            <p:cNvSpPr/>
            <p:nvPr/>
          </p:nvSpPr>
          <p:spPr>
            <a:xfrm>
              <a:off x="10344548" y="4489036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267" name="Connector 57">
            <a:extLst>
              <a:ext uri="{FF2B5EF4-FFF2-40B4-BE49-F238E27FC236}">
                <a16:creationId xmlns:a16="http://schemas.microsoft.com/office/drawing/2014/main" id="{7D48F2E1-2941-4C0D-B455-599DB4E4EADD}"/>
              </a:ext>
            </a:extLst>
          </p:cNvPr>
          <p:cNvCxnSpPr>
            <a:cxnSpLocks/>
          </p:cNvCxnSpPr>
          <p:nvPr/>
        </p:nvCxnSpPr>
        <p:spPr>
          <a:xfrm flipH="1" flipV="1">
            <a:off x="2772882" y="4946903"/>
            <a:ext cx="4736" cy="175915"/>
          </a:xfrm>
          <a:prstGeom prst="line">
            <a:avLst/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꺾인 연결선[E] 103">
            <a:extLst>
              <a:ext uri="{FF2B5EF4-FFF2-40B4-BE49-F238E27FC236}">
                <a16:creationId xmlns:a16="http://schemas.microsoft.com/office/drawing/2014/main" id="{49B2E677-1809-4E64-8D64-53C3DBCAE462}"/>
              </a:ext>
            </a:extLst>
          </p:cNvPr>
          <p:cNvCxnSpPr>
            <a:cxnSpLocks/>
            <a:stCxn id="279" idx="0"/>
            <a:endCxn id="231" idx="2"/>
          </p:cNvCxnSpPr>
          <p:nvPr/>
        </p:nvCxnSpPr>
        <p:spPr>
          <a:xfrm rot="16200000" flipV="1">
            <a:off x="3138114" y="4885746"/>
            <a:ext cx="186378" cy="29955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AAA79941-0587-4070-808E-022D8FFF0139}"/>
              </a:ext>
            </a:extLst>
          </p:cNvPr>
          <p:cNvGrpSpPr/>
          <p:nvPr/>
        </p:nvGrpSpPr>
        <p:grpSpPr>
          <a:xfrm>
            <a:off x="3136559" y="5108569"/>
            <a:ext cx="489037" cy="195869"/>
            <a:chOff x="10344548" y="4489036"/>
            <a:chExt cx="836318" cy="578916"/>
          </a:xfrm>
        </p:grpSpPr>
        <p:sp>
          <p:nvSpPr>
            <p:cNvPr id="277" name="원통[C] 93">
              <a:extLst>
                <a:ext uri="{FF2B5EF4-FFF2-40B4-BE49-F238E27FC236}">
                  <a16:creationId xmlns:a16="http://schemas.microsoft.com/office/drawing/2014/main" id="{082C8460-E979-41B8-BC75-2D0D2A658E7D}"/>
                </a:ext>
              </a:extLst>
            </p:cNvPr>
            <p:cNvSpPr/>
            <p:nvPr/>
          </p:nvSpPr>
          <p:spPr>
            <a:xfrm>
              <a:off x="10344548" y="4829832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78" name="원통[C] 94">
              <a:extLst>
                <a:ext uri="{FF2B5EF4-FFF2-40B4-BE49-F238E27FC236}">
                  <a16:creationId xmlns:a16="http://schemas.microsoft.com/office/drawing/2014/main" id="{FE5C078D-26A9-4219-BE83-3B9F7398A6E1}"/>
                </a:ext>
              </a:extLst>
            </p:cNvPr>
            <p:cNvSpPr/>
            <p:nvPr/>
          </p:nvSpPr>
          <p:spPr>
            <a:xfrm>
              <a:off x="10344548" y="4658659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79" name="원통[C] 95">
              <a:extLst>
                <a:ext uri="{FF2B5EF4-FFF2-40B4-BE49-F238E27FC236}">
                  <a16:creationId xmlns:a16="http://schemas.microsoft.com/office/drawing/2014/main" id="{C736221E-6BA1-48C4-9FBF-559F5D835FC2}"/>
                </a:ext>
              </a:extLst>
            </p:cNvPr>
            <p:cNvSpPr/>
            <p:nvPr/>
          </p:nvSpPr>
          <p:spPr>
            <a:xfrm>
              <a:off x="10344548" y="4489036"/>
              <a:ext cx="836318" cy="238120"/>
            </a:xfrm>
            <a:prstGeom prst="can">
              <a:avLst/>
            </a:prstGeom>
            <a:solidFill>
              <a:srgbClr val="F1F5F9"/>
            </a:solidFill>
            <a:ln w="19050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2A9D4C4F-4B87-4DFA-9771-E4A19AB22B91}"/>
              </a:ext>
            </a:extLst>
          </p:cNvPr>
          <p:cNvGrpSpPr/>
          <p:nvPr/>
        </p:nvGrpSpPr>
        <p:grpSpPr>
          <a:xfrm>
            <a:off x="6395063" y="4362623"/>
            <a:ext cx="488998" cy="309026"/>
            <a:chOff x="10344548" y="4489036"/>
            <a:chExt cx="836318" cy="578916"/>
          </a:xfrm>
        </p:grpSpPr>
        <p:sp>
          <p:nvSpPr>
            <p:cNvPr id="293" name="원통[C] 60">
              <a:extLst>
                <a:ext uri="{FF2B5EF4-FFF2-40B4-BE49-F238E27FC236}">
                  <a16:creationId xmlns:a16="http://schemas.microsoft.com/office/drawing/2014/main" id="{3F720485-19E3-4275-B02C-2970FAB12C9C}"/>
                </a:ext>
              </a:extLst>
            </p:cNvPr>
            <p:cNvSpPr/>
            <p:nvPr/>
          </p:nvSpPr>
          <p:spPr>
            <a:xfrm>
              <a:off x="10344548" y="4829832"/>
              <a:ext cx="836318" cy="238120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4" name="원통[C] 61">
              <a:extLst>
                <a:ext uri="{FF2B5EF4-FFF2-40B4-BE49-F238E27FC236}">
                  <a16:creationId xmlns:a16="http://schemas.microsoft.com/office/drawing/2014/main" id="{1CBD7D10-B18D-4005-80D4-BBFEA58CAB2B}"/>
                </a:ext>
              </a:extLst>
            </p:cNvPr>
            <p:cNvSpPr/>
            <p:nvPr/>
          </p:nvSpPr>
          <p:spPr>
            <a:xfrm>
              <a:off x="10344548" y="4658659"/>
              <a:ext cx="836318" cy="238120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5" name="원통[C] 62">
              <a:extLst>
                <a:ext uri="{FF2B5EF4-FFF2-40B4-BE49-F238E27FC236}">
                  <a16:creationId xmlns:a16="http://schemas.microsoft.com/office/drawing/2014/main" id="{F74E251E-D697-4FEC-8BD4-E9EE88FE239D}"/>
                </a:ext>
              </a:extLst>
            </p:cNvPr>
            <p:cNvSpPr/>
            <p:nvPr/>
          </p:nvSpPr>
          <p:spPr>
            <a:xfrm>
              <a:off x="10344548" y="4489036"/>
              <a:ext cx="836318" cy="238121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299" name="Connector 57">
            <a:extLst>
              <a:ext uri="{FF2B5EF4-FFF2-40B4-BE49-F238E27FC236}">
                <a16:creationId xmlns:a16="http://schemas.microsoft.com/office/drawing/2014/main" id="{2A18FC52-8DE0-4986-9D98-0C63649A4A7B}"/>
              </a:ext>
            </a:extLst>
          </p:cNvPr>
          <p:cNvCxnSpPr/>
          <p:nvPr/>
        </p:nvCxnSpPr>
        <p:spPr>
          <a:xfrm flipH="1">
            <a:off x="6137075" y="4520614"/>
            <a:ext cx="247643" cy="0"/>
          </a:xfrm>
          <a:prstGeom prst="line">
            <a:avLst/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꺾인 연결선[E] 76">
            <a:extLst>
              <a:ext uri="{FF2B5EF4-FFF2-40B4-BE49-F238E27FC236}">
                <a16:creationId xmlns:a16="http://schemas.microsoft.com/office/drawing/2014/main" id="{844BF4F3-B5E7-4142-B314-31CC9D1A245F}"/>
              </a:ext>
            </a:extLst>
          </p:cNvPr>
          <p:cNvCxnSpPr>
            <a:cxnSpLocks/>
            <a:stCxn id="303" idx="2"/>
          </p:cNvCxnSpPr>
          <p:nvPr/>
        </p:nvCxnSpPr>
        <p:spPr>
          <a:xfrm rot="10800000">
            <a:off x="6142103" y="4741167"/>
            <a:ext cx="252961" cy="208027"/>
          </a:xfrm>
          <a:prstGeom prst="bentConnector3">
            <a:avLst/>
          </a:prstGeom>
          <a:ln w="19050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B39B2966-23D8-47D6-83BD-991A22B11FD4}"/>
              </a:ext>
            </a:extLst>
          </p:cNvPr>
          <p:cNvGrpSpPr/>
          <p:nvPr/>
        </p:nvGrpSpPr>
        <p:grpSpPr>
          <a:xfrm>
            <a:off x="6395063" y="4795093"/>
            <a:ext cx="488998" cy="309026"/>
            <a:chOff x="10344548" y="4489036"/>
            <a:chExt cx="836318" cy="578916"/>
          </a:xfrm>
        </p:grpSpPr>
        <p:sp>
          <p:nvSpPr>
            <p:cNvPr id="302" name="원통[C] 60">
              <a:extLst>
                <a:ext uri="{FF2B5EF4-FFF2-40B4-BE49-F238E27FC236}">
                  <a16:creationId xmlns:a16="http://schemas.microsoft.com/office/drawing/2014/main" id="{A349F879-79B5-475A-9AAE-594E66EA91AB}"/>
                </a:ext>
              </a:extLst>
            </p:cNvPr>
            <p:cNvSpPr/>
            <p:nvPr/>
          </p:nvSpPr>
          <p:spPr>
            <a:xfrm>
              <a:off x="10344548" y="4829832"/>
              <a:ext cx="836318" cy="238120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03" name="원통[C] 61">
              <a:extLst>
                <a:ext uri="{FF2B5EF4-FFF2-40B4-BE49-F238E27FC236}">
                  <a16:creationId xmlns:a16="http://schemas.microsoft.com/office/drawing/2014/main" id="{5DB26FF7-7874-414C-A75B-EEF2634BA401}"/>
                </a:ext>
              </a:extLst>
            </p:cNvPr>
            <p:cNvSpPr/>
            <p:nvPr/>
          </p:nvSpPr>
          <p:spPr>
            <a:xfrm>
              <a:off x="10344548" y="4658659"/>
              <a:ext cx="836318" cy="238120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04" name="원통[C] 62">
              <a:extLst>
                <a:ext uri="{FF2B5EF4-FFF2-40B4-BE49-F238E27FC236}">
                  <a16:creationId xmlns:a16="http://schemas.microsoft.com/office/drawing/2014/main" id="{3282B616-B3EE-4690-A7C6-7E03E869D5F7}"/>
                </a:ext>
              </a:extLst>
            </p:cNvPr>
            <p:cNvSpPr/>
            <p:nvPr/>
          </p:nvSpPr>
          <p:spPr>
            <a:xfrm>
              <a:off x="10344548" y="4489036"/>
              <a:ext cx="836318" cy="238121"/>
            </a:xfrm>
            <a:prstGeom prst="can">
              <a:avLst/>
            </a:prstGeom>
            <a:solidFill>
              <a:srgbClr val="FAFAFA"/>
            </a:solidFill>
            <a:ln w="20320">
              <a:solidFill>
                <a:srgbClr val="9AA4B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89" name="Text 85">
            <a:extLst>
              <a:ext uri="{FF2B5EF4-FFF2-40B4-BE49-F238E27FC236}">
                <a16:creationId xmlns:a16="http://schemas.microsoft.com/office/drawing/2014/main" id="{72E1B36F-F0A6-47DB-BEE5-CAFF59788114}"/>
              </a:ext>
            </a:extLst>
          </p:cNvPr>
          <p:cNvSpPr/>
          <p:nvPr/>
        </p:nvSpPr>
        <p:spPr>
          <a:xfrm>
            <a:off x="566928" y="6656324"/>
            <a:ext cx="3058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Demo A · 가족 저녁</a:t>
            </a: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  집→벽제갈비 · 4인+게스트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0" name="Shape 86">
            <a:extLst>
              <a:ext uri="{FF2B5EF4-FFF2-40B4-BE49-F238E27FC236}">
                <a16:creationId xmlns:a16="http://schemas.microsoft.com/office/drawing/2014/main" id="{19A40EB2-C51A-425C-BDCF-E6F8D7125710}"/>
              </a:ext>
            </a:extLst>
          </p:cNvPr>
          <p:cNvSpPr/>
          <p:nvPr/>
        </p:nvSpPr>
        <p:spPr>
          <a:xfrm>
            <a:off x="1113282" y="7076948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291" name="Shape 87">
            <a:extLst>
              <a:ext uri="{FF2B5EF4-FFF2-40B4-BE49-F238E27FC236}">
                <a16:creationId xmlns:a16="http://schemas.microsoft.com/office/drawing/2014/main" id="{001B806B-9C7A-4D77-A927-55EDD11AE1F9}"/>
              </a:ext>
            </a:extLst>
          </p:cNvPr>
          <p:cNvSpPr/>
          <p:nvPr/>
        </p:nvSpPr>
        <p:spPr>
          <a:xfrm>
            <a:off x="3079242" y="7076948"/>
            <a:ext cx="0" cy="100584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296" name="Shape 88">
            <a:extLst>
              <a:ext uri="{FF2B5EF4-FFF2-40B4-BE49-F238E27FC236}">
                <a16:creationId xmlns:a16="http://schemas.microsoft.com/office/drawing/2014/main" id="{AD79AC1C-AC52-4014-BE7E-F55F8FE3A6EF}"/>
              </a:ext>
            </a:extLst>
          </p:cNvPr>
          <p:cNvSpPr/>
          <p:nvPr/>
        </p:nvSpPr>
        <p:spPr>
          <a:xfrm>
            <a:off x="1113282" y="8082788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297" name="Shape 89">
            <a:extLst>
              <a:ext uri="{FF2B5EF4-FFF2-40B4-BE49-F238E27FC236}">
                <a16:creationId xmlns:a16="http://schemas.microsoft.com/office/drawing/2014/main" id="{DE475F05-65D7-41C7-BCFA-EB3A99D5CD3F}"/>
              </a:ext>
            </a:extLst>
          </p:cNvPr>
          <p:cNvSpPr/>
          <p:nvPr/>
        </p:nvSpPr>
        <p:spPr>
          <a:xfrm>
            <a:off x="1113282" y="8082788"/>
            <a:ext cx="0" cy="100584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298" name="Shape 90">
            <a:extLst>
              <a:ext uri="{FF2B5EF4-FFF2-40B4-BE49-F238E27FC236}">
                <a16:creationId xmlns:a16="http://schemas.microsoft.com/office/drawing/2014/main" id="{39E250DE-9F01-455A-8E21-2261B5FA6D6E}"/>
              </a:ext>
            </a:extLst>
          </p:cNvPr>
          <p:cNvSpPr/>
          <p:nvPr/>
        </p:nvSpPr>
        <p:spPr>
          <a:xfrm>
            <a:off x="1113282" y="9145778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pic>
        <p:nvPicPr>
          <p:cNvPr id="305" name="Image 12" descr="preencoded.png">
            <a:extLst>
              <a:ext uri="{FF2B5EF4-FFF2-40B4-BE49-F238E27FC236}">
                <a16:creationId xmlns:a16="http://schemas.microsoft.com/office/drawing/2014/main" id="{B9C49042-40AB-483F-9D63-CEDC52F08E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702" y="7191248"/>
            <a:ext cx="137160" cy="137160"/>
          </a:xfrm>
          <a:prstGeom prst="rect">
            <a:avLst/>
          </a:prstGeom>
        </p:spPr>
      </p:pic>
      <p:sp>
        <p:nvSpPr>
          <p:cNvPr id="306" name="Shape 91">
            <a:extLst>
              <a:ext uri="{FF2B5EF4-FFF2-40B4-BE49-F238E27FC236}">
                <a16:creationId xmlns:a16="http://schemas.microsoft.com/office/drawing/2014/main" id="{07B1E724-0904-446F-95F7-4B8CF13536B4}"/>
              </a:ext>
            </a:extLst>
          </p:cNvPr>
          <p:cNvSpPr/>
          <p:nvPr/>
        </p:nvSpPr>
        <p:spPr>
          <a:xfrm>
            <a:off x="1008126" y="6971792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07" name="Text 92">
            <a:extLst>
              <a:ext uri="{FF2B5EF4-FFF2-40B4-BE49-F238E27FC236}">
                <a16:creationId xmlns:a16="http://schemas.microsoft.com/office/drawing/2014/main" id="{E0E50F64-ADB9-427D-B0B0-B1D11B02916C}"/>
              </a:ext>
            </a:extLst>
          </p:cNvPr>
          <p:cNvSpPr/>
          <p:nvPr/>
        </p:nvSpPr>
        <p:spPr>
          <a:xfrm>
            <a:off x="1008126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8" name="Text 93">
            <a:extLst>
              <a:ext uri="{FF2B5EF4-FFF2-40B4-BE49-F238E27FC236}">
                <a16:creationId xmlns:a16="http://schemas.microsoft.com/office/drawing/2014/main" id="{C60E9F6F-0A06-40CD-966E-AE4CC79AEC1D}"/>
              </a:ext>
            </a:extLst>
          </p:cNvPr>
          <p:cNvSpPr/>
          <p:nvPr/>
        </p:nvSpPr>
        <p:spPr>
          <a:xfrm>
            <a:off x="640080" y="734212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가족 탑승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0" name="Shape 94">
            <a:extLst>
              <a:ext uri="{FF2B5EF4-FFF2-40B4-BE49-F238E27FC236}">
                <a16:creationId xmlns:a16="http://schemas.microsoft.com/office/drawing/2014/main" id="{AC02EA61-990D-4730-8989-3C289F60641A}"/>
              </a:ext>
            </a:extLst>
          </p:cNvPr>
          <p:cNvSpPr/>
          <p:nvPr/>
        </p:nvSpPr>
        <p:spPr>
          <a:xfrm>
            <a:off x="1991106" y="697179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11" name="Text 95">
            <a:extLst>
              <a:ext uri="{FF2B5EF4-FFF2-40B4-BE49-F238E27FC236}">
                <a16:creationId xmlns:a16="http://schemas.microsoft.com/office/drawing/2014/main" id="{B56FBDE0-DCF3-4B08-8252-8C990C6D2B49}"/>
              </a:ext>
            </a:extLst>
          </p:cNvPr>
          <p:cNvSpPr/>
          <p:nvPr/>
        </p:nvSpPr>
        <p:spPr>
          <a:xfrm>
            <a:off x="1991106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2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2" name="Text 96">
            <a:extLst>
              <a:ext uri="{FF2B5EF4-FFF2-40B4-BE49-F238E27FC236}">
                <a16:creationId xmlns:a16="http://schemas.microsoft.com/office/drawing/2014/main" id="{215DF935-AADC-4BBF-958C-9F7F59659DD7}"/>
              </a:ext>
            </a:extLst>
          </p:cNvPr>
          <p:cNvSpPr/>
          <p:nvPr/>
        </p:nvSpPr>
        <p:spPr>
          <a:xfrm>
            <a:off x="1623060" y="734212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식당</a:t>
            </a: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예약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13" name="Image 14" descr="preencoded.png">
            <a:extLst>
              <a:ext uri="{FF2B5EF4-FFF2-40B4-BE49-F238E27FC236}">
                <a16:creationId xmlns:a16="http://schemas.microsoft.com/office/drawing/2014/main" id="{DE303303-7E1F-4507-A283-F86F05F1153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3010662" y="7191248"/>
            <a:ext cx="137160" cy="137160"/>
          </a:xfrm>
          <a:prstGeom prst="rect">
            <a:avLst/>
          </a:prstGeom>
        </p:spPr>
      </p:pic>
      <p:sp>
        <p:nvSpPr>
          <p:cNvPr id="314" name="Shape 97">
            <a:extLst>
              <a:ext uri="{FF2B5EF4-FFF2-40B4-BE49-F238E27FC236}">
                <a16:creationId xmlns:a16="http://schemas.microsoft.com/office/drawing/2014/main" id="{52C870CE-9403-4BB0-9B3B-74C92B8D81A2}"/>
              </a:ext>
            </a:extLst>
          </p:cNvPr>
          <p:cNvSpPr/>
          <p:nvPr/>
        </p:nvSpPr>
        <p:spPr>
          <a:xfrm>
            <a:off x="2974086" y="6971792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15" name="Text 98">
            <a:extLst>
              <a:ext uri="{FF2B5EF4-FFF2-40B4-BE49-F238E27FC236}">
                <a16:creationId xmlns:a16="http://schemas.microsoft.com/office/drawing/2014/main" id="{4D3F4392-BB05-4DD7-B36C-D301623CC408}"/>
              </a:ext>
            </a:extLst>
          </p:cNvPr>
          <p:cNvSpPr/>
          <p:nvPr/>
        </p:nvSpPr>
        <p:spPr>
          <a:xfrm>
            <a:off x="2974086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6" name="Text 99">
            <a:extLst>
              <a:ext uri="{FF2B5EF4-FFF2-40B4-BE49-F238E27FC236}">
                <a16:creationId xmlns:a16="http://schemas.microsoft.com/office/drawing/2014/main" id="{012E570F-A684-4AF8-A02C-5839EA83F5B4}"/>
              </a:ext>
            </a:extLst>
          </p:cNvPr>
          <p:cNvSpPr/>
          <p:nvPr/>
        </p:nvSpPr>
        <p:spPr>
          <a:xfrm>
            <a:off x="2606040" y="7342124"/>
            <a:ext cx="946404" cy="118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출발·주행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17" name="Image 15" descr="preencoded.png">
            <a:extLst>
              <a:ext uri="{FF2B5EF4-FFF2-40B4-BE49-F238E27FC236}">
                <a16:creationId xmlns:a16="http://schemas.microsoft.com/office/drawing/2014/main" id="{F82DF92C-A885-4ECA-84D2-5399688536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10662" y="8197088"/>
            <a:ext cx="137160" cy="137160"/>
          </a:xfrm>
          <a:prstGeom prst="rect">
            <a:avLst/>
          </a:prstGeom>
        </p:spPr>
      </p:pic>
      <p:sp>
        <p:nvSpPr>
          <p:cNvPr id="318" name="Shape 100">
            <a:extLst>
              <a:ext uri="{FF2B5EF4-FFF2-40B4-BE49-F238E27FC236}">
                <a16:creationId xmlns:a16="http://schemas.microsoft.com/office/drawing/2014/main" id="{FD2575A6-9BFA-401B-868D-322C7CE867CD}"/>
              </a:ext>
            </a:extLst>
          </p:cNvPr>
          <p:cNvSpPr/>
          <p:nvPr/>
        </p:nvSpPr>
        <p:spPr>
          <a:xfrm>
            <a:off x="2974086" y="797763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19" name="Text 101">
            <a:extLst>
              <a:ext uri="{FF2B5EF4-FFF2-40B4-BE49-F238E27FC236}">
                <a16:creationId xmlns:a16="http://schemas.microsoft.com/office/drawing/2014/main" id="{E1B26466-07C6-4B29-93BD-85F6688B361E}"/>
              </a:ext>
            </a:extLst>
          </p:cNvPr>
          <p:cNvSpPr/>
          <p:nvPr/>
        </p:nvSpPr>
        <p:spPr>
          <a:xfrm>
            <a:off x="2974086" y="797763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4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0" name="Text 102">
            <a:extLst>
              <a:ext uri="{FF2B5EF4-FFF2-40B4-BE49-F238E27FC236}">
                <a16:creationId xmlns:a16="http://schemas.microsoft.com/office/drawing/2014/main" id="{C7C43A08-350B-4809-A013-6683E501870E}"/>
              </a:ext>
            </a:extLst>
          </p:cNvPr>
          <p:cNvSpPr/>
          <p:nvPr/>
        </p:nvSpPr>
        <p:spPr>
          <a:xfrm>
            <a:off x="2606040" y="834796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게스트 프라이버시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21" name="Image 16" descr="preencoded.png">
            <a:extLst>
              <a:ext uri="{FF2B5EF4-FFF2-40B4-BE49-F238E27FC236}">
                <a16:creationId xmlns:a16="http://schemas.microsoft.com/office/drawing/2014/main" id="{BFA1EAC9-C5D6-4918-A61C-D6471CDFDBD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27682" y="8197088"/>
            <a:ext cx="137160" cy="137160"/>
          </a:xfrm>
          <a:prstGeom prst="rect">
            <a:avLst/>
          </a:prstGeom>
        </p:spPr>
      </p:pic>
      <p:sp>
        <p:nvSpPr>
          <p:cNvPr id="322" name="Shape 103">
            <a:extLst>
              <a:ext uri="{FF2B5EF4-FFF2-40B4-BE49-F238E27FC236}">
                <a16:creationId xmlns:a16="http://schemas.microsoft.com/office/drawing/2014/main" id="{6BB6E602-1649-42EA-B5A8-758470A7F8AD}"/>
              </a:ext>
            </a:extLst>
          </p:cNvPr>
          <p:cNvSpPr/>
          <p:nvPr/>
        </p:nvSpPr>
        <p:spPr>
          <a:xfrm>
            <a:off x="1991106" y="797763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23" name="Text 104">
            <a:extLst>
              <a:ext uri="{FF2B5EF4-FFF2-40B4-BE49-F238E27FC236}">
                <a16:creationId xmlns:a16="http://schemas.microsoft.com/office/drawing/2014/main" id="{BC937629-3E2F-4EB7-B125-7027B38D0FD0}"/>
              </a:ext>
            </a:extLst>
          </p:cNvPr>
          <p:cNvSpPr/>
          <p:nvPr/>
        </p:nvSpPr>
        <p:spPr>
          <a:xfrm>
            <a:off x="1991106" y="797763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5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4" name="Text 105">
            <a:extLst>
              <a:ext uri="{FF2B5EF4-FFF2-40B4-BE49-F238E27FC236}">
                <a16:creationId xmlns:a16="http://schemas.microsoft.com/office/drawing/2014/main" id="{025C2ED2-1BD9-41D8-9928-F41714E523CD}"/>
              </a:ext>
            </a:extLst>
          </p:cNvPr>
          <p:cNvSpPr/>
          <p:nvPr/>
        </p:nvSpPr>
        <p:spPr>
          <a:xfrm>
            <a:off x="1623060" y="834796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엄마 메시지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25" name="Image 17" descr="preencoded.png">
            <a:extLst>
              <a:ext uri="{FF2B5EF4-FFF2-40B4-BE49-F238E27FC236}">
                <a16:creationId xmlns:a16="http://schemas.microsoft.com/office/drawing/2014/main" id="{0550CF62-1B43-4688-BA28-8EE623CB7C5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4702" y="8197088"/>
            <a:ext cx="137160" cy="137160"/>
          </a:xfrm>
          <a:prstGeom prst="rect">
            <a:avLst/>
          </a:prstGeom>
        </p:spPr>
      </p:pic>
      <p:sp>
        <p:nvSpPr>
          <p:cNvPr id="326" name="Shape 106">
            <a:extLst>
              <a:ext uri="{FF2B5EF4-FFF2-40B4-BE49-F238E27FC236}">
                <a16:creationId xmlns:a16="http://schemas.microsoft.com/office/drawing/2014/main" id="{18017C4D-F133-422C-B66D-87BDF5D80CC4}"/>
              </a:ext>
            </a:extLst>
          </p:cNvPr>
          <p:cNvSpPr/>
          <p:nvPr/>
        </p:nvSpPr>
        <p:spPr>
          <a:xfrm>
            <a:off x="1008126" y="797763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27" name="Text 107">
            <a:extLst>
              <a:ext uri="{FF2B5EF4-FFF2-40B4-BE49-F238E27FC236}">
                <a16:creationId xmlns:a16="http://schemas.microsoft.com/office/drawing/2014/main" id="{A1C649ED-007C-4682-AE28-46442426F2AB}"/>
              </a:ext>
            </a:extLst>
          </p:cNvPr>
          <p:cNvSpPr/>
          <p:nvPr/>
        </p:nvSpPr>
        <p:spPr>
          <a:xfrm>
            <a:off x="1008126" y="797763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6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8" name="Text 108">
            <a:extLst>
              <a:ext uri="{FF2B5EF4-FFF2-40B4-BE49-F238E27FC236}">
                <a16:creationId xmlns:a16="http://schemas.microsoft.com/office/drawing/2014/main" id="{9093C59F-867B-48F7-BE3C-60FBCA47A0A5}"/>
              </a:ext>
            </a:extLst>
          </p:cNvPr>
          <p:cNvSpPr/>
          <p:nvPr/>
        </p:nvSpPr>
        <p:spPr>
          <a:xfrm>
            <a:off x="640080" y="8347964"/>
            <a:ext cx="946404" cy="118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아이 수면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29" name="Image 18" descr="preencoded.png">
            <a:extLst>
              <a:ext uri="{FF2B5EF4-FFF2-40B4-BE49-F238E27FC236}">
                <a16:creationId xmlns:a16="http://schemas.microsoft.com/office/drawing/2014/main" id="{CCCB9A95-1844-4386-8E53-889148897C5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4702" y="9247378"/>
            <a:ext cx="137160" cy="137160"/>
          </a:xfrm>
          <a:prstGeom prst="rect">
            <a:avLst/>
          </a:prstGeom>
        </p:spPr>
      </p:pic>
      <p:sp>
        <p:nvSpPr>
          <p:cNvPr id="330" name="Shape 109">
            <a:extLst>
              <a:ext uri="{FF2B5EF4-FFF2-40B4-BE49-F238E27FC236}">
                <a16:creationId xmlns:a16="http://schemas.microsoft.com/office/drawing/2014/main" id="{32A419EB-4059-41F0-A323-A9BB04B7B38B}"/>
              </a:ext>
            </a:extLst>
          </p:cNvPr>
          <p:cNvSpPr/>
          <p:nvPr/>
        </p:nvSpPr>
        <p:spPr>
          <a:xfrm>
            <a:off x="1008126" y="898347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31" name="Text 110">
            <a:extLst>
              <a:ext uri="{FF2B5EF4-FFF2-40B4-BE49-F238E27FC236}">
                <a16:creationId xmlns:a16="http://schemas.microsoft.com/office/drawing/2014/main" id="{9984967F-32B0-4B69-B06A-E2B659822466}"/>
              </a:ext>
            </a:extLst>
          </p:cNvPr>
          <p:cNvSpPr/>
          <p:nvPr/>
        </p:nvSpPr>
        <p:spPr>
          <a:xfrm>
            <a:off x="1008126" y="898347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7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2" name="Text 111">
            <a:extLst>
              <a:ext uri="{FF2B5EF4-FFF2-40B4-BE49-F238E27FC236}">
                <a16:creationId xmlns:a16="http://schemas.microsoft.com/office/drawing/2014/main" id="{534CEF8D-6717-4696-BB54-4768C14ED9BD}"/>
              </a:ext>
            </a:extLst>
          </p:cNvPr>
          <p:cNvSpPr/>
          <p:nvPr/>
        </p:nvSpPr>
        <p:spPr>
          <a:xfrm>
            <a:off x="640080" y="939825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사고+폭우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33" name="Image 19" descr="preencoded.png">
            <a:extLst>
              <a:ext uri="{FF2B5EF4-FFF2-40B4-BE49-F238E27FC236}">
                <a16:creationId xmlns:a16="http://schemas.microsoft.com/office/drawing/2014/main" id="{9777690D-CEB8-4B6D-810D-3C6467150BA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27682" y="9247378"/>
            <a:ext cx="137160" cy="137160"/>
          </a:xfrm>
          <a:prstGeom prst="rect">
            <a:avLst/>
          </a:prstGeom>
        </p:spPr>
      </p:pic>
      <p:sp>
        <p:nvSpPr>
          <p:cNvPr id="334" name="Shape 112">
            <a:extLst>
              <a:ext uri="{FF2B5EF4-FFF2-40B4-BE49-F238E27FC236}">
                <a16:creationId xmlns:a16="http://schemas.microsoft.com/office/drawing/2014/main" id="{DA7B7663-FA87-41A0-8F35-339426290E40}"/>
              </a:ext>
            </a:extLst>
          </p:cNvPr>
          <p:cNvSpPr/>
          <p:nvPr/>
        </p:nvSpPr>
        <p:spPr>
          <a:xfrm>
            <a:off x="1991106" y="898347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35" name="Text 113">
            <a:extLst>
              <a:ext uri="{FF2B5EF4-FFF2-40B4-BE49-F238E27FC236}">
                <a16:creationId xmlns:a16="http://schemas.microsoft.com/office/drawing/2014/main" id="{78FF0E32-CFE9-446D-8B44-8B83839A2808}"/>
              </a:ext>
            </a:extLst>
          </p:cNvPr>
          <p:cNvSpPr/>
          <p:nvPr/>
        </p:nvSpPr>
        <p:spPr>
          <a:xfrm>
            <a:off x="1991106" y="898347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8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36" name="Text 114">
            <a:extLst>
              <a:ext uri="{FF2B5EF4-FFF2-40B4-BE49-F238E27FC236}">
                <a16:creationId xmlns:a16="http://schemas.microsoft.com/office/drawing/2014/main" id="{7CD92B15-E34B-4A79-BD68-6A0DE890B739}"/>
              </a:ext>
            </a:extLst>
          </p:cNvPr>
          <p:cNvSpPr/>
          <p:nvPr/>
        </p:nvSpPr>
        <p:spPr>
          <a:xfrm>
            <a:off x="1623060" y="939825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결정 A/B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37" name="Image 20" descr="preencoded.png">
            <a:extLst>
              <a:ext uri="{FF2B5EF4-FFF2-40B4-BE49-F238E27FC236}">
                <a16:creationId xmlns:a16="http://schemas.microsoft.com/office/drawing/2014/main" id="{37E88390-821F-4661-876E-62D5B63BFE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10662" y="9247378"/>
            <a:ext cx="137160" cy="137160"/>
          </a:xfrm>
          <a:prstGeom prst="rect">
            <a:avLst/>
          </a:prstGeom>
        </p:spPr>
      </p:pic>
      <p:sp>
        <p:nvSpPr>
          <p:cNvPr id="338" name="Shape 115">
            <a:extLst>
              <a:ext uri="{FF2B5EF4-FFF2-40B4-BE49-F238E27FC236}">
                <a16:creationId xmlns:a16="http://schemas.microsoft.com/office/drawing/2014/main" id="{618C0C23-62B4-43B7-B8C4-563090701275}"/>
              </a:ext>
            </a:extLst>
          </p:cNvPr>
          <p:cNvSpPr/>
          <p:nvPr/>
        </p:nvSpPr>
        <p:spPr>
          <a:xfrm>
            <a:off x="2974086" y="898347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39" name="Text 116">
            <a:extLst>
              <a:ext uri="{FF2B5EF4-FFF2-40B4-BE49-F238E27FC236}">
                <a16:creationId xmlns:a16="http://schemas.microsoft.com/office/drawing/2014/main" id="{65B10860-1768-4740-89AC-7139B2943068}"/>
              </a:ext>
            </a:extLst>
          </p:cNvPr>
          <p:cNvSpPr/>
          <p:nvPr/>
        </p:nvSpPr>
        <p:spPr>
          <a:xfrm>
            <a:off x="2974086" y="898347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✓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0" name="Text 117">
            <a:extLst>
              <a:ext uri="{FF2B5EF4-FFF2-40B4-BE49-F238E27FC236}">
                <a16:creationId xmlns:a16="http://schemas.microsoft.com/office/drawing/2014/main" id="{DAC4D756-F02D-4024-8212-CB63F097E2CF}"/>
              </a:ext>
            </a:extLst>
          </p:cNvPr>
          <p:cNvSpPr/>
          <p:nvPr/>
        </p:nvSpPr>
        <p:spPr>
          <a:xfrm>
            <a:off x="2606040" y="939825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도착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1" name="Shape 118">
            <a:extLst>
              <a:ext uri="{FF2B5EF4-FFF2-40B4-BE49-F238E27FC236}">
                <a16:creationId xmlns:a16="http://schemas.microsoft.com/office/drawing/2014/main" id="{E13D4E11-C198-4F13-AAEE-C91C79AB5DDC}"/>
              </a:ext>
            </a:extLst>
          </p:cNvPr>
          <p:cNvSpPr/>
          <p:nvPr/>
        </p:nvSpPr>
        <p:spPr>
          <a:xfrm>
            <a:off x="573278" y="9830306"/>
            <a:ext cx="3058668" cy="382780"/>
          </a:xfrm>
          <a:prstGeom prst="roundRect">
            <a:avLst>
              <a:gd name="adj" fmla="val 8333"/>
            </a:avLst>
          </a:prstGeom>
          <a:solidFill>
            <a:srgbClr val="FCEDEF"/>
          </a:solidFill>
          <a:ln/>
        </p:spPr>
      </p:sp>
      <p:sp>
        <p:nvSpPr>
          <p:cNvPr id="342" name="Text 119">
            <a:extLst>
              <a:ext uri="{FF2B5EF4-FFF2-40B4-BE49-F238E27FC236}">
                <a16:creationId xmlns:a16="http://schemas.microsoft.com/office/drawing/2014/main" id="{A7062AF1-8337-4974-8801-96910E0AE54A}"/>
              </a:ext>
            </a:extLst>
          </p:cNvPr>
          <p:cNvSpPr/>
          <p:nvPr/>
        </p:nvSpPr>
        <p:spPr>
          <a:xfrm>
            <a:off x="676656" y="9830306"/>
            <a:ext cx="2875788" cy="382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한 트립 </a:t>
            </a:r>
            <a:r>
              <a:rPr lang="en-US" sz="9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안에서도</a:t>
            </a:r>
            <a:r>
              <a:rPr lang="en-US" sz="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— 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사람마다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챙기고(프라이버시·수면), 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변수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엔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되돌릴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                              수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있게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묻고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예약을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끝까지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책임진다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.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3" name="Text 120">
            <a:extLst>
              <a:ext uri="{FF2B5EF4-FFF2-40B4-BE49-F238E27FC236}">
                <a16:creationId xmlns:a16="http://schemas.microsoft.com/office/drawing/2014/main" id="{57946DA4-D711-4055-9F58-E3DC5EB195EE}"/>
              </a:ext>
            </a:extLst>
          </p:cNvPr>
          <p:cNvSpPr/>
          <p:nvPr/>
        </p:nvSpPr>
        <p:spPr>
          <a:xfrm>
            <a:off x="3936492" y="6656324"/>
            <a:ext cx="3058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Demo B · 하루 출퇴근</a:t>
            </a:r>
            <a:r>
              <a:rPr lang="en-US" sz="70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  아침→저녁 · 연속된 하루</a:t>
            </a:r>
            <a:endParaRPr lang="en-US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4" name="Shape 121">
            <a:extLst>
              <a:ext uri="{FF2B5EF4-FFF2-40B4-BE49-F238E27FC236}">
                <a16:creationId xmlns:a16="http://schemas.microsoft.com/office/drawing/2014/main" id="{12BDAEC3-BD91-462B-85BC-04455392DD22}"/>
              </a:ext>
            </a:extLst>
          </p:cNvPr>
          <p:cNvSpPr/>
          <p:nvPr/>
        </p:nvSpPr>
        <p:spPr>
          <a:xfrm>
            <a:off x="4482846" y="7076948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45" name="Shape 122">
            <a:extLst>
              <a:ext uri="{FF2B5EF4-FFF2-40B4-BE49-F238E27FC236}">
                <a16:creationId xmlns:a16="http://schemas.microsoft.com/office/drawing/2014/main" id="{06DDAF23-31A4-43F1-BC9C-F639B2312459}"/>
              </a:ext>
            </a:extLst>
          </p:cNvPr>
          <p:cNvSpPr/>
          <p:nvPr/>
        </p:nvSpPr>
        <p:spPr>
          <a:xfrm>
            <a:off x="6448806" y="7076948"/>
            <a:ext cx="0" cy="749808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46" name="Shape 123">
            <a:extLst>
              <a:ext uri="{FF2B5EF4-FFF2-40B4-BE49-F238E27FC236}">
                <a16:creationId xmlns:a16="http://schemas.microsoft.com/office/drawing/2014/main" id="{27179D02-EAB0-44C5-8B0E-1AFA50CA6E5D}"/>
              </a:ext>
            </a:extLst>
          </p:cNvPr>
          <p:cNvSpPr/>
          <p:nvPr/>
        </p:nvSpPr>
        <p:spPr>
          <a:xfrm>
            <a:off x="4482846" y="7826756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47" name="Shape 124">
            <a:extLst>
              <a:ext uri="{FF2B5EF4-FFF2-40B4-BE49-F238E27FC236}">
                <a16:creationId xmlns:a16="http://schemas.microsoft.com/office/drawing/2014/main" id="{BBA91CDF-07F8-4205-951B-BB0B2F23C7F4}"/>
              </a:ext>
            </a:extLst>
          </p:cNvPr>
          <p:cNvSpPr/>
          <p:nvPr/>
        </p:nvSpPr>
        <p:spPr>
          <a:xfrm>
            <a:off x="4482846" y="7826756"/>
            <a:ext cx="0" cy="749808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48" name="Shape 125">
            <a:extLst>
              <a:ext uri="{FF2B5EF4-FFF2-40B4-BE49-F238E27FC236}">
                <a16:creationId xmlns:a16="http://schemas.microsoft.com/office/drawing/2014/main" id="{6C990843-EBFD-4710-8D0C-7BF322976E6B}"/>
              </a:ext>
            </a:extLst>
          </p:cNvPr>
          <p:cNvSpPr/>
          <p:nvPr/>
        </p:nvSpPr>
        <p:spPr>
          <a:xfrm>
            <a:off x="4482846" y="8576564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49" name="Shape 126">
            <a:extLst>
              <a:ext uri="{FF2B5EF4-FFF2-40B4-BE49-F238E27FC236}">
                <a16:creationId xmlns:a16="http://schemas.microsoft.com/office/drawing/2014/main" id="{5536526F-1351-483E-8D24-2711A0CF65F4}"/>
              </a:ext>
            </a:extLst>
          </p:cNvPr>
          <p:cNvSpPr/>
          <p:nvPr/>
        </p:nvSpPr>
        <p:spPr>
          <a:xfrm>
            <a:off x="6448806" y="8576564"/>
            <a:ext cx="0" cy="749808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sp>
        <p:nvSpPr>
          <p:cNvPr id="350" name="Shape 127">
            <a:extLst>
              <a:ext uri="{FF2B5EF4-FFF2-40B4-BE49-F238E27FC236}">
                <a16:creationId xmlns:a16="http://schemas.microsoft.com/office/drawing/2014/main" id="{C14036BD-0C4A-4D36-AABE-DDACED86F66E}"/>
              </a:ext>
            </a:extLst>
          </p:cNvPr>
          <p:cNvSpPr/>
          <p:nvPr/>
        </p:nvSpPr>
        <p:spPr>
          <a:xfrm>
            <a:off x="4482846" y="9326372"/>
            <a:ext cx="1965960" cy="0"/>
          </a:xfrm>
          <a:prstGeom prst="line">
            <a:avLst/>
          </a:prstGeom>
          <a:noFill/>
          <a:ln w="50800">
            <a:solidFill>
              <a:srgbClr val="D8DEE6"/>
            </a:solidFill>
            <a:prstDash val="solid"/>
          </a:ln>
        </p:spPr>
      </p:sp>
      <p:pic>
        <p:nvPicPr>
          <p:cNvPr id="351" name="Image 21" descr="preencoded.png">
            <a:extLst>
              <a:ext uri="{FF2B5EF4-FFF2-40B4-BE49-F238E27FC236}">
                <a16:creationId xmlns:a16="http://schemas.microsoft.com/office/drawing/2014/main" id="{44CA85FE-BA80-44EA-8D33-44E222C1735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4266" y="7191248"/>
            <a:ext cx="137160" cy="137160"/>
          </a:xfrm>
          <a:prstGeom prst="rect">
            <a:avLst/>
          </a:prstGeom>
        </p:spPr>
      </p:pic>
      <p:sp>
        <p:nvSpPr>
          <p:cNvPr id="352" name="Shape 128">
            <a:extLst>
              <a:ext uri="{FF2B5EF4-FFF2-40B4-BE49-F238E27FC236}">
                <a16:creationId xmlns:a16="http://schemas.microsoft.com/office/drawing/2014/main" id="{C2229EC4-6361-4F1B-BFEB-0DA73EC52CDB}"/>
              </a:ext>
            </a:extLst>
          </p:cNvPr>
          <p:cNvSpPr/>
          <p:nvPr/>
        </p:nvSpPr>
        <p:spPr>
          <a:xfrm>
            <a:off x="4377690" y="6971792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53" name="Text 129">
            <a:extLst>
              <a:ext uri="{FF2B5EF4-FFF2-40B4-BE49-F238E27FC236}">
                <a16:creationId xmlns:a16="http://schemas.microsoft.com/office/drawing/2014/main" id="{BDD2C1C2-CEA2-4772-A39C-E73716AB8A11}"/>
              </a:ext>
            </a:extLst>
          </p:cNvPr>
          <p:cNvSpPr/>
          <p:nvPr/>
        </p:nvSpPr>
        <p:spPr>
          <a:xfrm>
            <a:off x="4377690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4" name="Text 130">
            <a:extLst>
              <a:ext uri="{FF2B5EF4-FFF2-40B4-BE49-F238E27FC236}">
                <a16:creationId xmlns:a16="http://schemas.microsoft.com/office/drawing/2014/main" id="{A28ADD09-2384-4C41-BD1B-E3CF7CB7C6C5}"/>
              </a:ext>
            </a:extLst>
          </p:cNvPr>
          <p:cNvSpPr/>
          <p:nvPr/>
        </p:nvSpPr>
        <p:spPr>
          <a:xfrm>
            <a:off x="4009644" y="734212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보딩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55" name="Image 22" descr="preencoded.png">
            <a:extLst>
              <a:ext uri="{FF2B5EF4-FFF2-40B4-BE49-F238E27FC236}">
                <a16:creationId xmlns:a16="http://schemas.microsoft.com/office/drawing/2014/main" id="{FFF46E81-D993-4F18-9D9C-AFCB3FE21E5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97246" y="7191248"/>
            <a:ext cx="137160" cy="137160"/>
          </a:xfrm>
          <a:prstGeom prst="rect">
            <a:avLst/>
          </a:prstGeom>
        </p:spPr>
      </p:pic>
      <p:sp>
        <p:nvSpPr>
          <p:cNvPr id="356" name="Shape 131">
            <a:extLst>
              <a:ext uri="{FF2B5EF4-FFF2-40B4-BE49-F238E27FC236}">
                <a16:creationId xmlns:a16="http://schemas.microsoft.com/office/drawing/2014/main" id="{C907122B-C3DA-4D89-8FDA-28F5F95A2F82}"/>
              </a:ext>
            </a:extLst>
          </p:cNvPr>
          <p:cNvSpPr/>
          <p:nvPr/>
        </p:nvSpPr>
        <p:spPr>
          <a:xfrm>
            <a:off x="5360670" y="6971792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57" name="Text 132">
            <a:extLst>
              <a:ext uri="{FF2B5EF4-FFF2-40B4-BE49-F238E27FC236}">
                <a16:creationId xmlns:a16="http://schemas.microsoft.com/office/drawing/2014/main" id="{FE36C673-2AFE-46C8-A44C-CD117A3DA4BE}"/>
              </a:ext>
            </a:extLst>
          </p:cNvPr>
          <p:cNvSpPr/>
          <p:nvPr/>
        </p:nvSpPr>
        <p:spPr>
          <a:xfrm>
            <a:off x="5360670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2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8" name="Text 133">
            <a:extLst>
              <a:ext uri="{FF2B5EF4-FFF2-40B4-BE49-F238E27FC236}">
                <a16:creationId xmlns:a16="http://schemas.microsoft.com/office/drawing/2014/main" id="{8A411C48-FECA-40A9-9E01-163B258EF2DC}"/>
              </a:ext>
            </a:extLst>
          </p:cNvPr>
          <p:cNvSpPr/>
          <p:nvPr/>
        </p:nvSpPr>
        <p:spPr>
          <a:xfrm>
            <a:off x="4992624" y="7342124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세탁소 약속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59" name="Image 23" descr="preencoded.png">
            <a:extLst>
              <a:ext uri="{FF2B5EF4-FFF2-40B4-BE49-F238E27FC236}">
                <a16:creationId xmlns:a16="http://schemas.microsoft.com/office/drawing/2014/main" id="{0E8588A4-C783-4DD2-94CF-DD8026D3BFA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0226" y="7191248"/>
            <a:ext cx="137160" cy="137160"/>
          </a:xfrm>
          <a:prstGeom prst="rect">
            <a:avLst/>
          </a:prstGeom>
        </p:spPr>
      </p:pic>
      <p:sp>
        <p:nvSpPr>
          <p:cNvPr id="360" name="Shape 134">
            <a:extLst>
              <a:ext uri="{FF2B5EF4-FFF2-40B4-BE49-F238E27FC236}">
                <a16:creationId xmlns:a16="http://schemas.microsoft.com/office/drawing/2014/main" id="{2F495CCB-C5D0-4ED2-9558-2F0207665C5C}"/>
              </a:ext>
            </a:extLst>
          </p:cNvPr>
          <p:cNvSpPr/>
          <p:nvPr/>
        </p:nvSpPr>
        <p:spPr>
          <a:xfrm>
            <a:off x="6343650" y="6971792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61" name="Text 135">
            <a:extLst>
              <a:ext uri="{FF2B5EF4-FFF2-40B4-BE49-F238E27FC236}">
                <a16:creationId xmlns:a16="http://schemas.microsoft.com/office/drawing/2014/main" id="{37517CCC-8B65-40DB-B29D-8AF97A358A6F}"/>
              </a:ext>
            </a:extLst>
          </p:cNvPr>
          <p:cNvSpPr/>
          <p:nvPr/>
        </p:nvSpPr>
        <p:spPr>
          <a:xfrm>
            <a:off x="6343650" y="6971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3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2" name="Text 136">
            <a:extLst>
              <a:ext uri="{FF2B5EF4-FFF2-40B4-BE49-F238E27FC236}">
                <a16:creationId xmlns:a16="http://schemas.microsoft.com/office/drawing/2014/main" id="{B2E78949-A7C1-45E0-8FEA-CB4CC0E09DD4}"/>
              </a:ext>
            </a:extLst>
          </p:cNvPr>
          <p:cNvSpPr/>
          <p:nvPr/>
        </p:nvSpPr>
        <p:spPr>
          <a:xfrm>
            <a:off x="5975604" y="7342124"/>
            <a:ext cx="946404" cy="118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강아지 회차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63" name="Image 24" descr="preencoded.png">
            <a:extLst>
              <a:ext uri="{FF2B5EF4-FFF2-40B4-BE49-F238E27FC236}">
                <a16:creationId xmlns:a16="http://schemas.microsoft.com/office/drawing/2014/main" id="{A7A1B620-3CE7-44A7-8B3C-3FA4F7A3EF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0226" y="7941056"/>
            <a:ext cx="137160" cy="137160"/>
          </a:xfrm>
          <a:prstGeom prst="rect">
            <a:avLst/>
          </a:prstGeom>
        </p:spPr>
      </p:pic>
      <p:sp>
        <p:nvSpPr>
          <p:cNvPr id="364" name="Shape 137">
            <a:extLst>
              <a:ext uri="{FF2B5EF4-FFF2-40B4-BE49-F238E27FC236}">
                <a16:creationId xmlns:a16="http://schemas.microsoft.com/office/drawing/2014/main" id="{7D8BD197-7956-4B80-9A9E-4D3919C423A2}"/>
              </a:ext>
            </a:extLst>
          </p:cNvPr>
          <p:cNvSpPr/>
          <p:nvPr/>
        </p:nvSpPr>
        <p:spPr>
          <a:xfrm>
            <a:off x="6343650" y="7721600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65" name="Text 138">
            <a:extLst>
              <a:ext uri="{FF2B5EF4-FFF2-40B4-BE49-F238E27FC236}">
                <a16:creationId xmlns:a16="http://schemas.microsoft.com/office/drawing/2014/main" id="{58BD49BC-00AC-49BB-B639-77298D2D22CC}"/>
              </a:ext>
            </a:extLst>
          </p:cNvPr>
          <p:cNvSpPr/>
          <p:nvPr/>
        </p:nvSpPr>
        <p:spPr>
          <a:xfrm>
            <a:off x="6343650" y="772160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4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6" name="Text 139">
            <a:extLst>
              <a:ext uri="{FF2B5EF4-FFF2-40B4-BE49-F238E27FC236}">
                <a16:creationId xmlns:a16="http://schemas.microsoft.com/office/drawing/2014/main" id="{E229E15A-3216-43B0-835C-17265761355F}"/>
              </a:ext>
            </a:extLst>
          </p:cNvPr>
          <p:cNvSpPr/>
          <p:nvPr/>
        </p:nvSpPr>
        <p:spPr>
          <a:xfrm>
            <a:off x="5975604" y="8091932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카풀 프라이버시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67" name="Image 25" descr="preencoded.png">
            <a:extLst>
              <a:ext uri="{FF2B5EF4-FFF2-40B4-BE49-F238E27FC236}">
                <a16:creationId xmlns:a16="http://schemas.microsoft.com/office/drawing/2014/main" id="{5C4A2182-BE38-400A-8618-3B59283C9B8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97246" y="7941056"/>
            <a:ext cx="137160" cy="137160"/>
          </a:xfrm>
          <a:prstGeom prst="rect">
            <a:avLst/>
          </a:prstGeom>
        </p:spPr>
      </p:pic>
      <p:sp>
        <p:nvSpPr>
          <p:cNvPr id="368" name="Shape 140">
            <a:extLst>
              <a:ext uri="{FF2B5EF4-FFF2-40B4-BE49-F238E27FC236}">
                <a16:creationId xmlns:a16="http://schemas.microsoft.com/office/drawing/2014/main" id="{F0D420D2-4BFC-41A3-BFCB-D1823327AA95}"/>
              </a:ext>
            </a:extLst>
          </p:cNvPr>
          <p:cNvSpPr/>
          <p:nvPr/>
        </p:nvSpPr>
        <p:spPr>
          <a:xfrm>
            <a:off x="5360670" y="7721600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69" name="Text 141">
            <a:extLst>
              <a:ext uri="{FF2B5EF4-FFF2-40B4-BE49-F238E27FC236}">
                <a16:creationId xmlns:a16="http://schemas.microsoft.com/office/drawing/2014/main" id="{8D54FE6B-CF1B-4147-8B50-338C0253E068}"/>
              </a:ext>
            </a:extLst>
          </p:cNvPr>
          <p:cNvSpPr/>
          <p:nvPr/>
        </p:nvSpPr>
        <p:spPr>
          <a:xfrm>
            <a:off x="5360670" y="772160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5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0" name="Text 142">
            <a:extLst>
              <a:ext uri="{FF2B5EF4-FFF2-40B4-BE49-F238E27FC236}">
                <a16:creationId xmlns:a16="http://schemas.microsoft.com/office/drawing/2014/main" id="{5D29C181-1FC1-4C30-A2AF-DE4D016F0E5A}"/>
              </a:ext>
            </a:extLst>
          </p:cNvPr>
          <p:cNvSpPr/>
          <p:nvPr/>
        </p:nvSpPr>
        <p:spPr>
          <a:xfrm>
            <a:off x="4992624" y="8091932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마곡 도착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71" name="Image 26" descr="preencoded.png">
            <a:extLst>
              <a:ext uri="{FF2B5EF4-FFF2-40B4-BE49-F238E27FC236}">
                <a16:creationId xmlns:a16="http://schemas.microsoft.com/office/drawing/2014/main" id="{2F7517DD-2F8B-4821-9D5D-B3BF587704D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4266" y="7941056"/>
            <a:ext cx="137160" cy="137160"/>
          </a:xfrm>
          <a:prstGeom prst="rect">
            <a:avLst/>
          </a:prstGeom>
        </p:spPr>
      </p:pic>
      <p:sp>
        <p:nvSpPr>
          <p:cNvPr id="372" name="Shape 143">
            <a:extLst>
              <a:ext uri="{FF2B5EF4-FFF2-40B4-BE49-F238E27FC236}">
                <a16:creationId xmlns:a16="http://schemas.microsoft.com/office/drawing/2014/main" id="{0A52D220-3984-417D-B4AC-B20CC48B8DCC}"/>
              </a:ext>
            </a:extLst>
          </p:cNvPr>
          <p:cNvSpPr/>
          <p:nvPr/>
        </p:nvSpPr>
        <p:spPr>
          <a:xfrm>
            <a:off x="4377690" y="7721600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73" name="Text 144">
            <a:extLst>
              <a:ext uri="{FF2B5EF4-FFF2-40B4-BE49-F238E27FC236}">
                <a16:creationId xmlns:a16="http://schemas.microsoft.com/office/drawing/2014/main" id="{7B504B90-A613-4352-B37A-4567C504ABF1}"/>
              </a:ext>
            </a:extLst>
          </p:cNvPr>
          <p:cNvSpPr/>
          <p:nvPr/>
        </p:nvSpPr>
        <p:spPr>
          <a:xfrm>
            <a:off x="4377690" y="772160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6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4" name="Text 145">
            <a:extLst>
              <a:ext uri="{FF2B5EF4-FFF2-40B4-BE49-F238E27FC236}">
                <a16:creationId xmlns:a16="http://schemas.microsoft.com/office/drawing/2014/main" id="{DF73AE69-7CDE-47C0-8792-0E7A1B57E25E}"/>
              </a:ext>
            </a:extLst>
          </p:cNvPr>
          <p:cNvSpPr/>
          <p:nvPr/>
        </p:nvSpPr>
        <p:spPr>
          <a:xfrm>
            <a:off x="4009644" y="8091932"/>
            <a:ext cx="946404" cy="118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미팅 브리핑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75" name="Image 27" descr="preencoded.png">
            <a:extLst>
              <a:ext uri="{FF2B5EF4-FFF2-40B4-BE49-F238E27FC236}">
                <a16:creationId xmlns:a16="http://schemas.microsoft.com/office/drawing/2014/main" id="{0A8EED88-6D62-4FF6-BB2E-8F6127FFF1D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14266" y="8690864"/>
            <a:ext cx="137160" cy="137160"/>
          </a:xfrm>
          <a:prstGeom prst="rect">
            <a:avLst/>
          </a:prstGeom>
        </p:spPr>
      </p:pic>
      <p:sp>
        <p:nvSpPr>
          <p:cNvPr id="376" name="Shape 146">
            <a:extLst>
              <a:ext uri="{FF2B5EF4-FFF2-40B4-BE49-F238E27FC236}">
                <a16:creationId xmlns:a16="http://schemas.microsoft.com/office/drawing/2014/main" id="{B6920CF5-DCC8-4D23-BA14-00FD9313686B}"/>
              </a:ext>
            </a:extLst>
          </p:cNvPr>
          <p:cNvSpPr/>
          <p:nvPr/>
        </p:nvSpPr>
        <p:spPr>
          <a:xfrm>
            <a:off x="4377690" y="8471408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77" name="Text 147">
            <a:extLst>
              <a:ext uri="{FF2B5EF4-FFF2-40B4-BE49-F238E27FC236}">
                <a16:creationId xmlns:a16="http://schemas.microsoft.com/office/drawing/2014/main" id="{24C0C3C0-A057-400F-8412-EC9F45582124}"/>
              </a:ext>
            </a:extLst>
          </p:cNvPr>
          <p:cNvSpPr/>
          <p:nvPr/>
        </p:nvSpPr>
        <p:spPr>
          <a:xfrm>
            <a:off x="4377690" y="847140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7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8" name="Text 148">
            <a:extLst>
              <a:ext uri="{FF2B5EF4-FFF2-40B4-BE49-F238E27FC236}">
                <a16:creationId xmlns:a16="http://schemas.microsoft.com/office/drawing/2014/main" id="{D7E5B7B3-56BF-427A-AA49-E77216B16FD1}"/>
              </a:ext>
            </a:extLst>
          </p:cNvPr>
          <p:cNvSpPr/>
          <p:nvPr/>
        </p:nvSpPr>
        <p:spPr>
          <a:xfrm>
            <a:off x="4009644" y="8841740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여의도 도착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79" name="Image 28" descr="preencoded.png">
            <a:extLst>
              <a:ext uri="{FF2B5EF4-FFF2-40B4-BE49-F238E27FC236}">
                <a16:creationId xmlns:a16="http://schemas.microsoft.com/office/drawing/2014/main" id="{5E799662-3FEA-4837-8C7C-640A5016D20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97246" y="8690864"/>
            <a:ext cx="137160" cy="137160"/>
          </a:xfrm>
          <a:prstGeom prst="rect">
            <a:avLst/>
          </a:prstGeom>
        </p:spPr>
      </p:pic>
      <p:sp>
        <p:nvSpPr>
          <p:cNvPr id="380" name="Shape 149">
            <a:extLst>
              <a:ext uri="{FF2B5EF4-FFF2-40B4-BE49-F238E27FC236}">
                <a16:creationId xmlns:a16="http://schemas.microsoft.com/office/drawing/2014/main" id="{8C90A1DF-C763-48CE-BECC-19A42060810A}"/>
              </a:ext>
            </a:extLst>
          </p:cNvPr>
          <p:cNvSpPr/>
          <p:nvPr/>
        </p:nvSpPr>
        <p:spPr>
          <a:xfrm>
            <a:off x="5360670" y="8471408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81" name="Text 150">
            <a:extLst>
              <a:ext uri="{FF2B5EF4-FFF2-40B4-BE49-F238E27FC236}">
                <a16:creationId xmlns:a16="http://schemas.microsoft.com/office/drawing/2014/main" id="{C0138702-CA76-4826-8A73-9BA4F7FAE854}"/>
              </a:ext>
            </a:extLst>
          </p:cNvPr>
          <p:cNvSpPr/>
          <p:nvPr/>
        </p:nvSpPr>
        <p:spPr>
          <a:xfrm>
            <a:off x="5360670" y="847140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8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2" name="Text 151">
            <a:extLst>
              <a:ext uri="{FF2B5EF4-FFF2-40B4-BE49-F238E27FC236}">
                <a16:creationId xmlns:a16="http://schemas.microsoft.com/office/drawing/2014/main" id="{9ED953C0-32D9-4920-B2F1-1985438CB03F}"/>
              </a:ext>
            </a:extLst>
          </p:cNvPr>
          <p:cNvSpPr/>
          <p:nvPr/>
        </p:nvSpPr>
        <p:spPr>
          <a:xfrm>
            <a:off x="4992624" y="8841740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사고 재계획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83" name="Image 29" descr="preencoded.png">
            <a:extLst>
              <a:ext uri="{FF2B5EF4-FFF2-40B4-BE49-F238E27FC236}">
                <a16:creationId xmlns:a16="http://schemas.microsoft.com/office/drawing/2014/main" id="{4DD43DE0-283A-42B5-9B62-0C2C1363854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80226" y="8690864"/>
            <a:ext cx="137160" cy="137160"/>
          </a:xfrm>
          <a:prstGeom prst="rect">
            <a:avLst/>
          </a:prstGeom>
        </p:spPr>
      </p:pic>
      <p:sp>
        <p:nvSpPr>
          <p:cNvPr id="384" name="Shape 152">
            <a:extLst>
              <a:ext uri="{FF2B5EF4-FFF2-40B4-BE49-F238E27FC236}">
                <a16:creationId xmlns:a16="http://schemas.microsoft.com/office/drawing/2014/main" id="{AFB3C76A-8175-4B90-9B7F-3B2B6E499436}"/>
              </a:ext>
            </a:extLst>
          </p:cNvPr>
          <p:cNvSpPr/>
          <p:nvPr/>
        </p:nvSpPr>
        <p:spPr>
          <a:xfrm>
            <a:off x="6343650" y="8471408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85" name="Text 153">
            <a:extLst>
              <a:ext uri="{FF2B5EF4-FFF2-40B4-BE49-F238E27FC236}">
                <a16:creationId xmlns:a16="http://schemas.microsoft.com/office/drawing/2014/main" id="{B7267950-185D-4142-801E-52CE306F9BBC}"/>
              </a:ext>
            </a:extLst>
          </p:cNvPr>
          <p:cNvSpPr/>
          <p:nvPr/>
        </p:nvSpPr>
        <p:spPr>
          <a:xfrm>
            <a:off x="6343650" y="847140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9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6" name="Text 154">
            <a:extLst>
              <a:ext uri="{FF2B5EF4-FFF2-40B4-BE49-F238E27FC236}">
                <a16:creationId xmlns:a16="http://schemas.microsoft.com/office/drawing/2014/main" id="{A16332BD-A085-4701-AAEC-C20F3844AC83}"/>
              </a:ext>
            </a:extLst>
          </p:cNvPr>
          <p:cNvSpPr/>
          <p:nvPr/>
        </p:nvSpPr>
        <p:spPr>
          <a:xfrm>
            <a:off x="5975604" y="8841740"/>
            <a:ext cx="946404" cy="118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퇴근</a:t>
            </a: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·</a:t>
            </a:r>
            <a:r>
              <a:rPr lang="ko-KR" alt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약속 </a:t>
            </a:r>
            <a:r>
              <a:rPr lang="en-US" sz="590" dirty="0" err="1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소환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87" name="Image 30" descr="preencoded.png">
            <a:extLst>
              <a:ext uri="{FF2B5EF4-FFF2-40B4-BE49-F238E27FC236}">
                <a16:creationId xmlns:a16="http://schemas.microsoft.com/office/drawing/2014/main" id="{9968324D-19F7-405E-9E8A-1F3C6D92F1E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80226" y="9440672"/>
            <a:ext cx="137160" cy="137160"/>
          </a:xfrm>
          <a:prstGeom prst="rect">
            <a:avLst/>
          </a:prstGeom>
        </p:spPr>
      </p:pic>
      <p:sp>
        <p:nvSpPr>
          <p:cNvPr id="388" name="Shape 155">
            <a:extLst>
              <a:ext uri="{FF2B5EF4-FFF2-40B4-BE49-F238E27FC236}">
                <a16:creationId xmlns:a16="http://schemas.microsoft.com/office/drawing/2014/main" id="{8DA81F44-4DD7-4ED2-962F-95DFF98D3F93}"/>
              </a:ext>
            </a:extLst>
          </p:cNvPr>
          <p:cNvSpPr/>
          <p:nvPr/>
        </p:nvSpPr>
        <p:spPr>
          <a:xfrm>
            <a:off x="6343650" y="9221216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89" name="Text 156">
            <a:extLst>
              <a:ext uri="{FF2B5EF4-FFF2-40B4-BE49-F238E27FC236}">
                <a16:creationId xmlns:a16="http://schemas.microsoft.com/office/drawing/2014/main" id="{CF441E2D-1905-46A4-AC37-8408465D7A23}"/>
              </a:ext>
            </a:extLst>
          </p:cNvPr>
          <p:cNvSpPr/>
          <p:nvPr/>
        </p:nvSpPr>
        <p:spPr>
          <a:xfrm>
            <a:off x="6343650" y="922121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10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0" name="Text 157">
            <a:extLst>
              <a:ext uri="{FF2B5EF4-FFF2-40B4-BE49-F238E27FC236}">
                <a16:creationId xmlns:a16="http://schemas.microsoft.com/office/drawing/2014/main" id="{494C5BB4-0C0D-42B9-99BE-C366530E6494}"/>
              </a:ext>
            </a:extLst>
          </p:cNvPr>
          <p:cNvSpPr/>
          <p:nvPr/>
        </p:nvSpPr>
        <p:spPr>
          <a:xfrm>
            <a:off x="5975604" y="9591548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유치원 푸시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91" name="Image 31" descr="preencoded.png">
            <a:extLst>
              <a:ext uri="{FF2B5EF4-FFF2-40B4-BE49-F238E27FC236}">
                <a16:creationId xmlns:a16="http://schemas.microsoft.com/office/drawing/2014/main" id="{CA6BA6D6-EE0C-4E8F-B5D9-B5A83E0E30C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97246" y="9440672"/>
            <a:ext cx="137160" cy="137160"/>
          </a:xfrm>
          <a:prstGeom prst="rect">
            <a:avLst/>
          </a:prstGeom>
        </p:spPr>
      </p:pic>
      <p:sp>
        <p:nvSpPr>
          <p:cNvPr id="392" name="Shape 158">
            <a:extLst>
              <a:ext uri="{FF2B5EF4-FFF2-40B4-BE49-F238E27FC236}">
                <a16:creationId xmlns:a16="http://schemas.microsoft.com/office/drawing/2014/main" id="{7F809198-DF7B-4065-96C3-6C977B825068}"/>
              </a:ext>
            </a:extLst>
          </p:cNvPr>
          <p:cNvSpPr/>
          <p:nvPr/>
        </p:nvSpPr>
        <p:spPr>
          <a:xfrm>
            <a:off x="5360670" y="9221216"/>
            <a:ext cx="210312" cy="2103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A8A8A"/>
            </a:solidFill>
            <a:prstDash val="solid"/>
          </a:ln>
        </p:spPr>
      </p:sp>
      <p:sp>
        <p:nvSpPr>
          <p:cNvPr id="393" name="Text 159">
            <a:extLst>
              <a:ext uri="{FF2B5EF4-FFF2-40B4-BE49-F238E27FC236}">
                <a16:creationId xmlns:a16="http://schemas.microsoft.com/office/drawing/2014/main" id="{1F90ED83-D9B8-42AB-9775-31EAFF527E7D}"/>
              </a:ext>
            </a:extLst>
          </p:cNvPr>
          <p:cNvSpPr/>
          <p:nvPr/>
        </p:nvSpPr>
        <p:spPr>
          <a:xfrm>
            <a:off x="5360670" y="922121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11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4" name="Text 160">
            <a:extLst>
              <a:ext uri="{FF2B5EF4-FFF2-40B4-BE49-F238E27FC236}">
                <a16:creationId xmlns:a16="http://schemas.microsoft.com/office/drawing/2014/main" id="{2D77826F-EFCE-4B89-BE43-4C4E15B9815C}"/>
              </a:ext>
            </a:extLst>
          </p:cNvPr>
          <p:cNvSpPr/>
          <p:nvPr/>
        </p:nvSpPr>
        <p:spPr>
          <a:xfrm>
            <a:off x="4992624" y="9591548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5A5A5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세탁소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95" name="Image 32" descr="preencoded.png">
            <a:extLst>
              <a:ext uri="{FF2B5EF4-FFF2-40B4-BE49-F238E27FC236}">
                <a16:creationId xmlns:a16="http://schemas.microsoft.com/office/drawing/2014/main" id="{A4F43250-7223-453C-9D94-ACB781D837B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14266" y="9440672"/>
            <a:ext cx="137160" cy="137160"/>
          </a:xfrm>
          <a:prstGeom prst="rect">
            <a:avLst/>
          </a:prstGeom>
        </p:spPr>
      </p:pic>
      <p:sp>
        <p:nvSpPr>
          <p:cNvPr id="396" name="Shape 161">
            <a:extLst>
              <a:ext uri="{FF2B5EF4-FFF2-40B4-BE49-F238E27FC236}">
                <a16:creationId xmlns:a16="http://schemas.microsoft.com/office/drawing/2014/main" id="{5437C8F8-B1EA-4D28-9665-4756B4C9386C}"/>
              </a:ext>
            </a:extLst>
          </p:cNvPr>
          <p:cNvSpPr/>
          <p:nvPr/>
        </p:nvSpPr>
        <p:spPr>
          <a:xfrm>
            <a:off x="4377690" y="9221216"/>
            <a:ext cx="210312" cy="210312"/>
          </a:xfrm>
          <a:prstGeom prst="ellipse">
            <a:avLst/>
          </a:prstGeom>
          <a:solidFill>
            <a:srgbClr val="C8102E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397" name="Text 162">
            <a:extLst>
              <a:ext uri="{FF2B5EF4-FFF2-40B4-BE49-F238E27FC236}">
                <a16:creationId xmlns:a16="http://schemas.microsoft.com/office/drawing/2014/main" id="{77F0C4EF-82A8-48C2-BE67-8DACF5B9E99E}"/>
              </a:ext>
            </a:extLst>
          </p:cNvPr>
          <p:cNvSpPr/>
          <p:nvPr/>
        </p:nvSpPr>
        <p:spPr>
          <a:xfrm>
            <a:off x="4377690" y="922121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✓</a:t>
            </a:r>
            <a:endParaRPr lang="en-US" sz="74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8" name="Text 163">
            <a:extLst>
              <a:ext uri="{FF2B5EF4-FFF2-40B4-BE49-F238E27FC236}">
                <a16:creationId xmlns:a16="http://schemas.microsoft.com/office/drawing/2014/main" id="{EA7FFC5C-4C45-4BDC-8BCA-FAB1BFF65A30}"/>
              </a:ext>
            </a:extLst>
          </p:cNvPr>
          <p:cNvSpPr/>
          <p:nvPr/>
        </p:nvSpPr>
        <p:spPr>
          <a:xfrm>
            <a:off x="4009644" y="9591548"/>
            <a:ext cx="9464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하루 완성</a:t>
            </a:r>
            <a:endParaRPr lang="en-US" sz="59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9" name="Shape 164">
            <a:extLst>
              <a:ext uri="{FF2B5EF4-FFF2-40B4-BE49-F238E27FC236}">
                <a16:creationId xmlns:a16="http://schemas.microsoft.com/office/drawing/2014/main" id="{8A5CA4A4-8C03-483E-8D92-9D784703BFB0}"/>
              </a:ext>
            </a:extLst>
          </p:cNvPr>
          <p:cNvSpPr/>
          <p:nvPr/>
        </p:nvSpPr>
        <p:spPr>
          <a:xfrm>
            <a:off x="3942842" y="9830306"/>
            <a:ext cx="3058668" cy="382779"/>
          </a:xfrm>
          <a:prstGeom prst="roundRect">
            <a:avLst>
              <a:gd name="adj" fmla="val 8333"/>
            </a:avLst>
          </a:prstGeom>
          <a:solidFill>
            <a:srgbClr val="FCEDEF"/>
          </a:solidFill>
          <a:ln/>
        </p:spPr>
      </p:sp>
      <p:sp>
        <p:nvSpPr>
          <p:cNvPr id="400" name="Text 165">
            <a:extLst>
              <a:ext uri="{FF2B5EF4-FFF2-40B4-BE49-F238E27FC236}">
                <a16:creationId xmlns:a16="http://schemas.microsoft.com/office/drawing/2014/main" id="{94BA1900-7DD2-4A85-B0DF-304739A13AE8}"/>
              </a:ext>
            </a:extLst>
          </p:cNvPr>
          <p:cNvSpPr/>
          <p:nvPr/>
        </p:nvSpPr>
        <p:spPr>
          <a:xfrm>
            <a:off x="4027932" y="9830306"/>
            <a:ext cx="2948940" cy="395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아침 약속을 저녁까지 완벽 </a:t>
            </a:r>
            <a:r>
              <a:rPr lang="en-US" sz="9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관리</a:t>
            </a:r>
            <a:r>
              <a:rPr lang="en-US" sz="9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— 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변수가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생겨도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740" dirty="0" err="1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끝까지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ko-KR" alt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잇는다</a:t>
            </a:r>
            <a:r>
              <a:rPr lang="en-US" sz="740" dirty="0">
                <a:solidFill>
                  <a:srgbClr val="1A1A1A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                                                      </a:t>
            </a:r>
            <a:r>
              <a:rPr lang="en-US" sz="8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끊긴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8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세션이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8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아니라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“</a:t>
            </a:r>
            <a:r>
              <a:rPr lang="en-US" sz="8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연속된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 </a:t>
            </a:r>
            <a:r>
              <a:rPr lang="en-US" sz="800" b="1" dirty="0" err="1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하루</a:t>
            </a:r>
            <a:r>
              <a:rPr lang="en-US" sz="800" b="1" dirty="0">
                <a:solidFill>
                  <a:srgbClr val="C810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맑은 고딕" pitchFamily="34" charset="-120"/>
              </a:rPr>
              <a:t>”</a:t>
            </a:r>
            <a:endParaRPr lang="en-US" sz="800" b="1" dirty="0">
              <a:solidFill>
                <a:srgbClr val="C8102E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401" name="Picture 2" descr="갈비 살 - 무료 음식개 아이콘">
            <a:extLst>
              <a:ext uri="{FF2B5EF4-FFF2-40B4-BE49-F238E27FC236}">
                <a16:creationId xmlns:a16="http://schemas.microsoft.com/office/drawing/2014/main" id="{D2C36FD8-F96E-4466-BF1D-C3DA952F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760" y="7203949"/>
            <a:ext cx="137160" cy="13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844</Words>
  <Application>Microsoft Office PowerPoint</Application>
  <PresentationFormat>사용자 지정</PresentationFormat>
  <Paragraphs>172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LG스마트체 Regular</vt:lpstr>
      <vt:lpstr>맑은 고딕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PCAA Poster</dc:title>
  <dc:subject>PptxGenJS Presentation</dc:subject>
  <dc:creator>LG Bootcamp 13 - PCAA</dc:creator>
  <cp:lastModifiedBy>한소희/선임연구원/webOS ACP RP개발팀</cp:lastModifiedBy>
  <cp:revision>82</cp:revision>
  <dcterms:created xsi:type="dcterms:W3CDTF">2026-06-30T00:24:02Z</dcterms:created>
  <dcterms:modified xsi:type="dcterms:W3CDTF">2026-07-01T06:09:20Z</dcterms:modified>
</cp:coreProperties>
</file>