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C1C1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C1C1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C1C1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C1C1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1" y="10691960"/>
                </a:moveTo>
                <a:lnTo>
                  <a:pt x="0" y="10691960"/>
                </a:lnTo>
                <a:lnTo>
                  <a:pt x="0" y="0"/>
                </a:lnTo>
                <a:lnTo>
                  <a:pt x="7555991" y="0"/>
                </a:lnTo>
                <a:lnTo>
                  <a:pt x="7555991" y="10691960"/>
                </a:lnTo>
                <a:close/>
              </a:path>
            </a:pathLst>
          </a:custGeom>
          <a:solidFill>
            <a:srgbClr val="F5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104" y="70797"/>
            <a:ext cx="5761355" cy="147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C1C1F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0955" y="275385"/>
            <a:ext cx="146367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 b="1">
                <a:solidFill>
                  <a:srgbClr val="0066CC"/>
                </a:solidFill>
                <a:latin typeface="Malgun Gothic"/>
                <a:cs typeface="Malgun Gothic"/>
              </a:rPr>
              <a:t>PPT2</a:t>
            </a:r>
            <a:r>
              <a:rPr dirty="0" sz="950" spc="-24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spc="-70" b="1">
                <a:solidFill>
                  <a:srgbClr val="0066CC"/>
                </a:solidFill>
                <a:latin typeface="Malgun Gothic"/>
                <a:cs typeface="Malgun Gothic"/>
              </a:rPr>
              <a:t>J</a:t>
            </a:r>
            <a:r>
              <a:rPr dirty="0" sz="950" spc="-21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spc="-25" b="1">
                <a:solidFill>
                  <a:srgbClr val="0066CC"/>
                </a:solidFill>
                <a:latin typeface="Malgun Gothic"/>
                <a:cs typeface="Malgun Gothic"/>
              </a:rPr>
              <a:t>SON</a:t>
            </a:r>
            <a:r>
              <a:rPr dirty="0" sz="950" spc="1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b="1">
                <a:solidFill>
                  <a:srgbClr val="0066CC"/>
                </a:solidFill>
                <a:latin typeface="Malgun Gothic"/>
                <a:cs typeface="Malgun Gothic"/>
              </a:rPr>
              <a:t>·</a:t>
            </a:r>
            <a:r>
              <a:rPr dirty="0" sz="950" spc="12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b="1">
                <a:solidFill>
                  <a:srgbClr val="0066CC"/>
                </a:solidFill>
                <a:latin typeface="Malgun Gothic"/>
                <a:cs typeface="Malgun Gothic"/>
              </a:rPr>
              <a:t>PPT</a:t>
            </a:r>
            <a:r>
              <a:rPr dirty="0" sz="950" spc="25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spc="-285" b="1">
                <a:solidFill>
                  <a:srgbClr val="0066CC"/>
                </a:solidFill>
                <a:latin typeface="Malgun Gothic"/>
                <a:cs typeface="Malgun Gothic"/>
              </a:rPr>
              <a:t>→</a:t>
            </a:r>
            <a:r>
              <a:rPr dirty="0" sz="950" spc="5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spc="-70" b="1">
                <a:solidFill>
                  <a:srgbClr val="0066CC"/>
                </a:solidFill>
                <a:latin typeface="Malgun Gothic"/>
                <a:cs typeface="Malgun Gothic"/>
              </a:rPr>
              <a:t>J</a:t>
            </a:r>
            <a:r>
              <a:rPr dirty="0" sz="950" spc="-21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950" spc="-40" b="1">
                <a:solidFill>
                  <a:srgbClr val="0066CC"/>
                </a:solidFill>
                <a:latin typeface="Malgun Gothic"/>
                <a:cs typeface="Malgun Gothic"/>
              </a:rPr>
              <a:t>SON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104" y="70797"/>
            <a:ext cx="5761355" cy="1472565"/>
          </a:xfrm>
          <a:prstGeom prst="rect"/>
        </p:spPr>
        <p:txBody>
          <a:bodyPr wrap="square" lIns="0" tIns="338455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2665"/>
              </a:spcBef>
            </a:pPr>
            <a:r>
              <a:rPr dirty="0" sz="3600" spc="-345"/>
              <a:t>Presentations,</a:t>
            </a:r>
            <a:r>
              <a:rPr dirty="0" sz="3600" spc="-305"/>
              <a:t> </a:t>
            </a:r>
            <a:r>
              <a:rPr dirty="0" sz="3600" spc="-355">
                <a:solidFill>
                  <a:srgbClr val="797979"/>
                </a:solidFill>
              </a:rPr>
              <a:t>structured.</a:t>
            </a:r>
            <a:endParaRPr sz="3600"/>
          </a:p>
          <a:p>
            <a:pPr algn="ctr" marL="12065" marR="5080">
              <a:lnSpc>
                <a:spcPct val="115700"/>
              </a:lnSpc>
              <a:spcBef>
                <a:spcPts val="750"/>
              </a:spcBef>
            </a:pPr>
            <a:r>
              <a:rPr dirty="0" sz="1350" spc="-120" b="0">
                <a:solidFill>
                  <a:srgbClr val="4C4C4F"/>
                </a:solidFill>
                <a:latin typeface="Malgun Gothic"/>
                <a:cs typeface="Malgun Gothic"/>
              </a:rPr>
              <a:t>Upload</a:t>
            </a:r>
            <a:r>
              <a:rPr dirty="0" sz="1350" spc="-8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55" b="0">
                <a:solidFill>
                  <a:srgbClr val="4C4C4F"/>
                </a:solidFill>
                <a:latin typeface="Malgun Gothic"/>
                <a:cs typeface="Malgun Gothic"/>
              </a:rPr>
              <a:t>a</a:t>
            </a:r>
            <a:r>
              <a:rPr dirty="0" sz="1350" spc="-6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85" b="0">
                <a:solidFill>
                  <a:srgbClr val="4C4C4F"/>
                </a:solidFill>
                <a:latin typeface="Malgun Gothic"/>
                <a:cs typeface="Malgun Gothic"/>
              </a:rPr>
              <a:t>slide</a:t>
            </a:r>
            <a:r>
              <a:rPr dirty="0" sz="1350" spc="-114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00" b="0">
                <a:solidFill>
                  <a:srgbClr val="4C4C4F"/>
                </a:solidFill>
                <a:latin typeface="Malgun Gothic"/>
                <a:cs typeface="Malgun Gothic"/>
              </a:rPr>
              <a:t>deck.</a:t>
            </a:r>
            <a:r>
              <a:rPr dirty="0" sz="1350" spc="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90" b="0">
                <a:solidFill>
                  <a:srgbClr val="4C4C4F"/>
                </a:solidFill>
                <a:latin typeface="Malgun Gothic"/>
                <a:cs typeface="Malgun Gothic"/>
              </a:rPr>
              <a:t>Get</a:t>
            </a:r>
            <a:r>
              <a:rPr dirty="0" sz="1350" spc="-10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95" b="0">
                <a:solidFill>
                  <a:srgbClr val="4C4C4F"/>
                </a:solidFill>
                <a:latin typeface="Malgun Gothic"/>
                <a:cs typeface="Malgun Gothic"/>
              </a:rPr>
              <a:t>clean</a:t>
            </a:r>
            <a:r>
              <a:rPr dirty="0" sz="1350" spc="-7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20" b="0">
                <a:solidFill>
                  <a:srgbClr val="4C4C4F"/>
                </a:solidFill>
                <a:latin typeface="Malgun Gothic"/>
                <a:cs typeface="Malgun Gothic"/>
              </a:rPr>
              <a:t>JSON</a:t>
            </a:r>
            <a:r>
              <a:rPr dirty="0" sz="1350" spc="-6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25" b="0">
                <a:solidFill>
                  <a:srgbClr val="4C4C4F"/>
                </a:solidFill>
                <a:latin typeface="Malgun Gothic"/>
                <a:cs typeface="Malgun Gothic"/>
              </a:rPr>
              <a:t>and</a:t>
            </a:r>
            <a:r>
              <a:rPr dirty="0" sz="1350" spc="-7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55" b="0">
                <a:solidFill>
                  <a:srgbClr val="4C4C4F"/>
                </a:solidFill>
                <a:latin typeface="Malgun Gothic"/>
                <a:cs typeface="Malgun Gothic"/>
              </a:rPr>
              <a:t>a</a:t>
            </a:r>
            <a:r>
              <a:rPr dirty="0" sz="1350" spc="-7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10" b="0">
                <a:solidFill>
                  <a:srgbClr val="4C4C4F"/>
                </a:solidFill>
                <a:latin typeface="Malgun Gothic"/>
                <a:cs typeface="Malgun Gothic"/>
              </a:rPr>
              <a:t>downloadable </a:t>
            </a:r>
            <a:r>
              <a:rPr dirty="0" sz="1350" spc="-70" b="0">
                <a:solidFill>
                  <a:srgbClr val="4C4C4F"/>
                </a:solidFill>
                <a:latin typeface="Malgun Gothic"/>
                <a:cs typeface="Malgun Gothic"/>
              </a:rPr>
              <a:t>Excel</a:t>
            </a:r>
            <a:r>
              <a:rPr dirty="0" sz="1350" spc="-2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80" b="0">
                <a:solidFill>
                  <a:srgbClr val="4C4C4F"/>
                </a:solidFill>
                <a:latin typeface="Malgun Gothic"/>
                <a:cs typeface="Malgun Gothic"/>
              </a:rPr>
              <a:t>sheet</a:t>
            </a:r>
            <a:r>
              <a:rPr dirty="0" sz="1350" spc="-10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265" b="0">
                <a:solidFill>
                  <a:srgbClr val="4C4C4F"/>
                </a:solidFill>
                <a:latin typeface="Malgun Gothic"/>
                <a:cs typeface="Malgun Gothic"/>
              </a:rPr>
              <a:t>—</a:t>
            </a:r>
            <a:r>
              <a:rPr dirty="0" sz="1350" spc="-22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75" b="0">
                <a:solidFill>
                  <a:srgbClr val="4C4C4F"/>
                </a:solidFill>
                <a:latin typeface="Malgun Gothic"/>
                <a:cs typeface="Malgun Gothic"/>
              </a:rPr>
              <a:t>extracted</a:t>
            </a:r>
            <a:r>
              <a:rPr dirty="0" sz="1350" spc="-8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25" b="0">
                <a:solidFill>
                  <a:srgbClr val="4C4C4F"/>
                </a:solidFill>
                <a:latin typeface="Malgun Gothic"/>
                <a:cs typeface="Malgun Gothic"/>
              </a:rPr>
              <a:t>by </a:t>
            </a:r>
            <a:r>
              <a:rPr dirty="0" sz="1350" spc="-155" b="0">
                <a:solidFill>
                  <a:srgbClr val="4C4C4F"/>
                </a:solidFill>
                <a:latin typeface="Malgun Gothic"/>
                <a:cs typeface="Malgun Gothic"/>
              </a:rPr>
              <a:t>a</a:t>
            </a:r>
            <a:r>
              <a:rPr dirty="0" sz="1350" spc="-3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75" b="0">
                <a:solidFill>
                  <a:srgbClr val="4C4C4F"/>
                </a:solidFill>
                <a:latin typeface="Malgun Gothic"/>
                <a:cs typeface="Malgun Gothic"/>
              </a:rPr>
              <a:t>vision-</a:t>
            </a:r>
            <a:r>
              <a:rPr dirty="0" sz="1350" spc="-125" b="0">
                <a:solidFill>
                  <a:srgbClr val="4C4C4F"/>
                </a:solidFill>
                <a:latin typeface="Malgun Gothic"/>
                <a:cs typeface="Malgun Gothic"/>
              </a:rPr>
              <a:t>language</a:t>
            </a:r>
            <a:r>
              <a:rPr dirty="0" sz="1350" spc="-7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350" spc="-10" b="0">
                <a:solidFill>
                  <a:srgbClr val="4C4C4F"/>
                </a:solidFill>
                <a:latin typeface="Malgun Gothic"/>
                <a:cs typeface="Malgun Gothic"/>
              </a:rPr>
              <a:t>pipeline.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950720"/>
            <a:ext cx="7556500" cy="2658110"/>
            <a:chOff x="0" y="1950720"/>
            <a:chExt cx="7556500" cy="2658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1849" y="3181349"/>
              <a:ext cx="1362074" cy="952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92739" y="2151391"/>
              <a:ext cx="3063240" cy="2250440"/>
            </a:xfrm>
            <a:custGeom>
              <a:avLst/>
              <a:gdLst/>
              <a:ahLst/>
              <a:cxnLst/>
              <a:rect l="l" t="t" r="r" b="b"/>
              <a:pathLst>
                <a:path w="3063240" h="2250440">
                  <a:moveTo>
                    <a:pt x="3063240" y="0"/>
                  </a:moveTo>
                  <a:lnTo>
                    <a:pt x="0" y="0"/>
                  </a:lnTo>
                  <a:lnTo>
                    <a:pt x="0" y="354330"/>
                  </a:lnTo>
                  <a:lnTo>
                    <a:pt x="0" y="1802130"/>
                  </a:lnTo>
                  <a:lnTo>
                    <a:pt x="0" y="2250440"/>
                  </a:lnTo>
                  <a:lnTo>
                    <a:pt x="3063240" y="2250440"/>
                  </a:lnTo>
                  <a:lnTo>
                    <a:pt x="3063240" y="1802130"/>
                  </a:lnTo>
                  <a:lnTo>
                    <a:pt x="374523" y="1802130"/>
                  </a:lnTo>
                  <a:lnTo>
                    <a:pt x="374523" y="354330"/>
                  </a:lnTo>
                  <a:lnTo>
                    <a:pt x="2689098" y="354330"/>
                  </a:lnTo>
                  <a:lnTo>
                    <a:pt x="2689098" y="1801495"/>
                  </a:lnTo>
                  <a:lnTo>
                    <a:pt x="3063240" y="1801495"/>
                  </a:lnTo>
                  <a:lnTo>
                    <a:pt x="3063240" y="354330"/>
                  </a:lnTo>
                  <a:lnTo>
                    <a:pt x="3063240" y="353695"/>
                  </a:lnTo>
                  <a:lnTo>
                    <a:pt x="3063240" y="0"/>
                  </a:lnTo>
                  <a:close/>
                </a:path>
              </a:pathLst>
            </a:custGeom>
            <a:solidFill>
              <a:srgbClr val="000000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JSON and Excel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4" y="2505074"/>
              <a:ext cx="2314574" cy="14477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1950720"/>
              <a:ext cx="3736975" cy="2658110"/>
            </a:xfrm>
            <a:custGeom>
              <a:avLst/>
              <a:gdLst/>
              <a:ahLst/>
              <a:cxnLst/>
              <a:rect l="l" t="t" r="r" b="b"/>
              <a:pathLst>
                <a:path w="3736975" h="2658110">
                  <a:moveTo>
                    <a:pt x="3736847" y="2657855"/>
                  </a:moveTo>
                  <a:lnTo>
                    <a:pt x="0" y="2657855"/>
                  </a:lnTo>
                  <a:lnTo>
                    <a:pt x="0" y="0"/>
                  </a:lnTo>
                  <a:lnTo>
                    <a:pt x="3736847" y="0"/>
                  </a:lnTo>
                  <a:lnTo>
                    <a:pt x="3736847" y="356576"/>
                  </a:lnTo>
                  <a:lnTo>
                    <a:pt x="3163078" y="356576"/>
                  </a:lnTo>
                  <a:lnTo>
                    <a:pt x="316452" y="605624"/>
                  </a:lnTo>
                  <a:lnTo>
                    <a:pt x="456748" y="2209223"/>
                  </a:lnTo>
                  <a:lnTo>
                    <a:pt x="3736847" y="2209223"/>
                  </a:lnTo>
                  <a:lnTo>
                    <a:pt x="3736847" y="2657855"/>
                  </a:lnTo>
                  <a:close/>
                </a:path>
                <a:path w="3736975" h="2658110">
                  <a:moveTo>
                    <a:pt x="3736847" y="2209223"/>
                  </a:moveTo>
                  <a:lnTo>
                    <a:pt x="456748" y="2209223"/>
                  </a:lnTo>
                  <a:lnTo>
                    <a:pt x="3303375" y="1960175"/>
                  </a:lnTo>
                  <a:lnTo>
                    <a:pt x="3163078" y="356576"/>
                  </a:lnTo>
                  <a:lnTo>
                    <a:pt x="3736847" y="356576"/>
                  </a:lnTo>
                  <a:lnTo>
                    <a:pt x="3736847" y="2209223"/>
                  </a:lnTo>
                  <a:close/>
                </a:path>
              </a:pathLst>
            </a:custGeom>
            <a:solidFill>
              <a:srgbClr val="000000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owerPoint Slid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452" y="2307296"/>
              <a:ext cx="2986922" cy="18526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68299" y="4858892"/>
            <a:ext cx="6793230" cy="935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95" b="1">
                <a:solidFill>
                  <a:srgbClr val="0066CC"/>
                </a:solidFill>
                <a:latin typeface="Malgun Gothic"/>
                <a:cs typeface="Malgun Gothic"/>
              </a:rPr>
              <a:t>WH</a:t>
            </a:r>
            <a:r>
              <a:rPr dirty="0" sz="850" spc="-18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850" spc="-50" b="1">
                <a:solidFill>
                  <a:srgbClr val="0066CC"/>
                </a:solidFill>
                <a:latin typeface="Malgun Gothic"/>
                <a:cs typeface="Malgun Gothic"/>
              </a:rPr>
              <a:t>Y</a:t>
            </a:r>
            <a:endParaRPr sz="8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330" b="1">
                <a:solidFill>
                  <a:srgbClr val="1C1C1F"/>
                </a:solidFill>
                <a:latin typeface="Malgun Gothic"/>
                <a:cs typeface="Malgun Gothic"/>
              </a:rPr>
              <a:t>슬라이드</a:t>
            </a:r>
            <a:r>
              <a:rPr dirty="0" sz="1750" spc="-31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50" b="1">
                <a:solidFill>
                  <a:srgbClr val="1C1C1F"/>
                </a:solidFill>
                <a:latin typeface="Malgun Gothic"/>
                <a:cs typeface="Malgun Gothic"/>
              </a:rPr>
              <a:t>안에</a:t>
            </a:r>
            <a:r>
              <a:rPr dirty="0" sz="1750" spc="-204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45" b="1">
                <a:solidFill>
                  <a:srgbClr val="1C1C1F"/>
                </a:solidFill>
                <a:latin typeface="Malgun Gothic"/>
                <a:cs typeface="Malgun Gothic"/>
              </a:rPr>
              <a:t>잠긴</a:t>
            </a:r>
            <a:r>
              <a:rPr dirty="0" sz="1750" spc="-22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20" b="1">
                <a:solidFill>
                  <a:srgbClr val="1C1C1F"/>
                </a:solidFill>
                <a:latin typeface="Malgun Gothic"/>
                <a:cs typeface="Malgun Gothic"/>
              </a:rPr>
              <a:t>데이터</a:t>
            </a:r>
            <a:r>
              <a:rPr dirty="0" sz="1700" spc="-320" b="1">
                <a:solidFill>
                  <a:srgbClr val="1C1C1F"/>
                </a:solidFill>
                <a:latin typeface="Malgun Gothic"/>
                <a:cs typeface="Malgun Gothic"/>
              </a:rPr>
              <a:t>를</a:t>
            </a:r>
            <a:r>
              <a:rPr dirty="0" sz="1700" spc="-29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30" b="1">
                <a:solidFill>
                  <a:srgbClr val="1C1C1F"/>
                </a:solidFill>
                <a:latin typeface="Malgun Gothic"/>
                <a:cs typeface="Malgun Gothic"/>
              </a:rPr>
              <a:t>풀어내기.</a:t>
            </a:r>
            <a:endParaRPr sz="1750">
              <a:latin typeface="Malgun Gothic"/>
              <a:cs typeface="Malgun Gothic"/>
            </a:endParaRPr>
          </a:p>
          <a:p>
            <a:pPr marL="12700" marR="5080">
              <a:lnSpc>
                <a:spcPct val="125000"/>
              </a:lnSpc>
              <a:spcBef>
                <a:spcPts val="620"/>
              </a:spcBef>
            </a:pPr>
            <a:r>
              <a:rPr dirty="0" sz="1100" spc="-229">
                <a:solidFill>
                  <a:srgbClr val="444447"/>
                </a:solidFill>
                <a:latin typeface="Malgun Gothic"/>
                <a:cs typeface="Malgun Gothic"/>
              </a:rPr>
              <a:t>분기</a:t>
            </a:r>
            <a:r>
              <a:rPr dirty="0" sz="1100" spc="-4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65">
                <a:solidFill>
                  <a:srgbClr val="444447"/>
                </a:solidFill>
                <a:latin typeface="Malgun Gothic"/>
                <a:cs typeface="Malgun Gothic"/>
              </a:rPr>
              <a:t>보고서·</a:t>
            </a:r>
            <a:r>
              <a:rPr dirty="0" sz="1100" spc="-28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444447"/>
                </a:solidFill>
                <a:latin typeface="Malgun Gothic"/>
                <a:cs typeface="Malgun Gothic"/>
              </a:rPr>
              <a:t>연구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45">
                <a:solidFill>
                  <a:srgbClr val="444447"/>
                </a:solidFill>
                <a:latin typeface="Malgun Gothic"/>
                <a:cs typeface="Malgun Gothic"/>
              </a:rPr>
              <a:t>정리·</a:t>
            </a:r>
            <a:r>
              <a:rPr dirty="0" sz="1100" spc="-28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29">
                <a:solidFill>
                  <a:srgbClr val="444447"/>
                </a:solidFill>
                <a:latin typeface="Malgun Gothic"/>
                <a:cs typeface="Malgun Gothic"/>
              </a:rPr>
              <a:t>운영</a:t>
            </a:r>
            <a:r>
              <a:rPr dirty="0" sz="1100" spc="-4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444447"/>
                </a:solidFill>
                <a:latin typeface="Malgun Gothic"/>
                <a:cs typeface="Malgun Gothic"/>
              </a:rPr>
              <a:t>지표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444447"/>
                </a:solidFill>
                <a:latin typeface="Malgun Gothic"/>
                <a:cs typeface="Malgun Gothic"/>
              </a:rPr>
              <a:t>—</a:t>
            </a:r>
            <a:r>
              <a:rPr dirty="0" sz="1100" spc="-17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10">
                <a:solidFill>
                  <a:srgbClr val="444447"/>
                </a:solidFill>
                <a:latin typeface="Malgun Gothic"/>
                <a:cs typeface="Malgun Gothic"/>
              </a:rPr>
              <a:t>회사의</a:t>
            </a:r>
            <a:r>
              <a:rPr dirty="0" sz="1100" spc="-5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25">
                <a:solidFill>
                  <a:srgbClr val="444447"/>
                </a:solidFill>
                <a:latin typeface="Malgun Gothic"/>
                <a:cs typeface="Malgun Gothic"/>
              </a:rPr>
              <a:t>핵심</a:t>
            </a:r>
            <a:r>
              <a:rPr dirty="0" sz="1100" spc="-4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444447"/>
                </a:solidFill>
                <a:latin typeface="Malgun Gothic"/>
                <a:cs typeface="Malgun Gothic"/>
              </a:rPr>
              <a:t>데이터는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70">
                <a:solidFill>
                  <a:srgbClr val="444447"/>
                </a:solidFill>
                <a:latin typeface="Malgun Gothic"/>
                <a:cs typeface="Malgun Gothic"/>
              </a:rPr>
              <a:t>PowerPoint</a:t>
            </a:r>
            <a:r>
              <a:rPr dirty="0" sz="1100" spc="-8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15">
                <a:solidFill>
                  <a:srgbClr val="444447"/>
                </a:solidFill>
                <a:latin typeface="Malgun Gothic"/>
                <a:cs typeface="Malgun Gothic"/>
              </a:rPr>
              <a:t>안에</a:t>
            </a:r>
            <a:r>
              <a:rPr dirty="0" sz="1100" spc="-7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75">
                <a:solidFill>
                  <a:srgbClr val="444447"/>
                </a:solidFill>
                <a:latin typeface="Malgun Gothic"/>
                <a:cs typeface="Malgun Gothic"/>
              </a:rPr>
              <a:t>살지만,</a:t>
            </a:r>
            <a:r>
              <a:rPr dirty="0" sz="1100" spc="-1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14">
                <a:solidFill>
                  <a:srgbClr val="444447"/>
                </a:solidFill>
                <a:latin typeface="Malgun Gothic"/>
                <a:cs typeface="Malgun Gothic"/>
              </a:rPr>
              <a:t>표·</a:t>
            </a:r>
            <a:r>
              <a:rPr dirty="0" sz="1100" spc="-28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20">
                <a:solidFill>
                  <a:srgbClr val="444447"/>
                </a:solidFill>
                <a:latin typeface="Malgun Gothic"/>
                <a:cs typeface="Malgun Gothic"/>
              </a:rPr>
              <a:t>키·</a:t>
            </a:r>
            <a:r>
              <a:rPr dirty="0" sz="1100" spc="-28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444447"/>
                </a:solidFill>
                <a:latin typeface="Malgun Gothic"/>
                <a:cs typeface="Malgun Gothic"/>
              </a:rPr>
              <a:t>값을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25">
                <a:solidFill>
                  <a:srgbClr val="444447"/>
                </a:solidFill>
                <a:latin typeface="Malgun Gothic"/>
                <a:cs typeface="Malgun Gothic"/>
              </a:rPr>
              <a:t>다시</a:t>
            </a:r>
            <a:r>
              <a:rPr dirty="0" sz="1100" spc="-5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80">
                <a:solidFill>
                  <a:srgbClr val="444447"/>
                </a:solidFill>
                <a:latin typeface="Malgun Gothic"/>
                <a:cs typeface="Malgun Gothic"/>
              </a:rPr>
              <a:t>기계가</a:t>
            </a:r>
            <a:r>
              <a:rPr dirty="0" sz="1100" spc="-16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444447"/>
                </a:solidFill>
                <a:latin typeface="Malgun Gothic"/>
                <a:cs typeface="Malgun Gothic"/>
              </a:rPr>
              <a:t>읽을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60">
                <a:solidFill>
                  <a:srgbClr val="444447"/>
                </a:solidFill>
                <a:latin typeface="Malgun Gothic"/>
                <a:cs typeface="Malgun Gothic"/>
              </a:rPr>
              <a:t>수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10">
                <a:solidFill>
                  <a:srgbClr val="444447"/>
                </a:solidFill>
                <a:latin typeface="Malgun Gothic"/>
                <a:cs typeface="Malgun Gothic"/>
              </a:rPr>
              <a:t>있게</a:t>
            </a:r>
            <a:r>
              <a:rPr dirty="0" sz="1100" spc="-7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444447"/>
                </a:solidFill>
                <a:latin typeface="Malgun Gothic"/>
                <a:cs typeface="Malgun Gothic"/>
              </a:rPr>
              <a:t>꺼내는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50">
                <a:solidFill>
                  <a:srgbClr val="444447"/>
                </a:solidFill>
                <a:latin typeface="Malgun Gothic"/>
                <a:cs typeface="Malgun Gothic"/>
              </a:rPr>
              <a:t>건 </a:t>
            </a:r>
            <a:r>
              <a:rPr dirty="0" sz="1100" spc="-215">
                <a:solidFill>
                  <a:srgbClr val="444447"/>
                </a:solidFill>
                <a:latin typeface="Malgun Gothic"/>
                <a:cs typeface="Malgun Gothic"/>
              </a:rPr>
              <a:t>매번</a:t>
            </a:r>
            <a:r>
              <a:rPr dirty="0" sz="1100" spc="-6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444447"/>
                </a:solidFill>
                <a:latin typeface="Malgun Gothic"/>
                <a:cs typeface="Malgun Gothic"/>
              </a:rPr>
              <a:t>수작업이었다.</a:t>
            </a:r>
            <a:r>
              <a:rPr dirty="0" sz="1100" spc="1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70">
                <a:solidFill>
                  <a:srgbClr val="444447"/>
                </a:solidFill>
                <a:latin typeface="Malgun Gothic"/>
                <a:cs typeface="Malgun Gothic"/>
              </a:rPr>
              <a:t>ppt2json</a:t>
            </a:r>
            <a:r>
              <a:rPr dirty="0" sz="1100" spc="-5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60">
                <a:solidFill>
                  <a:srgbClr val="444447"/>
                </a:solidFill>
                <a:latin typeface="Malgun Gothic"/>
                <a:cs typeface="Malgun Gothic"/>
              </a:rPr>
              <a:t>은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85">
                <a:solidFill>
                  <a:srgbClr val="444447"/>
                </a:solidFill>
                <a:latin typeface="Malgun Gothic"/>
                <a:cs typeface="Malgun Gothic"/>
              </a:rPr>
              <a:t>한글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444447"/>
                </a:solidFill>
                <a:latin typeface="Malgun Gothic"/>
                <a:cs typeface="Malgun Gothic"/>
              </a:rPr>
              <a:t>슬라이드와</a:t>
            </a:r>
            <a:r>
              <a:rPr dirty="0" sz="1100" spc="-17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29">
                <a:solidFill>
                  <a:srgbClr val="444447"/>
                </a:solidFill>
                <a:latin typeface="Malgun Gothic"/>
                <a:cs typeface="Malgun Gothic"/>
              </a:rPr>
              <a:t>중첩</a:t>
            </a:r>
            <a:r>
              <a:rPr dirty="0" sz="1100" spc="-4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15">
                <a:solidFill>
                  <a:srgbClr val="444447"/>
                </a:solidFill>
                <a:latin typeface="Malgun Gothic"/>
                <a:cs typeface="Malgun Gothic"/>
              </a:rPr>
              <a:t>표까지</a:t>
            </a:r>
            <a:r>
              <a:rPr dirty="0" sz="1100" spc="-50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75">
                <a:solidFill>
                  <a:srgbClr val="444447"/>
                </a:solidFill>
                <a:latin typeface="Malgun Gothic"/>
                <a:cs typeface="Malgun Gothic"/>
              </a:rPr>
              <a:t>자동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5">
                <a:solidFill>
                  <a:srgbClr val="444447"/>
                </a:solidFill>
                <a:latin typeface="Malgun Gothic"/>
                <a:cs typeface="Malgun Gothic"/>
              </a:rPr>
              <a:t>추출하는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45">
                <a:solidFill>
                  <a:srgbClr val="444447"/>
                </a:solidFill>
                <a:latin typeface="Malgun Gothic"/>
                <a:cs typeface="Malgun Gothic"/>
              </a:rPr>
              <a:t>비전-</a:t>
            </a:r>
            <a:r>
              <a:rPr dirty="0" sz="1100" spc="-229">
                <a:solidFill>
                  <a:srgbClr val="444447"/>
                </a:solidFill>
                <a:latin typeface="Malgun Gothic"/>
                <a:cs typeface="Malgun Gothic"/>
              </a:rPr>
              <a:t>언어</a:t>
            </a:r>
            <a:r>
              <a:rPr dirty="0" sz="1100" spc="-4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00">
                <a:solidFill>
                  <a:srgbClr val="444447"/>
                </a:solidFill>
                <a:latin typeface="Malgun Gothic"/>
                <a:cs typeface="Malgun Gothic"/>
              </a:rPr>
              <a:t>파이프라인으로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60">
                <a:solidFill>
                  <a:srgbClr val="444447"/>
                </a:solidFill>
                <a:latin typeface="Malgun Gothic"/>
                <a:cs typeface="Malgun Gothic"/>
              </a:rPr>
              <a:t>그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444447"/>
                </a:solidFill>
                <a:latin typeface="Malgun Gothic"/>
                <a:cs typeface="Malgun Gothic"/>
              </a:rPr>
              <a:t>단계를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190">
                <a:solidFill>
                  <a:srgbClr val="444447"/>
                </a:solidFill>
                <a:latin typeface="Malgun Gothic"/>
                <a:cs typeface="Malgun Gothic"/>
              </a:rPr>
              <a:t>통째로</a:t>
            </a:r>
            <a:r>
              <a:rPr dirty="0" sz="1100" spc="-135">
                <a:solidFill>
                  <a:srgbClr val="444447"/>
                </a:solidFill>
                <a:latin typeface="Malgun Gothic"/>
                <a:cs typeface="Malgun Gothic"/>
              </a:rPr>
              <a:t> </a:t>
            </a:r>
            <a:r>
              <a:rPr dirty="0" sz="1100" spc="-20">
                <a:solidFill>
                  <a:srgbClr val="444447"/>
                </a:solidFill>
                <a:latin typeface="Malgun Gothic"/>
                <a:cs typeface="Malgun Gothic"/>
              </a:rPr>
              <a:t>없앤다.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300" y="6649592"/>
            <a:ext cx="2726690" cy="437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40" b="1">
                <a:solidFill>
                  <a:srgbClr val="0066CC"/>
                </a:solidFill>
                <a:latin typeface="Malgun Gothic"/>
                <a:cs typeface="Malgun Gothic"/>
              </a:rPr>
              <a:t>PI</a:t>
            </a:r>
            <a:r>
              <a:rPr dirty="0" sz="850" spc="-110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850" b="1">
                <a:solidFill>
                  <a:srgbClr val="0066CC"/>
                </a:solidFill>
                <a:latin typeface="Malgun Gothic"/>
                <a:cs typeface="Malgun Gothic"/>
              </a:rPr>
              <a:t>PELI</a:t>
            </a:r>
            <a:r>
              <a:rPr dirty="0" sz="850" spc="-105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850" spc="-150" b="1">
                <a:solidFill>
                  <a:srgbClr val="0066CC"/>
                </a:solidFill>
                <a:latin typeface="Malgun Gothic"/>
                <a:cs typeface="Malgun Gothic"/>
              </a:rPr>
              <a:t>N</a:t>
            </a:r>
            <a:r>
              <a:rPr dirty="0" sz="850" spc="-155" b="1">
                <a:solidFill>
                  <a:srgbClr val="0066CC"/>
                </a:solidFill>
                <a:latin typeface="Malgun Gothic"/>
                <a:cs typeface="Malgun Gothic"/>
              </a:rPr>
              <a:t> </a:t>
            </a:r>
            <a:r>
              <a:rPr dirty="0" sz="850" spc="-50" b="1">
                <a:solidFill>
                  <a:srgbClr val="0066CC"/>
                </a:solidFill>
                <a:latin typeface="Malgun Gothic"/>
                <a:cs typeface="Malgun Gothic"/>
              </a:rPr>
              <a:t>E</a:t>
            </a:r>
            <a:endParaRPr sz="8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150" b="1">
                <a:solidFill>
                  <a:srgbClr val="1C1C1F"/>
                </a:solidFill>
                <a:latin typeface="Malgun Gothic"/>
                <a:cs typeface="Malgun Gothic"/>
              </a:rPr>
              <a:t>.pptx</a:t>
            </a:r>
            <a:r>
              <a:rPr dirty="0" sz="1750" spc="-27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65" b="1">
                <a:solidFill>
                  <a:srgbClr val="1C1C1F"/>
                </a:solidFill>
                <a:latin typeface="Malgun Gothic"/>
                <a:cs typeface="Malgun Gothic"/>
              </a:rPr>
              <a:t>에서</a:t>
            </a:r>
            <a:r>
              <a:rPr dirty="0" sz="1750" spc="-17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210" b="1">
                <a:solidFill>
                  <a:srgbClr val="1C1C1F"/>
                </a:solidFill>
                <a:latin typeface="Malgun Gothic"/>
                <a:cs typeface="Malgun Gothic"/>
              </a:rPr>
              <a:t>JSON</a:t>
            </a:r>
            <a:r>
              <a:rPr dirty="0" sz="1750" spc="-16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280" b="1">
                <a:solidFill>
                  <a:srgbClr val="1C1C1F"/>
                </a:solidFill>
                <a:latin typeface="Malgun Gothic"/>
                <a:cs typeface="Malgun Gothic"/>
              </a:rPr>
              <a:t>까지,</a:t>
            </a:r>
            <a:r>
              <a:rPr dirty="0" sz="1750" spc="-13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25" b="1">
                <a:solidFill>
                  <a:srgbClr val="1C1C1F"/>
                </a:solidFill>
                <a:latin typeface="Malgun Gothic"/>
                <a:cs typeface="Malgun Gothic"/>
              </a:rPr>
              <a:t>다섯</a:t>
            </a:r>
            <a:r>
              <a:rPr dirty="0" sz="1750" spc="-26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750" spc="-320" b="1">
                <a:solidFill>
                  <a:srgbClr val="1C1C1F"/>
                </a:solidFill>
                <a:latin typeface="Malgun Gothic"/>
                <a:cs typeface="Malgun Gothic"/>
              </a:rPr>
              <a:t>단계.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999" y="7219949"/>
            <a:ext cx="247650" cy="2476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70544" y="7238160"/>
            <a:ext cx="58419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350" b="1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0249" y="7143844"/>
            <a:ext cx="2851785" cy="54229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 spc="-210" b="1">
                <a:solidFill>
                  <a:srgbClr val="1C1C1F"/>
                </a:solidFill>
                <a:latin typeface="Malgun Gothic"/>
                <a:cs typeface="Malgun Gothic"/>
              </a:rPr>
              <a:t>전처리</a:t>
            </a:r>
            <a:r>
              <a:rPr dirty="0" sz="1100" spc="-8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50" spc="-80" b="1">
                <a:solidFill>
                  <a:srgbClr val="1C1C1F"/>
                </a:solidFill>
                <a:latin typeface="Malgun Gothic"/>
                <a:cs typeface="Malgun Gothic"/>
              </a:rPr>
              <a:t>·</a:t>
            </a:r>
            <a:r>
              <a:rPr dirty="0" sz="1150" spc="-3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150" b="1">
                <a:solidFill>
                  <a:srgbClr val="1C1C1F"/>
                </a:solidFill>
                <a:latin typeface="Malgun Gothic"/>
                <a:cs typeface="Malgun Gothic"/>
              </a:rPr>
              <a:t>표</a:t>
            </a:r>
            <a:r>
              <a:rPr dirty="0" sz="1100" spc="-16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마</a:t>
            </a:r>
            <a:r>
              <a:rPr dirty="0" sz="1050" spc="-25" b="1">
                <a:solidFill>
                  <a:srgbClr val="1C1C1F"/>
                </a:solidFill>
                <a:latin typeface="Malgun Gothic"/>
                <a:cs typeface="Malgun Gothic"/>
              </a:rPr>
              <a:t>스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킹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05300"/>
              </a:lnSpc>
              <a:spcBef>
                <a:spcPts val="105"/>
              </a:spcBef>
            </a:pPr>
            <a:r>
              <a:rPr dirty="0" sz="950" spc="-55">
                <a:solidFill>
                  <a:srgbClr val="6A6A6C"/>
                </a:solidFill>
                <a:latin typeface="Malgun Gothic"/>
                <a:cs typeface="Malgun Gothic"/>
              </a:rPr>
              <a:t>LibreOffice·</a:t>
            </a:r>
            <a:r>
              <a:rPr dirty="0" sz="950" spc="-23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75">
                <a:solidFill>
                  <a:srgbClr val="6A6A6C"/>
                </a:solidFill>
                <a:latin typeface="Malgun Gothic"/>
                <a:cs typeface="Malgun Gothic"/>
              </a:rPr>
              <a:t>poppler</a:t>
            </a:r>
            <a:r>
              <a:rPr dirty="0" sz="950" spc="-5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6A6A6C"/>
                </a:solidFill>
                <a:latin typeface="Malgun Gothic"/>
                <a:cs typeface="Malgun Gothic"/>
              </a:rPr>
              <a:t>로</a:t>
            </a:r>
            <a:r>
              <a:rPr dirty="0" sz="950" spc="-9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80">
                <a:solidFill>
                  <a:srgbClr val="6A6A6C"/>
                </a:solidFill>
                <a:latin typeface="Malgun Gothic"/>
                <a:cs typeface="Malgun Gothic"/>
              </a:rPr>
              <a:t>슬라이드를</a:t>
            </a:r>
            <a:r>
              <a:rPr dirty="0" sz="950" spc="-9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65">
                <a:solidFill>
                  <a:srgbClr val="6A6A6C"/>
                </a:solidFill>
                <a:latin typeface="Malgun Gothic"/>
                <a:cs typeface="Malgun Gothic"/>
              </a:rPr>
              <a:t>렌더하고,</a:t>
            </a:r>
            <a:r>
              <a:rPr dirty="0" sz="950" spc="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6A6A6C"/>
                </a:solidFill>
                <a:latin typeface="Malgun Gothic"/>
                <a:cs typeface="Malgun Gothic"/>
              </a:rPr>
              <a:t>복잡한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6A6A6C"/>
                </a:solidFill>
                <a:latin typeface="Malgun Gothic"/>
                <a:cs typeface="Malgun Gothic"/>
              </a:rPr>
              <a:t>표는</a:t>
            </a:r>
            <a:r>
              <a:rPr dirty="0" sz="950" spc="-95">
                <a:solidFill>
                  <a:srgbClr val="6A6A6C"/>
                </a:solidFill>
                <a:latin typeface="Malgun Gothic"/>
                <a:cs typeface="Malgun Gothic"/>
              </a:rPr>
              <a:t> 별도 </a:t>
            </a:r>
            <a:r>
              <a:rPr dirty="0" sz="950" spc="-65">
                <a:solidFill>
                  <a:srgbClr val="6A6A6C"/>
                </a:solidFill>
                <a:latin typeface="Malgun Gothic"/>
                <a:cs typeface="Malgun Gothic"/>
              </a:rPr>
              <a:t>sub-</a:t>
            </a:r>
            <a:r>
              <a:rPr dirty="0" sz="950" spc="-60">
                <a:solidFill>
                  <a:srgbClr val="6A6A6C"/>
                </a:solidFill>
                <a:latin typeface="Malgun Gothic"/>
                <a:cs typeface="Malgun Gothic"/>
              </a:rPr>
              <a:t>slide</a:t>
            </a:r>
            <a:r>
              <a:rPr dirty="0" sz="950" spc="-6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6A6A6C"/>
                </a:solidFill>
                <a:latin typeface="Malgun Gothic"/>
                <a:cs typeface="Malgun Gothic"/>
              </a:rPr>
              <a:t>로</a:t>
            </a:r>
            <a:r>
              <a:rPr dirty="0" sz="950" spc="-10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6A6A6C"/>
                </a:solidFill>
                <a:latin typeface="Malgun Gothic"/>
                <a:cs typeface="Malgun Gothic"/>
              </a:rPr>
              <a:t>분리.</a:t>
            </a:r>
            <a:endParaRPr sz="950">
              <a:latin typeface="Malgun Gothic"/>
              <a:cs typeface="Malgun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86199" y="7219949"/>
            <a:ext cx="247649" cy="2476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965177" y="7238160"/>
            <a:ext cx="8572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 b="1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3961" y="7143844"/>
            <a:ext cx="2872740" cy="54229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50" spc="-100" b="1">
                <a:solidFill>
                  <a:srgbClr val="1C1C1F"/>
                </a:solidFill>
                <a:latin typeface="Malgun Gothic"/>
                <a:cs typeface="Malgun Gothic"/>
              </a:rPr>
              <a:t>Key-</a:t>
            </a:r>
            <a:r>
              <a:rPr dirty="0" sz="1150" spc="-125" b="1">
                <a:solidFill>
                  <a:srgbClr val="1C1C1F"/>
                </a:solidFill>
                <a:latin typeface="Malgun Gothic"/>
                <a:cs typeface="Malgun Gothic"/>
              </a:rPr>
              <a:t>Value</a:t>
            </a:r>
            <a:r>
              <a:rPr dirty="0" sz="1150" spc="-8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추출</a:t>
            </a:r>
            <a:endParaRPr sz="1100">
              <a:latin typeface="Malgun Gothic"/>
              <a:cs typeface="Malgun Gothic"/>
            </a:endParaRPr>
          </a:p>
          <a:p>
            <a:pPr marL="12700" marR="5080">
              <a:lnSpc>
                <a:spcPct val="105300"/>
              </a:lnSpc>
              <a:spcBef>
                <a:spcPts val="105"/>
              </a:spcBef>
            </a:pPr>
            <a:r>
              <a:rPr dirty="0" sz="950" spc="-135">
                <a:solidFill>
                  <a:srgbClr val="6A6A6C"/>
                </a:solidFill>
                <a:latin typeface="Malgun Gothic"/>
                <a:cs typeface="Malgun Gothic"/>
              </a:rPr>
              <a:t>비전-</a:t>
            </a:r>
            <a:r>
              <a:rPr dirty="0" sz="950" spc="-210">
                <a:solidFill>
                  <a:srgbClr val="6A6A6C"/>
                </a:solidFill>
                <a:latin typeface="Malgun Gothic"/>
                <a:cs typeface="Malgun Gothic"/>
              </a:rPr>
              <a:t>언어</a:t>
            </a:r>
            <a:r>
              <a:rPr dirty="0" sz="950" spc="-4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90">
                <a:solidFill>
                  <a:srgbClr val="6A6A6C"/>
                </a:solidFill>
                <a:latin typeface="Malgun Gothic"/>
                <a:cs typeface="Malgun Gothic"/>
              </a:rPr>
              <a:t>모델이</a:t>
            </a:r>
            <a:r>
              <a:rPr dirty="0" sz="950" spc="-4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80">
                <a:solidFill>
                  <a:srgbClr val="6A6A6C"/>
                </a:solidFill>
                <a:latin typeface="Malgun Gothic"/>
                <a:cs typeface="Malgun Gothic"/>
              </a:rPr>
              <a:t>슬라이드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6A6A6C"/>
                </a:solidFill>
                <a:latin typeface="Malgun Gothic"/>
                <a:cs typeface="Malgun Gothic"/>
              </a:rPr>
              <a:t>이미지를</a:t>
            </a:r>
            <a:r>
              <a:rPr dirty="0" sz="950" spc="-114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6A6A6C"/>
                </a:solidFill>
                <a:latin typeface="Malgun Gothic"/>
                <a:cs typeface="Malgun Gothic"/>
              </a:rPr>
              <a:t>읽고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210">
                <a:solidFill>
                  <a:srgbClr val="6A6A6C"/>
                </a:solidFill>
                <a:latin typeface="Malgun Gothic"/>
                <a:cs typeface="Malgun Gothic"/>
              </a:rPr>
              <a:t>초기</a:t>
            </a:r>
            <a:r>
              <a:rPr dirty="0" sz="950" spc="-4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85">
                <a:solidFill>
                  <a:srgbClr val="6A6A6C"/>
                </a:solidFill>
                <a:latin typeface="Malgun Gothic"/>
                <a:cs typeface="Malgun Gothic"/>
              </a:rPr>
              <a:t>JSON</a:t>
            </a:r>
            <a:r>
              <a:rPr dirty="0" sz="950" spc="-4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6A6A6C"/>
                </a:solidFill>
                <a:latin typeface="Malgun Gothic"/>
                <a:cs typeface="Malgun Gothic"/>
              </a:rPr>
              <a:t>을</a:t>
            </a:r>
            <a:r>
              <a:rPr dirty="0" sz="950" spc="-114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65">
                <a:solidFill>
                  <a:srgbClr val="6A6A6C"/>
                </a:solidFill>
                <a:latin typeface="Malgun Gothic"/>
                <a:cs typeface="Malgun Gothic"/>
              </a:rPr>
              <a:t>만든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60">
                <a:solidFill>
                  <a:srgbClr val="6A6A6C"/>
                </a:solidFill>
                <a:latin typeface="Malgun Gothic"/>
                <a:cs typeface="Malgun Gothic"/>
              </a:rPr>
              <a:t>뒤 </a:t>
            </a:r>
            <a:r>
              <a:rPr dirty="0" sz="950" spc="-10">
                <a:solidFill>
                  <a:srgbClr val="6A6A6C"/>
                </a:solidFill>
                <a:latin typeface="Malgun Gothic"/>
                <a:cs typeface="Malgun Gothic"/>
              </a:rPr>
              <a:t>refine.</a:t>
            </a:r>
            <a:endParaRPr sz="950">
              <a:latin typeface="Malgun Gothic"/>
              <a:cs typeface="Malgun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999" y="7848599"/>
            <a:ext cx="247650" cy="2476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1466" y="7876335"/>
            <a:ext cx="8572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 b="1">
                <a:solidFill>
                  <a:srgbClr val="FFFFFF"/>
                </a:solidFill>
                <a:latin typeface="Malgun Gothic"/>
                <a:cs typeface="Malgun Gothic"/>
              </a:rPr>
              <a:t>3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0249" y="7776188"/>
            <a:ext cx="2379980" cy="38671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100" spc="-210" b="1">
                <a:solidFill>
                  <a:srgbClr val="1C1C1F"/>
                </a:solidFill>
                <a:latin typeface="Malgun Gothic"/>
                <a:cs typeface="Malgun Gothic"/>
              </a:rPr>
              <a:t>중첩</a:t>
            </a:r>
            <a:r>
              <a:rPr dirty="0" sz="1100" spc="-8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150" b="1">
                <a:solidFill>
                  <a:srgbClr val="1C1C1F"/>
                </a:solidFill>
                <a:latin typeface="Malgun Gothic"/>
                <a:cs typeface="Malgun Gothic"/>
              </a:rPr>
              <a:t>표</a:t>
            </a:r>
            <a:r>
              <a:rPr dirty="0" sz="1100" spc="-16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분석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950" spc="-95">
                <a:solidFill>
                  <a:srgbClr val="6A6A6C"/>
                </a:solidFill>
                <a:latin typeface="Malgun Gothic"/>
                <a:cs typeface="Malgun Gothic"/>
              </a:rPr>
              <a:t>VQA</a:t>
            </a:r>
            <a:r>
              <a:rPr dirty="0" sz="950" spc="-114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65">
                <a:solidFill>
                  <a:srgbClr val="6A6A6C"/>
                </a:solidFill>
                <a:latin typeface="Malgun Gothic"/>
                <a:cs typeface="Malgun Gothic"/>
              </a:rPr>
              <a:t>단계가</a:t>
            </a:r>
            <a:r>
              <a:rPr dirty="0" sz="950" spc="-14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90">
                <a:solidFill>
                  <a:srgbClr val="6A6A6C"/>
                </a:solidFill>
                <a:latin typeface="Malgun Gothic"/>
                <a:cs typeface="Malgun Gothic"/>
              </a:rPr>
              <a:t>마스킹된</a:t>
            </a:r>
            <a:r>
              <a:rPr dirty="0" sz="950" spc="-5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6A6A6C"/>
                </a:solidFill>
                <a:latin typeface="Malgun Gothic"/>
                <a:cs typeface="Malgun Gothic"/>
              </a:rPr>
              <a:t>복잡한</a:t>
            </a:r>
            <a:r>
              <a:rPr dirty="0" sz="950" spc="-13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204">
                <a:solidFill>
                  <a:srgbClr val="6A6A6C"/>
                </a:solidFill>
                <a:latin typeface="Malgun Gothic"/>
                <a:cs typeface="Malgun Gothic"/>
              </a:rPr>
              <a:t>표의</a:t>
            </a:r>
            <a:r>
              <a:rPr dirty="0" sz="950" spc="-3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10">
                <a:solidFill>
                  <a:srgbClr val="6A6A6C"/>
                </a:solidFill>
                <a:latin typeface="Malgun Gothic"/>
                <a:cs typeface="Malgun Gothic"/>
              </a:rPr>
              <a:t>행·</a:t>
            </a:r>
            <a:r>
              <a:rPr dirty="0" sz="950" spc="-24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90">
                <a:solidFill>
                  <a:srgbClr val="6A6A6C"/>
                </a:solidFill>
                <a:latin typeface="Malgun Gothic"/>
                <a:cs typeface="Malgun Gothic"/>
              </a:rPr>
              <a:t>열</a:t>
            </a:r>
            <a:r>
              <a:rPr dirty="0" sz="950" spc="-7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6A6A6C"/>
                </a:solidFill>
                <a:latin typeface="Malgun Gothic"/>
                <a:cs typeface="Malgun Gothic"/>
              </a:rPr>
              <a:t>구조를</a:t>
            </a:r>
            <a:r>
              <a:rPr dirty="0" sz="950" spc="-11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90">
                <a:solidFill>
                  <a:srgbClr val="6A6A6C"/>
                </a:solidFill>
                <a:latin typeface="Malgun Gothic"/>
                <a:cs typeface="Malgun Gothic"/>
              </a:rPr>
              <a:t>복원.</a:t>
            </a:r>
            <a:endParaRPr sz="950">
              <a:latin typeface="Malgun Gothic"/>
              <a:cs typeface="Malgun Gothic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86199" y="7848599"/>
            <a:ext cx="247649" cy="2476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962945" y="7876335"/>
            <a:ext cx="9461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 b="1">
                <a:solidFill>
                  <a:srgbClr val="FFFFFF"/>
                </a:solidFill>
                <a:latin typeface="Malgun Gothic"/>
                <a:cs typeface="Malgun Gothic"/>
              </a:rPr>
              <a:t>4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3961" y="7772495"/>
            <a:ext cx="2519680" cy="38989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 spc="-165" b="1">
                <a:solidFill>
                  <a:srgbClr val="1C1C1F"/>
                </a:solidFill>
                <a:latin typeface="Malgun Gothic"/>
                <a:cs typeface="Malgun Gothic"/>
              </a:rPr>
              <a:t>병합</a:t>
            </a:r>
            <a:r>
              <a:rPr dirty="0" sz="1100" spc="-18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50" spc="-80" b="1">
                <a:solidFill>
                  <a:srgbClr val="1C1C1F"/>
                </a:solidFill>
                <a:latin typeface="Malgun Gothic"/>
                <a:cs typeface="Malgun Gothic"/>
              </a:rPr>
              <a:t>·</a:t>
            </a:r>
            <a:r>
              <a:rPr dirty="0" sz="1150" spc="-2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후처리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50" spc="-165">
                <a:solidFill>
                  <a:srgbClr val="6A6A6C"/>
                </a:solidFill>
                <a:latin typeface="Malgun Gothic"/>
                <a:cs typeface="Malgun Gothic"/>
              </a:rPr>
              <a:t>본문과</a:t>
            </a:r>
            <a:r>
              <a:rPr dirty="0" sz="950" spc="-16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6A6A6C"/>
                </a:solidFill>
                <a:latin typeface="Malgun Gothic"/>
                <a:cs typeface="Malgun Gothic"/>
              </a:rPr>
              <a:t>표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85">
                <a:solidFill>
                  <a:srgbClr val="6A6A6C"/>
                </a:solidFill>
                <a:latin typeface="Malgun Gothic"/>
                <a:cs typeface="Malgun Gothic"/>
              </a:rPr>
              <a:t>JSON</a:t>
            </a:r>
            <a:r>
              <a:rPr dirty="0" sz="950" spc="-4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6A6A6C"/>
                </a:solidFill>
                <a:latin typeface="Malgun Gothic"/>
                <a:cs typeface="Malgun Gothic"/>
              </a:rPr>
              <a:t>을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90">
                <a:solidFill>
                  <a:srgbClr val="6A6A6C"/>
                </a:solidFill>
                <a:latin typeface="Malgun Gothic"/>
                <a:cs typeface="Malgun Gothic"/>
              </a:rPr>
              <a:t>하나의</a:t>
            </a:r>
            <a:r>
              <a:rPr dirty="0" sz="950" spc="-4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90">
                <a:solidFill>
                  <a:srgbClr val="6A6A6C"/>
                </a:solidFill>
                <a:latin typeface="Malgun Gothic"/>
                <a:cs typeface="Malgun Gothic"/>
              </a:rPr>
              <a:t>구조화된</a:t>
            </a:r>
            <a:r>
              <a:rPr dirty="0" sz="950" spc="-6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6A6A6C"/>
                </a:solidFill>
                <a:latin typeface="Malgun Gothic"/>
                <a:cs typeface="Malgun Gothic"/>
              </a:rPr>
              <a:t>문서로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6A6A6C"/>
                </a:solidFill>
                <a:latin typeface="Malgun Gothic"/>
                <a:cs typeface="Malgun Gothic"/>
              </a:rPr>
              <a:t>합치고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85">
                <a:solidFill>
                  <a:srgbClr val="6A6A6C"/>
                </a:solidFill>
                <a:latin typeface="Malgun Gothic"/>
                <a:cs typeface="Malgun Gothic"/>
              </a:rPr>
              <a:t>정제.</a:t>
            </a:r>
            <a:endParaRPr sz="950">
              <a:latin typeface="Malgun Gothic"/>
              <a:cs typeface="Malgun Gothic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999" y="8324849"/>
            <a:ext cx="247650" cy="2476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63103" y="8343060"/>
            <a:ext cx="838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 b="1">
                <a:solidFill>
                  <a:srgbClr val="FFFFFF"/>
                </a:solidFill>
                <a:latin typeface="Malgun Gothic"/>
                <a:cs typeface="Malgun Gothic"/>
              </a:rPr>
              <a:t>5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249" y="8248745"/>
            <a:ext cx="2753360" cy="38989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50" spc="-150" b="1">
                <a:solidFill>
                  <a:srgbClr val="1C1C1F"/>
                </a:solidFill>
                <a:latin typeface="Malgun Gothic"/>
                <a:cs typeface="Malgun Gothic"/>
              </a:rPr>
              <a:t>JSON</a:t>
            </a:r>
            <a:r>
              <a:rPr dirty="0" sz="1150" spc="-9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50" spc="-80" b="1">
                <a:solidFill>
                  <a:srgbClr val="1C1C1F"/>
                </a:solidFill>
                <a:latin typeface="Malgun Gothic"/>
                <a:cs typeface="Malgun Gothic"/>
              </a:rPr>
              <a:t>·</a:t>
            </a:r>
            <a:r>
              <a:rPr dirty="0" sz="1150" spc="-2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50" spc="-95" b="1">
                <a:solidFill>
                  <a:srgbClr val="1C1C1F"/>
                </a:solidFill>
                <a:latin typeface="Malgun Gothic"/>
                <a:cs typeface="Malgun Gothic"/>
              </a:rPr>
              <a:t>Excel</a:t>
            </a:r>
            <a:r>
              <a:rPr dirty="0" sz="1150" spc="-5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20" b="1">
                <a:solidFill>
                  <a:srgbClr val="1C1C1F"/>
                </a:solidFill>
                <a:latin typeface="Malgun Gothic"/>
                <a:cs typeface="Malgun Gothic"/>
              </a:rPr>
              <a:t>내보내기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50" spc="-170">
                <a:solidFill>
                  <a:srgbClr val="6A6A6C"/>
                </a:solidFill>
                <a:latin typeface="Malgun Gothic"/>
                <a:cs typeface="Malgun Gothic"/>
              </a:rPr>
              <a:t>결과를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85">
                <a:solidFill>
                  <a:srgbClr val="6A6A6C"/>
                </a:solidFill>
                <a:latin typeface="Malgun Gothic"/>
                <a:cs typeface="Malgun Gothic"/>
              </a:rPr>
              <a:t>JSON</a:t>
            </a:r>
            <a:r>
              <a:rPr dirty="0" sz="950" spc="-4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0">
                <a:solidFill>
                  <a:srgbClr val="6A6A6C"/>
                </a:solidFill>
                <a:latin typeface="Malgun Gothic"/>
                <a:cs typeface="Malgun Gothic"/>
              </a:rPr>
              <a:t>으로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65">
                <a:solidFill>
                  <a:srgbClr val="6A6A6C"/>
                </a:solidFill>
                <a:latin typeface="Malgun Gothic"/>
                <a:cs typeface="Malgun Gothic"/>
              </a:rPr>
              <a:t>제공하고,</a:t>
            </a:r>
            <a:r>
              <a:rPr dirty="0" sz="950" spc="-1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90">
                <a:solidFill>
                  <a:srgbClr val="6A6A6C"/>
                </a:solidFill>
                <a:latin typeface="Malgun Gothic"/>
                <a:cs typeface="Malgun Gothic"/>
              </a:rPr>
              <a:t>동일</a:t>
            </a:r>
            <a:r>
              <a:rPr dirty="0" sz="950" spc="-7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75">
                <a:solidFill>
                  <a:srgbClr val="6A6A6C"/>
                </a:solidFill>
                <a:latin typeface="Malgun Gothic"/>
                <a:cs typeface="Malgun Gothic"/>
              </a:rPr>
              <a:t>데이터를</a:t>
            </a:r>
            <a:r>
              <a:rPr dirty="0" sz="950" spc="-120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6A6A6C"/>
                </a:solidFill>
                <a:latin typeface="Malgun Gothic"/>
                <a:cs typeface="Malgun Gothic"/>
              </a:rPr>
              <a:t>.xlsx</a:t>
            </a:r>
            <a:r>
              <a:rPr dirty="0" sz="950" spc="-95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50">
                <a:solidFill>
                  <a:srgbClr val="6A6A6C"/>
                </a:solidFill>
                <a:latin typeface="Malgun Gothic"/>
                <a:cs typeface="Malgun Gothic"/>
              </a:rPr>
              <a:t>로</a:t>
            </a:r>
            <a:r>
              <a:rPr dirty="0" sz="950" spc="-114">
                <a:solidFill>
                  <a:srgbClr val="6A6A6C"/>
                </a:solidFill>
                <a:latin typeface="Malgun Gothic"/>
                <a:cs typeface="Malgun Gothic"/>
              </a:rPr>
              <a:t> </a:t>
            </a:r>
            <a:r>
              <a:rPr dirty="0" sz="950" spc="-125">
                <a:solidFill>
                  <a:srgbClr val="6A6A6C"/>
                </a:solidFill>
                <a:latin typeface="Malgun Gothic"/>
                <a:cs typeface="Malgun Gothic"/>
              </a:rPr>
              <a:t>다운로드.</a:t>
            </a:r>
            <a:endParaRPr sz="95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0999" y="9515474"/>
            <a:ext cx="6800850" cy="352425"/>
            <a:chOff x="380999" y="9515474"/>
            <a:chExt cx="6800850" cy="352425"/>
          </a:xfrm>
        </p:grpSpPr>
        <p:sp>
          <p:nvSpPr>
            <p:cNvPr id="28" name="object 28"/>
            <p:cNvSpPr/>
            <p:nvPr/>
          </p:nvSpPr>
          <p:spPr>
            <a:xfrm>
              <a:off x="385762" y="9520236"/>
              <a:ext cx="6791325" cy="342900"/>
            </a:xfrm>
            <a:custGeom>
              <a:avLst/>
              <a:gdLst/>
              <a:ahLst/>
              <a:cxnLst/>
              <a:rect l="l" t="t" r="r" b="b"/>
              <a:pathLst>
                <a:path w="6791325" h="342900">
                  <a:moveTo>
                    <a:pt x="6619874" y="342899"/>
                  </a:moveTo>
                  <a:lnTo>
                    <a:pt x="171449" y="342899"/>
                  </a:lnTo>
                  <a:lnTo>
                    <a:pt x="163027" y="342693"/>
                  </a:lnTo>
                  <a:lnTo>
                    <a:pt x="121680" y="335518"/>
                  </a:lnTo>
                  <a:lnTo>
                    <a:pt x="83315" y="318512"/>
                  </a:lnTo>
                  <a:lnTo>
                    <a:pt x="50216" y="292682"/>
                  </a:lnTo>
                  <a:lnTo>
                    <a:pt x="24386" y="259583"/>
                  </a:lnTo>
                  <a:lnTo>
                    <a:pt x="7380" y="221218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8"/>
                  </a:lnTo>
                  <a:lnTo>
                    <a:pt x="24386" y="83313"/>
                  </a:lnTo>
                  <a:lnTo>
                    <a:pt x="50216" y="50215"/>
                  </a:lnTo>
                  <a:lnTo>
                    <a:pt x="83315" y="24384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6619874" y="0"/>
                  </a:lnTo>
                  <a:lnTo>
                    <a:pt x="6661542" y="5139"/>
                  </a:lnTo>
                  <a:lnTo>
                    <a:pt x="6700695" y="20241"/>
                  </a:lnTo>
                  <a:lnTo>
                    <a:pt x="6735005" y="44405"/>
                  </a:lnTo>
                  <a:lnTo>
                    <a:pt x="6762428" y="76195"/>
                  </a:lnTo>
                  <a:lnTo>
                    <a:pt x="6781305" y="113698"/>
                  </a:lnTo>
                  <a:lnTo>
                    <a:pt x="6790500" y="154644"/>
                  </a:lnTo>
                  <a:lnTo>
                    <a:pt x="6791324" y="171449"/>
                  </a:lnTo>
                  <a:lnTo>
                    <a:pt x="6791118" y="179872"/>
                  </a:lnTo>
                  <a:lnTo>
                    <a:pt x="6783942" y="221218"/>
                  </a:lnTo>
                  <a:lnTo>
                    <a:pt x="6766936" y="259582"/>
                  </a:lnTo>
                  <a:lnTo>
                    <a:pt x="6741107" y="292682"/>
                  </a:lnTo>
                  <a:lnTo>
                    <a:pt x="6708008" y="318512"/>
                  </a:lnTo>
                  <a:lnTo>
                    <a:pt x="6669643" y="335517"/>
                  </a:lnTo>
                  <a:lnTo>
                    <a:pt x="6628297" y="342693"/>
                  </a:lnTo>
                  <a:lnTo>
                    <a:pt x="6619874" y="342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85762" y="9520236"/>
              <a:ext cx="6791325" cy="342900"/>
            </a:xfrm>
            <a:custGeom>
              <a:avLst/>
              <a:gdLst/>
              <a:ahLst/>
              <a:cxnLst/>
              <a:rect l="l" t="t" r="r" b="b"/>
              <a:pathLst>
                <a:path w="6791325" h="342900">
                  <a:moveTo>
                    <a:pt x="0" y="171449"/>
                  </a:moveTo>
                  <a:lnTo>
                    <a:pt x="5139" y="129779"/>
                  </a:lnTo>
                  <a:lnTo>
                    <a:pt x="20242" y="90626"/>
                  </a:lnTo>
                  <a:lnTo>
                    <a:pt x="44406" y="56316"/>
                  </a:lnTo>
                  <a:lnTo>
                    <a:pt x="76197" y="28893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6619874" y="0"/>
                  </a:lnTo>
                  <a:lnTo>
                    <a:pt x="6661542" y="5139"/>
                  </a:lnTo>
                  <a:lnTo>
                    <a:pt x="6700695" y="20241"/>
                  </a:lnTo>
                  <a:lnTo>
                    <a:pt x="6735005" y="44405"/>
                  </a:lnTo>
                  <a:lnTo>
                    <a:pt x="6762428" y="76195"/>
                  </a:lnTo>
                  <a:lnTo>
                    <a:pt x="6781305" y="113698"/>
                  </a:lnTo>
                  <a:lnTo>
                    <a:pt x="6790500" y="154644"/>
                  </a:lnTo>
                  <a:lnTo>
                    <a:pt x="6791324" y="171449"/>
                  </a:lnTo>
                  <a:lnTo>
                    <a:pt x="6791118" y="179872"/>
                  </a:lnTo>
                  <a:lnTo>
                    <a:pt x="6783942" y="221218"/>
                  </a:lnTo>
                  <a:lnTo>
                    <a:pt x="6766936" y="259582"/>
                  </a:lnTo>
                  <a:lnTo>
                    <a:pt x="6741107" y="292682"/>
                  </a:lnTo>
                  <a:lnTo>
                    <a:pt x="6708008" y="318512"/>
                  </a:lnTo>
                  <a:lnTo>
                    <a:pt x="6669643" y="335517"/>
                  </a:lnTo>
                  <a:lnTo>
                    <a:pt x="6628297" y="342693"/>
                  </a:lnTo>
                  <a:lnTo>
                    <a:pt x="6619874" y="342899"/>
                  </a:lnTo>
                  <a:lnTo>
                    <a:pt x="171449" y="342899"/>
                  </a:lnTo>
                  <a:lnTo>
                    <a:pt x="129780" y="337759"/>
                  </a:lnTo>
                  <a:lnTo>
                    <a:pt x="90628" y="322656"/>
                  </a:lnTo>
                  <a:lnTo>
                    <a:pt x="56317" y="298492"/>
                  </a:lnTo>
                  <a:lnTo>
                    <a:pt x="28894" y="266701"/>
                  </a:lnTo>
                  <a:lnTo>
                    <a:pt x="10017" y="229199"/>
                  </a:lnTo>
                  <a:lnTo>
                    <a:pt x="823" y="188254"/>
                  </a:lnTo>
                  <a:lnTo>
                    <a:pt x="0" y="171449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3143249" y="9982200"/>
            <a:ext cx="1276350" cy="409575"/>
          </a:xfrm>
          <a:custGeom>
            <a:avLst/>
            <a:gdLst/>
            <a:ahLst/>
            <a:cxnLst/>
            <a:rect l="l" t="t" r="r" b="b"/>
            <a:pathLst>
              <a:path w="1276350" h="409575">
                <a:moveTo>
                  <a:pt x="1078269" y="409573"/>
                </a:moveTo>
                <a:lnTo>
                  <a:pt x="198080" y="409573"/>
                </a:lnTo>
                <a:lnTo>
                  <a:pt x="191389" y="409244"/>
                </a:lnTo>
                <a:lnTo>
                  <a:pt x="151758" y="402702"/>
                </a:lnTo>
                <a:lnTo>
                  <a:pt x="114166" y="388553"/>
                </a:lnTo>
                <a:lnTo>
                  <a:pt x="80056" y="367343"/>
                </a:lnTo>
                <a:lnTo>
                  <a:pt x="50739" y="339886"/>
                </a:lnTo>
                <a:lnTo>
                  <a:pt x="27342" y="307237"/>
                </a:lnTo>
                <a:lnTo>
                  <a:pt x="10764" y="270649"/>
                </a:lnTo>
                <a:lnTo>
                  <a:pt x="1643" y="231532"/>
                </a:lnTo>
                <a:lnTo>
                  <a:pt x="0" y="211494"/>
                </a:lnTo>
                <a:lnTo>
                  <a:pt x="0" y="204786"/>
                </a:lnTo>
                <a:lnTo>
                  <a:pt x="0" y="198079"/>
                </a:lnTo>
                <a:lnTo>
                  <a:pt x="5243" y="158256"/>
                </a:lnTo>
                <a:lnTo>
                  <a:pt x="18154" y="120220"/>
                </a:lnTo>
                <a:lnTo>
                  <a:pt x="38238" y="85435"/>
                </a:lnTo>
                <a:lnTo>
                  <a:pt x="64723" y="55236"/>
                </a:lnTo>
                <a:lnTo>
                  <a:pt x="96590" y="30785"/>
                </a:lnTo>
                <a:lnTo>
                  <a:pt x="132615" y="13020"/>
                </a:lnTo>
                <a:lnTo>
                  <a:pt x="171413" y="2625"/>
                </a:lnTo>
                <a:lnTo>
                  <a:pt x="198080" y="0"/>
                </a:lnTo>
                <a:lnTo>
                  <a:pt x="1078269" y="0"/>
                </a:lnTo>
                <a:lnTo>
                  <a:pt x="1118092" y="5242"/>
                </a:lnTo>
                <a:lnTo>
                  <a:pt x="1156126" y="18153"/>
                </a:lnTo>
                <a:lnTo>
                  <a:pt x="1190912" y="38237"/>
                </a:lnTo>
                <a:lnTo>
                  <a:pt x="1221111" y="64722"/>
                </a:lnTo>
                <a:lnTo>
                  <a:pt x="1245562" y="96588"/>
                </a:lnTo>
                <a:lnTo>
                  <a:pt x="1263327" y="132613"/>
                </a:lnTo>
                <a:lnTo>
                  <a:pt x="1273723" y="171412"/>
                </a:lnTo>
                <a:lnTo>
                  <a:pt x="1276350" y="198079"/>
                </a:lnTo>
                <a:lnTo>
                  <a:pt x="1276350" y="211494"/>
                </a:lnTo>
                <a:lnTo>
                  <a:pt x="1271106" y="251314"/>
                </a:lnTo>
                <a:lnTo>
                  <a:pt x="1258194" y="289349"/>
                </a:lnTo>
                <a:lnTo>
                  <a:pt x="1238110" y="324136"/>
                </a:lnTo>
                <a:lnTo>
                  <a:pt x="1211626" y="354335"/>
                </a:lnTo>
                <a:lnTo>
                  <a:pt x="1179758" y="378786"/>
                </a:lnTo>
                <a:lnTo>
                  <a:pt x="1143734" y="396550"/>
                </a:lnTo>
                <a:lnTo>
                  <a:pt x="1104936" y="406947"/>
                </a:lnTo>
                <a:lnTo>
                  <a:pt x="1084960" y="409244"/>
                </a:lnTo>
                <a:lnTo>
                  <a:pt x="1078269" y="409573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296666" y="9583284"/>
            <a:ext cx="2966720" cy="690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000" spc="-75">
                <a:solidFill>
                  <a:srgbClr val="4C4C4F"/>
                </a:solidFill>
                <a:latin typeface="Malgun Gothic"/>
                <a:cs typeface="Malgun Gothic"/>
              </a:rPr>
              <a:t>FastAPI</a:t>
            </a:r>
            <a:r>
              <a:rPr dirty="0" sz="1000" spc="-2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4C4C4F"/>
                </a:solidFill>
                <a:latin typeface="Malgun Gothic"/>
                <a:cs typeface="Malgun Gothic"/>
              </a:rPr>
              <a:t>·</a:t>
            </a:r>
            <a:r>
              <a:rPr dirty="0" sz="1000" spc="-5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70">
                <a:solidFill>
                  <a:srgbClr val="4C4C4F"/>
                </a:solidFill>
                <a:latin typeface="Malgun Gothic"/>
                <a:cs typeface="Malgun Gothic"/>
              </a:rPr>
              <a:t>React</a:t>
            </a:r>
            <a:r>
              <a:rPr dirty="0" sz="1000" spc="-9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4C4C4F"/>
                </a:solidFill>
                <a:latin typeface="Malgun Gothic"/>
                <a:cs typeface="Malgun Gothic"/>
              </a:rPr>
              <a:t>·</a:t>
            </a:r>
            <a:r>
              <a:rPr dirty="0" sz="1000" spc="-5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60">
                <a:solidFill>
                  <a:srgbClr val="4C4C4F"/>
                </a:solidFill>
                <a:latin typeface="Malgun Gothic"/>
                <a:cs typeface="Malgun Gothic"/>
              </a:rPr>
              <a:t>LibreOffice</a:t>
            </a:r>
            <a:r>
              <a:rPr dirty="0" sz="1000" spc="-10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4C4C4F"/>
                </a:solidFill>
                <a:latin typeface="Malgun Gothic"/>
                <a:cs typeface="Malgun Gothic"/>
              </a:rPr>
              <a:t>·</a:t>
            </a:r>
            <a:r>
              <a:rPr dirty="0" sz="1000" spc="-5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05">
                <a:solidFill>
                  <a:srgbClr val="4C4C4F"/>
                </a:solidFill>
                <a:latin typeface="Malgun Gothic"/>
                <a:cs typeface="Malgun Gothic"/>
              </a:rPr>
              <a:t>OpenAI</a:t>
            </a:r>
            <a:r>
              <a:rPr dirty="0" sz="1000" spc="-2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4C4C4F"/>
                </a:solidFill>
                <a:latin typeface="Malgun Gothic"/>
                <a:cs typeface="Malgun Gothic"/>
              </a:rPr>
              <a:t>·</a:t>
            </a:r>
            <a:r>
              <a:rPr dirty="0" sz="1000" spc="-5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4C4C4F"/>
                </a:solidFill>
                <a:latin typeface="Malgun Gothic"/>
                <a:cs typeface="Malgun Gothic"/>
              </a:rPr>
              <a:t>LangChain</a:t>
            </a:r>
            <a:r>
              <a:rPr dirty="0" sz="1000" spc="-65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4C4C4F"/>
                </a:solidFill>
                <a:latin typeface="Malgun Gothic"/>
                <a:cs typeface="Malgun Gothic"/>
              </a:rPr>
              <a:t>·</a:t>
            </a:r>
            <a:r>
              <a:rPr dirty="0" sz="1000" spc="-10">
                <a:solidFill>
                  <a:srgbClr val="4C4C4F"/>
                </a:solidFill>
                <a:latin typeface="Malgun Gothic"/>
                <a:cs typeface="Malgun Gothic"/>
              </a:rPr>
              <a:t> Docker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Malgun Gothic"/>
              <a:cs typeface="Malgun Gothic"/>
            </a:endParaRPr>
          </a:p>
          <a:p>
            <a:pPr algn="ctr" marR="635">
              <a:lnSpc>
                <a:spcPct val="100000"/>
              </a:lnSpc>
            </a:pPr>
            <a:r>
              <a:rPr dirty="0" sz="1200" spc="-110" b="1">
                <a:solidFill>
                  <a:srgbClr val="FFFFFF"/>
                </a:solidFill>
                <a:latin typeface="Malgun Gothic"/>
                <a:cs typeface="Malgun Gothic"/>
              </a:rPr>
              <a:t>Get</a:t>
            </a:r>
            <a:r>
              <a:rPr dirty="0" sz="1200" spc="-10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Malgun Gothic"/>
                <a:cs typeface="Malgun Gothic"/>
              </a:rPr>
              <a:t>Started.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4562" y="215900"/>
            <a:ext cx="13779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P</a:t>
            </a:r>
            <a:r>
              <a:rPr dirty="0" sz="800" spc="-120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spc="-155" b="1">
                <a:solidFill>
                  <a:srgbClr val="0066CC"/>
                </a:solidFill>
                <a:latin typeface="Tahoma"/>
                <a:cs typeface="Tahoma"/>
              </a:rPr>
              <a:t>I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P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ELI</a:t>
            </a:r>
            <a:r>
              <a:rPr dirty="0" sz="800" spc="-120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0066CC"/>
                </a:solidFill>
                <a:latin typeface="Tahoma"/>
                <a:cs typeface="Tahoma"/>
              </a:rPr>
              <a:t>N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E</a:t>
            </a:r>
            <a:r>
              <a:rPr dirty="0" sz="800" spc="260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·</a:t>
            </a:r>
            <a:r>
              <a:rPr dirty="0" sz="800" spc="260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P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P</a:t>
            </a:r>
            <a:r>
              <a:rPr dirty="0" sz="800" spc="-120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T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0066CC"/>
                </a:solidFill>
                <a:latin typeface="Tahoma"/>
                <a:cs typeface="Tahoma"/>
              </a:rPr>
              <a:t>2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spc="90" b="1">
                <a:solidFill>
                  <a:srgbClr val="0066CC"/>
                </a:solidFill>
                <a:latin typeface="Tahoma"/>
                <a:cs typeface="Tahoma"/>
              </a:rPr>
              <a:t>JS</a:t>
            </a:r>
            <a:r>
              <a:rPr dirty="0" sz="800" spc="-120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0066CC"/>
                </a:solidFill>
                <a:latin typeface="Tahoma"/>
                <a:cs typeface="Tahoma"/>
              </a:rPr>
              <a:t>O</a:t>
            </a:r>
            <a:r>
              <a:rPr dirty="0" sz="800" spc="-114" b="1">
                <a:solidFill>
                  <a:srgbClr val="0066CC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0066CC"/>
                </a:solidFill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54869" y="182666"/>
            <a:ext cx="5050155" cy="818515"/>
          </a:xfrm>
          <a:prstGeom prst="rect"/>
        </p:spPr>
        <p:txBody>
          <a:bodyPr wrap="square" lIns="0" tIns="18859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485"/>
              </a:spcBef>
            </a:pPr>
            <a:r>
              <a:rPr dirty="0" spc="-535"/>
              <a:t>슬라이드에서</a:t>
            </a:r>
            <a:r>
              <a:rPr dirty="0" spc="-229"/>
              <a:t> </a:t>
            </a:r>
            <a:r>
              <a:rPr dirty="0" spc="-455"/>
              <a:t>데이터까지</a:t>
            </a:r>
            <a:r>
              <a:rPr dirty="0" sz="2400" spc="-455">
                <a:latin typeface="Tahoma"/>
                <a:cs typeface="Tahoma"/>
              </a:rPr>
              <a:t>,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pc="-484">
                <a:solidFill>
                  <a:srgbClr val="797979"/>
                </a:solidFill>
              </a:rPr>
              <a:t>다섯</a:t>
            </a:r>
            <a:r>
              <a:rPr dirty="0" spc="-345">
                <a:solidFill>
                  <a:srgbClr val="797979"/>
                </a:solidFill>
              </a:rPr>
              <a:t> </a:t>
            </a:r>
            <a:r>
              <a:rPr dirty="0" spc="-415">
                <a:solidFill>
                  <a:srgbClr val="797979"/>
                </a:solidFill>
              </a:rPr>
              <a:t>단계</a:t>
            </a:r>
            <a:r>
              <a:rPr dirty="0" sz="2400" spc="-415">
                <a:solidFill>
                  <a:srgbClr val="797979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dirty="0" sz="1000" spc="-140" b="0">
                <a:solidFill>
                  <a:srgbClr val="4C4C4F"/>
                </a:solidFill>
                <a:latin typeface="Malgun Gothic"/>
                <a:cs typeface="Malgun Gothic"/>
              </a:rPr>
              <a:t>한글</a:t>
            </a:r>
            <a:r>
              <a:rPr dirty="0" sz="1000" spc="-114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55" b="0">
                <a:solidFill>
                  <a:srgbClr val="4C4C4F"/>
                </a:solidFill>
                <a:latin typeface="Malgun Gothic"/>
                <a:cs typeface="Malgun Gothic"/>
              </a:rPr>
              <a:t>슬라이드와</a:t>
            </a:r>
            <a:r>
              <a:rPr dirty="0" sz="1000" spc="-14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80" b="0">
                <a:solidFill>
                  <a:srgbClr val="4C4C4F"/>
                </a:solidFill>
                <a:latin typeface="Malgun Gothic"/>
                <a:cs typeface="Malgun Gothic"/>
              </a:rPr>
              <a:t>중첩</a:t>
            </a:r>
            <a:r>
              <a:rPr dirty="0" sz="1000" spc="-2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75" b="0">
                <a:solidFill>
                  <a:srgbClr val="4C4C4F"/>
                </a:solidFill>
                <a:latin typeface="Malgun Gothic"/>
                <a:cs typeface="Malgun Gothic"/>
              </a:rPr>
              <a:t>표까지</a:t>
            </a:r>
            <a:r>
              <a:rPr dirty="0" sz="1000" spc="-3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50" b="0">
                <a:solidFill>
                  <a:srgbClr val="4C4C4F"/>
                </a:solidFill>
                <a:latin typeface="Malgun Gothic"/>
                <a:cs typeface="Malgun Gothic"/>
              </a:rPr>
              <a:t>추출하는</a:t>
            </a:r>
            <a:r>
              <a:rPr dirty="0" sz="1000" spc="-114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25" b="0">
                <a:solidFill>
                  <a:srgbClr val="4C4C4F"/>
                </a:solidFill>
                <a:latin typeface="Malgun Gothic"/>
                <a:cs typeface="Malgun Gothic"/>
              </a:rPr>
              <a:t>비전</a:t>
            </a:r>
            <a:r>
              <a:rPr dirty="0" sz="950" spc="-125" b="0">
                <a:solidFill>
                  <a:srgbClr val="4C4C4F"/>
                </a:solidFill>
                <a:latin typeface="Trebuchet MS"/>
                <a:cs typeface="Trebuchet MS"/>
              </a:rPr>
              <a:t>-</a:t>
            </a:r>
            <a:r>
              <a:rPr dirty="0" sz="1000" spc="-180" b="0">
                <a:solidFill>
                  <a:srgbClr val="4C4C4F"/>
                </a:solidFill>
                <a:latin typeface="Malgun Gothic"/>
                <a:cs typeface="Malgun Gothic"/>
              </a:rPr>
              <a:t>언어</a:t>
            </a:r>
            <a:r>
              <a:rPr dirty="0" sz="1000" spc="-2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170" b="0">
                <a:solidFill>
                  <a:srgbClr val="4C4C4F"/>
                </a:solidFill>
                <a:latin typeface="Malgun Gothic"/>
                <a:cs typeface="Malgun Gothic"/>
              </a:rPr>
              <a:t>파이프라인이</a:t>
            </a:r>
            <a:r>
              <a:rPr dirty="0" sz="1000" spc="-3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950" spc="70" b="0">
                <a:solidFill>
                  <a:srgbClr val="4C4C4F"/>
                </a:solidFill>
                <a:latin typeface="Trebuchet MS"/>
                <a:cs typeface="Trebuchet MS"/>
              </a:rPr>
              <a:t>PPT</a:t>
            </a:r>
            <a:r>
              <a:rPr dirty="0" sz="950" spc="-5" b="0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1000" spc="-120" b="0">
                <a:solidFill>
                  <a:srgbClr val="4C4C4F"/>
                </a:solidFill>
                <a:latin typeface="Malgun Gothic"/>
                <a:cs typeface="Malgun Gothic"/>
              </a:rPr>
              <a:t>를</a:t>
            </a:r>
            <a:r>
              <a:rPr dirty="0" sz="1000" spc="-110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950" spc="100" b="0">
                <a:solidFill>
                  <a:srgbClr val="4C4C4F"/>
                </a:solidFill>
                <a:latin typeface="Trebuchet MS"/>
                <a:cs typeface="Trebuchet MS"/>
              </a:rPr>
              <a:t>JSON</a:t>
            </a:r>
            <a:r>
              <a:rPr dirty="0" sz="950" spc="-5" b="0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1000" spc="-90" b="0">
                <a:solidFill>
                  <a:srgbClr val="4C4C4F"/>
                </a:solidFill>
                <a:latin typeface="Malgun Gothic"/>
                <a:cs typeface="Malgun Gothic"/>
              </a:rPr>
              <a:t>과</a:t>
            </a:r>
            <a:r>
              <a:rPr dirty="0" sz="1000" spc="-145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950" b="0">
                <a:solidFill>
                  <a:srgbClr val="4C4C4F"/>
                </a:solidFill>
                <a:latin typeface="Trebuchet MS"/>
                <a:cs typeface="Trebuchet MS"/>
              </a:rPr>
              <a:t>Excel</a:t>
            </a:r>
            <a:r>
              <a:rPr dirty="0" sz="950" spc="-5" b="0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1000" spc="-120" b="0">
                <a:solidFill>
                  <a:srgbClr val="4C4C4F"/>
                </a:solidFill>
                <a:latin typeface="Malgun Gothic"/>
                <a:cs typeface="Malgun Gothic"/>
              </a:rPr>
              <a:t>로</a:t>
            </a:r>
            <a:r>
              <a:rPr dirty="0" sz="1000" spc="-114" b="0">
                <a:solidFill>
                  <a:srgbClr val="4C4C4F"/>
                </a:solidFill>
                <a:latin typeface="Malgun Gothic"/>
                <a:cs typeface="Malgun Gothic"/>
              </a:rPr>
              <a:t> </a:t>
            </a:r>
            <a:r>
              <a:rPr dirty="0" sz="1000" spc="-90" b="0">
                <a:solidFill>
                  <a:srgbClr val="4C4C4F"/>
                </a:solidFill>
                <a:latin typeface="Malgun Gothic"/>
                <a:cs typeface="Malgun Gothic"/>
              </a:rPr>
              <a:t>변환합니다</a:t>
            </a:r>
            <a:r>
              <a:rPr dirty="0" sz="950" spc="-90" b="0">
                <a:solidFill>
                  <a:srgbClr val="4C4C4F"/>
                </a:solidFill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4799" y="1952624"/>
            <a:ext cx="6953250" cy="1323975"/>
            <a:chOff x="304799" y="1952624"/>
            <a:chExt cx="6953250" cy="1323975"/>
          </a:xfrm>
        </p:grpSpPr>
        <p:sp>
          <p:nvSpPr>
            <p:cNvPr id="5" name="object 5"/>
            <p:cNvSpPr/>
            <p:nvPr/>
          </p:nvSpPr>
          <p:spPr>
            <a:xfrm>
              <a:off x="309562" y="1957387"/>
              <a:ext cx="6943725" cy="1314450"/>
            </a:xfrm>
            <a:custGeom>
              <a:avLst/>
              <a:gdLst/>
              <a:ahLst/>
              <a:cxnLst/>
              <a:rect l="l" t="t" r="r" b="b"/>
              <a:pathLst>
                <a:path w="6943725" h="1314450">
                  <a:moveTo>
                    <a:pt x="6823579" y="1314449"/>
                  </a:moveTo>
                  <a:lnTo>
                    <a:pt x="120144" y="1314449"/>
                  </a:lnTo>
                  <a:lnTo>
                    <a:pt x="111782" y="1313626"/>
                  </a:lnTo>
                  <a:lnTo>
                    <a:pt x="71578" y="1301430"/>
                  </a:lnTo>
                  <a:lnTo>
                    <a:pt x="31692" y="1270817"/>
                  </a:lnTo>
                  <a:lnTo>
                    <a:pt x="6557" y="1227269"/>
                  </a:lnTo>
                  <a:lnTo>
                    <a:pt x="0" y="1194305"/>
                  </a:lnTo>
                  <a:lnTo>
                    <a:pt x="0" y="1185862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6823579" y="0"/>
                  </a:lnTo>
                  <a:lnTo>
                    <a:pt x="6872144" y="13018"/>
                  </a:lnTo>
                  <a:lnTo>
                    <a:pt x="6912031" y="43632"/>
                  </a:lnTo>
                  <a:lnTo>
                    <a:pt x="6937165" y="87179"/>
                  </a:lnTo>
                  <a:lnTo>
                    <a:pt x="6943723" y="120144"/>
                  </a:lnTo>
                  <a:lnTo>
                    <a:pt x="6943723" y="1194305"/>
                  </a:lnTo>
                  <a:lnTo>
                    <a:pt x="6930704" y="1242870"/>
                  </a:lnTo>
                  <a:lnTo>
                    <a:pt x="6900091" y="1282757"/>
                  </a:lnTo>
                  <a:lnTo>
                    <a:pt x="6856543" y="1307892"/>
                  </a:lnTo>
                  <a:lnTo>
                    <a:pt x="6831941" y="1313626"/>
                  </a:lnTo>
                  <a:lnTo>
                    <a:pt x="6823579" y="1314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9562" y="1957387"/>
              <a:ext cx="6943725" cy="1314450"/>
            </a:xfrm>
            <a:custGeom>
              <a:avLst/>
              <a:gdLst/>
              <a:ahLst/>
              <a:cxnLst/>
              <a:rect l="l" t="t" r="r" b="b"/>
              <a:pathLst>
                <a:path w="6943725" h="1314450">
                  <a:moveTo>
                    <a:pt x="0" y="11858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16980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9"/>
                  </a:lnTo>
                  <a:lnTo>
                    <a:pt x="79379" y="9788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6815136" y="0"/>
                  </a:lnTo>
                  <a:lnTo>
                    <a:pt x="6823579" y="0"/>
                  </a:lnTo>
                  <a:lnTo>
                    <a:pt x="6831941" y="823"/>
                  </a:lnTo>
                  <a:lnTo>
                    <a:pt x="6872144" y="13018"/>
                  </a:lnTo>
                  <a:lnTo>
                    <a:pt x="6906061" y="37662"/>
                  </a:lnTo>
                  <a:lnTo>
                    <a:pt x="6922052" y="57147"/>
                  </a:lnTo>
                  <a:lnTo>
                    <a:pt x="6926743" y="64168"/>
                  </a:lnTo>
                  <a:lnTo>
                    <a:pt x="6930704" y="71578"/>
                  </a:lnTo>
                  <a:lnTo>
                    <a:pt x="6933934" y="79378"/>
                  </a:lnTo>
                  <a:lnTo>
                    <a:pt x="6937165" y="87179"/>
                  </a:lnTo>
                  <a:lnTo>
                    <a:pt x="6943724" y="128587"/>
                  </a:lnTo>
                  <a:lnTo>
                    <a:pt x="6943724" y="1185862"/>
                  </a:lnTo>
                  <a:lnTo>
                    <a:pt x="6937165" y="1227269"/>
                  </a:lnTo>
                  <a:lnTo>
                    <a:pt x="6933934" y="1235070"/>
                  </a:lnTo>
                  <a:lnTo>
                    <a:pt x="6930704" y="1242870"/>
                  </a:lnTo>
                  <a:lnTo>
                    <a:pt x="6926743" y="1250280"/>
                  </a:lnTo>
                  <a:lnTo>
                    <a:pt x="6922052" y="1257301"/>
                  </a:lnTo>
                  <a:lnTo>
                    <a:pt x="6917362" y="1264321"/>
                  </a:lnTo>
                  <a:lnTo>
                    <a:pt x="6886575" y="1292778"/>
                  </a:lnTo>
                  <a:lnTo>
                    <a:pt x="6879554" y="1297469"/>
                  </a:lnTo>
                  <a:lnTo>
                    <a:pt x="6872144" y="1301430"/>
                  </a:lnTo>
                  <a:lnTo>
                    <a:pt x="6864343" y="1304661"/>
                  </a:lnTo>
                  <a:lnTo>
                    <a:pt x="6856543" y="1307892"/>
                  </a:lnTo>
                  <a:lnTo>
                    <a:pt x="6815136" y="1314449"/>
                  </a:lnTo>
                  <a:lnTo>
                    <a:pt x="128587" y="1314449"/>
                  </a:lnTo>
                  <a:lnTo>
                    <a:pt x="87179" y="1307892"/>
                  </a:lnTo>
                  <a:lnTo>
                    <a:pt x="79379" y="1304661"/>
                  </a:lnTo>
                  <a:lnTo>
                    <a:pt x="71578" y="1301430"/>
                  </a:lnTo>
                  <a:lnTo>
                    <a:pt x="64168" y="1297469"/>
                  </a:lnTo>
                  <a:lnTo>
                    <a:pt x="57148" y="1292778"/>
                  </a:lnTo>
                  <a:lnTo>
                    <a:pt x="50127" y="1288087"/>
                  </a:lnTo>
                  <a:lnTo>
                    <a:pt x="43632" y="1282757"/>
                  </a:lnTo>
                  <a:lnTo>
                    <a:pt x="37662" y="1276787"/>
                  </a:lnTo>
                  <a:lnTo>
                    <a:pt x="31692" y="1270817"/>
                  </a:lnTo>
                  <a:lnTo>
                    <a:pt x="9788" y="1235070"/>
                  </a:lnTo>
                  <a:lnTo>
                    <a:pt x="6557" y="1227269"/>
                  </a:lnTo>
                  <a:lnTo>
                    <a:pt x="4117" y="1219228"/>
                  </a:lnTo>
                  <a:lnTo>
                    <a:pt x="2470" y="1210948"/>
                  </a:lnTo>
                  <a:lnTo>
                    <a:pt x="823" y="1202667"/>
                  </a:lnTo>
                  <a:lnTo>
                    <a:pt x="0" y="1194305"/>
                  </a:lnTo>
                  <a:lnTo>
                    <a:pt x="0" y="118586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66724" y="20859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6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26355" y="2135187"/>
            <a:ext cx="1473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 b="1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4799" y="3305174"/>
            <a:ext cx="6953250" cy="1276350"/>
            <a:chOff x="304799" y="3305174"/>
            <a:chExt cx="6953250" cy="1276350"/>
          </a:xfrm>
        </p:grpSpPr>
        <p:sp>
          <p:nvSpPr>
            <p:cNvPr id="10" name="object 10"/>
            <p:cNvSpPr/>
            <p:nvPr/>
          </p:nvSpPr>
          <p:spPr>
            <a:xfrm>
              <a:off x="3705224" y="3305174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76199" y="95249"/>
                  </a:moveTo>
                  <a:lnTo>
                    <a:pt x="0" y="0"/>
                  </a:lnTo>
                  <a:lnTo>
                    <a:pt x="152399" y="0"/>
                  </a:lnTo>
                  <a:lnTo>
                    <a:pt x="76199" y="9524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9562" y="3433762"/>
              <a:ext cx="6943725" cy="1143000"/>
            </a:xfrm>
            <a:custGeom>
              <a:avLst/>
              <a:gdLst/>
              <a:ahLst/>
              <a:cxnLst/>
              <a:rect l="l" t="t" r="r" b="b"/>
              <a:pathLst>
                <a:path w="6943725" h="1143000">
                  <a:moveTo>
                    <a:pt x="6823579" y="1142999"/>
                  </a:moveTo>
                  <a:lnTo>
                    <a:pt x="120144" y="1142999"/>
                  </a:lnTo>
                  <a:lnTo>
                    <a:pt x="111782" y="1142175"/>
                  </a:lnTo>
                  <a:lnTo>
                    <a:pt x="71578" y="1129979"/>
                  </a:lnTo>
                  <a:lnTo>
                    <a:pt x="31692" y="1099366"/>
                  </a:lnTo>
                  <a:lnTo>
                    <a:pt x="6557" y="1055819"/>
                  </a:lnTo>
                  <a:lnTo>
                    <a:pt x="0" y="1022855"/>
                  </a:lnTo>
                  <a:lnTo>
                    <a:pt x="0" y="1014412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6823579" y="0"/>
                  </a:lnTo>
                  <a:lnTo>
                    <a:pt x="6872144" y="13018"/>
                  </a:lnTo>
                  <a:lnTo>
                    <a:pt x="6912031" y="43632"/>
                  </a:lnTo>
                  <a:lnTo>
                    <a:pt x="6937165" y="87178"/>
                  </a:lnTo>
                  <a:lnTo>
                    <a:pt x="6943723" y="120144"/>
                  </a:lnTo>
                  <a:lnTo>
                    <a:pt x="6943723" y="1022855"/>
                  </a:lnTo>
                  <a:lnTo>
                    <a:pt x="6930704" y="1071420"/>
                  </a:lnTo>
                  <a:lnTo>
                    <a:pt x="6900091" y="1111307"/>
                  </a:lnTo>
                  <a:lnTo>
                    <a:pt x="6856543" y="1136441"/>
                  </a:lnTo>
                  <a:lnTo>
                    <a:pt x="6831941" y="1142175"/>
                  </a:lnTo>
                  <a:lnTo>
                    <a:pt x="6823579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9562" y="3433762"/>
              <a:ext cx="6943725" cy="1143000"/>
            </a:xfrm>
            <a:custGeom>
              <a:avLst/>
              <a:gdLst/>
              <a:ahLst/>
              <a:cxnLst/>
              <a:rect l="l" t="t" r="r" b="b"/>
              <a:pathLst>
                <a:path w="6943725" h="1143000">
                  <a:moveTo>
                    <a:pt x="0" y="101441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8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8"/>
                  </a:lnTo>
                  <a:lnTo>
                    <a:pt x="87179" y="6557"/>
                  </a:lnTo>
                  <a:lnTo>
                    <a:pt x="95220" y="4118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6815136" y="0"/>
                  </a:lnTo>
                  <a:lnTo>
                    <a:pt x="6823579" y="0"/>
                  </a:lnTo>
                  <a:lnTo>
                    <a:pt x="6831941" y="823"/>
                  </a:lnTo>
                  <a:lnTo>
                    <a:pt x="6872144" y="13018"/>
                  </a:lnTo>
                  <a:lnTo>
                    <a:pt x="6886575" y="21670"/>
                  </a:lnTo>
                  <a:lnTo>
                    <a:pt x="6893595" y="26361"/>
                  </a:lnTo>
                  <a:lnTo>
                    <a:pt x="6922052" y="57147"/>
                  </a:lnTo>
                  <a:lnTo>
                    <a:pt x="6926743" y="64167"/>
                  </a:lnTo>
                  <a:lnTo>
                    <a:pt x="6930704" y="71578"/>
                  </a:lnTo>
                  <a:lnTo>
                    <a:pt x="6933934" y="79378"/>
                  </a:lnTo>
                  <a:lnTo>
                    <a:pt x="6937165" y="87178"/>
                  </a:lnTo>
                  <a:lnTo>
                    <a:pt x="6943724" y="128587"/>
                  </a:lnTo>
                  <a:lnTo>
                    <a:pt x="6943724" y="1014412"/>
                  </a:lnTo>
                  <a:lnTo>
                    <a:pt x="6937165" y="1055819"/>
                  </a:lnTo>
                  <a:lnTo>
                    <a:pt x="6933934" y="1063619"/>
                  </a:lnTo>
                  <a:lnTo>
                    <a:pt x="6930704" y="1071420"/>
                  </a:lnTo>
                  <a:lnTo>
                    <a:pt x="6926743" y="1078830"/>
                  </a:lnTo>
                  <a:lnTo>
                    <a:pt x="6922052" y="1085850"/>
                  </a:lnTo>
                  <a:lnTo>
                    <a:pt x="6917362" y="1092871"/>
                  </a:lnTo>
                  <a:lnTo>
                    <a:pt x="6886575" y="1121328"/>
                  </a:lnTo>
                  <a:lnTo>
                    <a:pt x="6879554" y="1126018"/>
                  </a:lnTo>
                  <a:lnTo>
                    <a:pt x="6840222" y="1140528"/>
                  </a:lnTo>
                  <a:lnTo>
                    <a:pt x="6815136" y="1142999"/>
                  </a:lnTo>
                  <a:lnTo>
                    <a:pt x="128587" y="1142999"/>
                  </a:lnTo>
                  <a:lnTo>
                    <a:pt x="87179" y="1136441"/>
                  </a:lnTo>
                  <a:lnTo>
                    <a:pt x="50127" y="1116637"/>
                  </a:lnTo>
                  <a:lnTo>
                    <a:pt x="21670" y="1085851"/>
                  </a:lnTo>
                  <a:lnTo>
                    <a:pt x="9788" y="1063619"/>
                  </a:lnTo>
                  <a:lnTo>
                    <a:pt x="6557" y="1055819"/>
                  </a:lnTo>
                  <a:lnTo>
                    <a:pt x="4117" y="1047778"/>
                  </a:lnTo>
                  <a:lnTo>
                    <a:pt x="2470" y="1039498"/>
                  </a:lnTo>
                  <a:lnTo>
                    <a:pt x="823" y="1031217"/>
                  </a:lnTo>
                  <a:lnTo>
                    <a:pt x="0" y="1022855"/>
                  </a:lnTo>
                  <a:lnTo>
                    <a:pt x="0" y="10144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6724" y="35623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6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26355" y="3621087"/>
            <a:ext cx="1473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 b="1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4799" y="3571875"/>
            <a:ext cx="6953250" cy="2486025"/>
            <a:chOff x="304799" y="3571875"/>
            <a:chExt cx="6953250" cy="2486025"/>
          </a:xfrm>
        </p:grpSpPr>
        <p:pic>
          <p:nvPicPr>
            <p:cNvPr id="16" name="object 16" descr="JSON snippet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5024" y="3571875"/>
              <a:ext cx="1181099" cy="6572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05224" y="4610099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76199" y="95249"/>
                  </a:moveTo>
                  <a:lnTo>
                    <a:pt x="0" y="0"/>
                  </a:lnTo>
                  <a:lnTo>
                    <a:pt x="152399" y="0"/>
                  </a:lnTo>
                  <a:lnTo>
                    <a:pt x="76199" y="9524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9562" y="4738687"/>
              <a:ext cx="6943725" cy="1314450"/>
            </a:xfrm>
            <a:custGeom>
              <a:avLst/>
              <a:gdLst/>
              <a:ahLst/>
              <a:cxnLst/>
              <a:rect l="l" t="t" r="r" b="b"/>
              <a:pathLst>
                <a:path w="6943725" h="1314450">
                  <a:moveTo>
                    <a:pt x="6823579" y="1314449"/>
                  </a:moveTo>
                  <a:lnTo>
                    <a:pt x="120144" y="1314449"/>
                  </a:lnTo>
                  <a:lnTo>
                    <a:pt x="111782" y="1313626"/>
                  </a:lnTo>
                  <a:lnTo>
                    <a:pt x="71578" y="1301430"/>
                  </a:lnTo>
                  <a:lnTo>
                    <a:pt x="31692" y="1270817"/>
                  </a:lnTo>
                  <a:lnTo>
                    <a:pt x="6557" y="1227270"/>
                  </a:lnTo>
                  <a:lnTo>
                    <a:pt x="0" y="1194305"/>
                  </a:lnTo>
                  <a:lnTo>
                    <a:pt x="0" y="1185862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6823579" y="0"/>
                  </a:lnTo>
                  <a:lnTo>
                    <a:pt x="6872144" y="13018"/>
                  </a:lnTo>
                  <a:lnTo>
                    <a:pt x="6912031" y="43632"/>
                  </a:lnTo>
                  <a:lnTo>
                    <a:pt x="6937165" y="87178"/>
                  </a:lnTo>
                  <a:lnTo>
                    <a:pt x="6943723" y="120144"/>
                  </a:lnTo>
                  <a:lnTo>
                    <a:pt x="6943723" y="1194305"/>
                  </a:lnTo>
                  <a:lnTo>
                    <a:pt x="6930704" y="1242871"/>
                  </a:lnTo>
                  <a:lnTo>
                    <a:pt x="6900091" y="1282757"/>
                  </a:lnTo>
                  <a:lnTo>
                    <a:pt x="6856543" y="1307892"/>
                  </a:lnTo>
                  <a:lnTo>
                    <a:pt x="6831941" y="1313626"/>
                  </a:lnTo>
                  <a:lnTo>
                    <a:pt x="6823579" y="1314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9562" y="4738687"/>
              <a:ext cx="6943725" cy="1314450"/>
            </a:xfrm>
            <a:custGeom>
              <a:avLst/>
              <a:gdLst/>
              <a:ahLst/>
              <a:cxnLst/>
              <a:rect l="l" t="t" r="r" b="b"/>
              <a:pathLst>
                <a:path w="6943725" h="1314450">
                  <a:moveTo>
                    <a:pt x="0" y="11858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1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8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6815136" y="0"/>
                  </a:lnTo>
                  <a:lnTo>
                    <a:pt x="6823579" y="0"/>
                  </a:lnTo>
                  <a:lnTo>
                    <a:pt x="6831941" y="823"/>
                  </a:lnTo>
                  <a:lnTo>
                    <a:pt x="6872144" y="13018"/>
                  </a:lnTo>
                  <a:lnTo>
                    <a:pt x="6886575" y="21670"/>
                  </a:lnTo>
                  <a:lnTo>
                    <a:pt x="6893595" y="26361"/>
                  </a:lnTo>
                  <a:lnTo>
                    <a:pt x="6922052" y="57147"/>
                  </a:lnTo>
                  <a:lnTo>
                    <a:pt x="6926743" y="64167"/>
                  </a:lnTo>
                  <a:lnTo>
                    <a:pt x="6930704" y="71578"/>
                  </a:lnTo>
                  <a:lnTo>
                    <a:pt x="6933934" y="79378"/>
                  </a:lnTo>
                  <a:lnTo>
                    <a:pt x="6937165" y="87178"/>
                  </a:lnTo>
                  <a:lnTo>
                    <a:pt x="6943724" y="128587"/>
                  </a:lnTo>
                  <a:lnTo>
                    <a:pt x="6943724" y="1185862"/>
                  </a:lnTo>
                  <a:lnTo>
                    <a:pt x="6937165" y="1227270"/>
                  </a:lnTo>
                  <a:lnTo>
                    <a:pt x="6933934" y="1235070"/>
                  </a:lnTo>
                  <a:lnTo>
                    <a:pt x="6930704" y="1242871"/>
                  </a:lnTo>
                  <a:lnTo>
                    <a:pt x="6926743" y="1250281"/>
                  </a:lnTo>
                  <a:lnTo>
                    <a:pt x="6922052" y="1257301"/>
                  </a:lnTo>
                  <a:lnTo>
                    <a:pt x="6917362" y="1264321"/>
                  </a:lnTo>
                  <a:lnTo>
                    <a:pt x="6886575" y="1292778"/>
                  </a:lnTo>
                  <a:lnTo>
                    <a:pt x="6879554" y="1297469"/>
                  </a:lnTo>
                  <a:lnTo>
                    <a:pt x="6840222" y="1311978"/>
                  </a:lnTo>
                  <a:lnTo>
                    <a:pt x="6831941" y="1313626"/>
                  </a:lnTo>
                  <a:lnTo>
                    <a:pt x="6823579" y="1314449"/>
                  </a:lnTo>
                  <a:lnTo>
                    <a:pt x="6815136" y="1314449"/>
                  </a:lnTo>
                  <a:lnTo>
                    <a:pt x="128587" y="1314449"/>
                  </a:lnTo>
                  <a:lnTo>
                    <a:pt x="120144" y="1314449"/>
                  </a:lnTo>
                  <a:lnTo>
                    <a:pt x="111782" y="1313626"/>
                  </a:lnTo>
                  <a:lnTo>
                    <a:pt x="103501" y="1311978"/>
                  </a:lnTo>
                  <a:lnTo>
                    <a:pt x="95220" y="1310331"/>
                  </a:lnTo>
                  <a:lnTo>
                    <a:pt x="57148" y="1292778"/>
                  </a:lnTo>
                  <a:lnTo>
                    <a:pt x="50127" y="1288087"/>
                  </a:lnTo>
                  <a:lnTo>
                    <a:pt x="43632" y="1282757"/>
                  </a:lnTo>
                  <a:lnTo>
                    <a:pt x="37662" y="1276787"/>
                  </a:lnTo>
                  <a:lnTo>
                    <a:pt x="31692" y="1270817"/>
                  </a:lnTo>
                  <a:lnTo>
                    <a:pt x="9788" y="1235070"/>
                  </a:lnTo>
                  <a:lnTo>
                    <a:pt x="6557" y="1227270"/>
                  </a:lnTo>
                  <a:lnTo>
                    <a:pt x="4117" y="1219229"/>
                  </a:lnTo>
                  <a:lnTo>
                    <a:pt x="2470" y="1210948"/>
                  </a:lnTo>
                  <a:lnTo>
                    <a:pt x="823" y="1202667"/>
                  </a:lnTo>
                  <a:lnTo>
                    <a:pt x="0" y="1194305"/>
                  </a:lnTo>
                  <a:lnTo>
                    <a:pt x="0" y="118586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6724" y="4867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8"/>
                  </a:lnTo>
                  <a:lnTo>
                    <a:pt x="59264" y="244225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2"/>
                  </a:lnTo>
                  <a:lnTo>
                    <a:pt x="212793" y="240453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26355" y="4926012"/>
            <a:ext cx="1473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 b="1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4799" y="4876800"/>
            <a:ext cx="6953250" cy="2657475"/>
            <a:chOff x="304799" y="4876800"/>
            <a:chExt cx="6953250" cy="2657475"/>
          </a:xfrm>
        </p:grpSpPr>
        <p:pic>
          <p:nvPicPr>
            <p:cNvPr id="23" name="object 23" descr="Table gri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024" y="4876800"/>
              <a:ext cx="1181099" cy="6572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05224" y="6086474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76199" y="95249"/>
                  </a:moveTo>
                  <a:lnTo>
                    <a:pt x="0" y="0"/>
                  </a:lnTo>
                  <a:lnTo>
                    <a:pt x="152399" y="0"/>
                  </a:lnTo>
                  <a:lnTo>
                    <a:pt x="76199" y="9524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9562" y="6215062"/>
              <a:ext cx="6943725" cy="1314450"/>
            </a:xfrm>
            <a:custGeom>
              <a:avLst/>
              <a:gdLst/>
              <a:ahLst/>
              <a:cxnLst/>
              <a:rect l="l" t="t" r="r" b="b"/>
              <a:pathLst>
                <a:path w="6943725" h="1314450">
                  <a:moveTo>
                    <a:pt x="6823579" y="1314449"/>
                  </a:moveTo>
                  <a:lnTo>
                    <a:pt x="120144" y="1314449"/>
                  </a:lnTo>
                  <a:lnTo>
                    <a:pt x="111782" y="1313625"/>
                  </a:lnTo>
                  <a:lnTo>
                    <a:pt x="71578" y="1301429"/>
                  </a:lnTo>
                  <a:lnTo>
                    <a:pt x="31692" y="1270817"/>
                  </a:lnTo>
                  <a:lnTo>
                    <a:pt x="6557" y="1227269"/>
                  </a:lnTo>
                  <a:lnTo>
                    <a:pt x="0" y="1194305"/>
                  </a:lnTo>
                  <a:lnTo>
                    <a:pt x="0" y="1185862"/>
                  </a:lnTo>
                  <a:lnTo>
                    <a:pt x="0" y="120144"/>
                  </a:lnTo>
                  <a:lnTo>
                    <a:pt x="13019" y="71577"/>
                  </a:lnTo>
                  <a:lnTo>
                    <a:pt x="43632" y="31691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6823579" y="0"/>
                  </a:lnTo>
                  <a:lnTo>
                    <a:pt x="6872144" y="13018"/>
                  </a:lnTo>
                  <a:lnTo>
                    <a:pt x="6912031" y="43632"/>
                  </a:lnTo>
                  <a:lnTo>
                    <a:pt x="6937165" y="87178"/>
                  </a:lnTo>
                  <a:lnTo>
                    <a:pt x="6943723" y="120144"/>
                  </a:lnTo>
                  <a:lnTo>
                    <a:pt x="6943723" y="1194305"/>
                  </a:lnTo>
                  <a:lnTo>
                    <a:pt x="6930704" y="1242870"/>
                  </a:lnTo>
                  <a:lnTo>
                    <a:pt x="6900091" y="1282757"/>
                  </a:lnTo>
                  <a:lnTo>
                    <a:pt x="6856543" y="1307891"/>
                  </a:lnTo>
                  <a:lnTo>
                    <a:pt x="6831941" y="1313625"/>
                  </a:lnTo>
                  <a:lnTo>
                    <a:pt x="6823579" y="1314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9562" y="6215062"/>
              <a:ext cx="6943725" cy="1314450"/>
            </a:xfrm>
            <a:custGeom>
              <a:avLst/>
              <a:gdLst/>
              <a:ahLst/>
              <a:cxnLst/>
              <a:rect l="l" t="t" r="r" b="b"/>
              <a:pathLst>
                <a:path w="6943725" h="1314450">
                  <a:moveTo>
                    <a:pt x="0" y="11858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8"/>
                  </a:lnTo>
                  <a:lnTo>
                    <a:pt x="9788" y="79378"/>
                  </a:lnTo>
                  <a:lnTo>
                    <a:pt x="13019" y="71577"/>
                  </a:lnTo>
                  <a:lnTo>
                    <a:pt x="16980" y="64167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6815136" y="0"/>
                  </a:lnTo>
                  <a:lnTo>
                    <a:pt x="6823579" y="0"/>
                  </a:lnTo>
                  <a:lnTo>
                    <a:pt x="6831941" y="823"/>
                  </a:lnTo>
                  <a:lnTo>
                    <a:pt x="6872144" y="13018"/>
                  </a:lnTo>
                  <a:lnTo>
                    <a:pt x="6886575" y="21670"/>
                  </a:lnTo>
                  <a:lnTo>
                    <a:pt x="6893595" y="26361"/>
                  </a:lnTo>
                  <a:lnTo>
                    <a:pt x="6900091" y="31691"/>
                  </a:lnTo>
                  <a:lnTo>
                    <a:pt x="6906061" y="37662"/>
                  </a:lnTo>
                  <a:lnTo>
                    <a:pt x="6912031" y="43632"/>
                  </a:lnTo>
                  <a:lnTo>
                    <a:pt x="6917362" y="50127"/>
                  </a:lnTo>
                  <a:lnTo>
                    <a:pt x="6922052" y="57147"/>
                  </a:lnTo>
                  <a:lnTo>
                    <a:pt x="6926743" y="64167"/>
                  </a:lnTo>
                  <a:lnTo>
                    <a:pt x="6930704" y="71577"/>
                  </a:lnTo>
                  <a:lnTo>
                    <a:pt x="6933934" y="79378"/>
                  </a:lnTo>
                  <a:lnTo>
                    <a:pt x="6937165" y="87178"/>
                  </a:lnTo>
                  <a:lnTo>
                    <a:pt x="6943724" y="128587"/>
                  </a:lnTo>
                  <a:lnTo>
                    <a:pt x="6943724" y="1185862"/>
                  </a:lnTo>
                  <a:lnTo>
                    <a:pt x="6937165" y="1227269"/>
                  </a:lnTo>
                  <a:lnTo>
                    <a:pt x="6933934" y="1235069"/>
                  </a:lnTo>
                  <a:lnTo>
                    <a:pt x="6930704" y="1242870"/>
                  </a:lnTo>
                  <a:lnTo>
                    <a:pt x="6926743" y="1250280"/>
                  </a:lnTo>
                  <a:lnTo>
                    <a:pt x="6922052" y="1257301"/>
                  </a:lnTo>
                  <a:lnTo>
                    <a:pt x="6917362" y="1264321"/>
                  </a:lnTo>
                  <a:lnTo>
                    <a:pt x="6886575" y="1292777"/>
                  </a:lnTo>
                  <a:lnTo>
                    <a:pt x="6848502" y="1310331"/>
                  </a:lnTo>
                  <a:lnTo>
                    <a:pt x="6840222" y="1311977"/>
                  </a:lnTo>
                  <a:lnTo>
                    <a:pt x="6831941" y="1313625"/>
                  </a:lnTo>
                  <a:lnTo>
                    <a:pt x="6823579" y="1314449"/>
                  </a:lnTo>
                  <a:lnTo>
                    <a:pt x="6815136" y="1314449"/>
                  </a:lnTo>
                  <a:lnTo>
                    <a:pt x="128587" y="1314449"/>
                  </a:lnTo>
                  <a:lnTo>
                    <a:pt x="120144" y="1314449"/>
                  </a:lnTo>
                  <a:lnTo>
                    <a:pt x="111782" y="1313625"/>
                  </a:lnTo>
                  <a:lnTo>
                    <a:pt x="103501" y="1311977"/>
                  </a:lnTo>
                  <a:lnTo>
                    <a:pt x="95220" y="1310331"/>
                  </a:lnTo>
                  <a:lnTo>
                    <a:pt x="87179" y="1307891"/>
                  </a:lnTo>
                  <a:lnTo>
                    <a:pt x="79379" y="1304660"/>
                  </a:lnTo>
                  <a:lnTo>
                    <a:pt x="71578" y="1301429"/>
                  </a:lnTo>
                  <a:lnTo>
                    <a:pt x="37662" y="1276787"/>
                  </a:lnTo>
                  <a:lnTo>
                    <a:pt x="31692" y="1270817"/>
                  </a:lnTo>
                  <a:lnTo>
                    <a:pt x="9788" y="1235069"/>
                  </a:lnTo>
                  <a:lnTo>
                    <a:pt x="6557" y="1227269"/>
                  </a:lnTo>
                  <a:lnTo>
                    <a:pt x="4117" y="1219228"/>
                  </a:lnTo>
                  <a:lnTo>
                    <a:pt x="2470" y="1210948"/>
                  </a:lnTo>
                  <a:lnTo>
                    <a:pt x="823" y="1202667"/>
                  </a:lnTo>
                  <a:lnTo>
                    <a:pt x="0" y="1194305"/>
                  </a:lnTo>
                  <a:lnTo>
                    <a:pt x="0" y="118586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66724" y="63436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8"/>
                  </a:lnTo>
                  <a:lnTo>
                    <a:pt x="59264" y="244225"/>
                  </a:lnTo>
                  <a:lnTo>
                    <a:pt x="30267" y="217946"/>
                  </a:lnTo>
                  <a:lnTo>
                    <a:pt x="10150" y="184379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5"/>
                  </a:lnTo>
                  <a:lnTo>
                    <a:pt x="240453" y="212792"/>
                  </a:lnTo>
                  <a:lnTo>
                    <a:pt x="212793" y="240452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26355" y="6402387"/>
            <a:ext cx="1473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 b="1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4799" y="6343650"/>
            <a:ext cx="6953250" cy="2676525"/>
            <a:chOff x="304799" y="6343650"/>
            <a:chExt cx="6953250" cy="2676525"/>
          </a:xfrm>
        </p:grpSpPr>
        <p:pic>
          <p:nvPicPr>
            <p:cNvPr id="30" name="object 30" descr="Merge flow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5024" y="6343650"/>
              <a:ext cx="1181099" cy="6667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705224" y="7562849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76199" y="95249"/>
                  </a:moveTo>
                  <a:lnTo>
                    <a:pt x="0" y="0"/>
                  </a:lnTo>
                  <a:lnTo>
                    <a:pt x="152399" y="0"/>
                  </a:lnTo>
                  <a:lnTo>
                    <a:pt x="76199" y="9524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9562" y="7691437"/>
              <a:ext cx="6943725" cy="1323975"/>
            </a:xfrm>
            <a:custGeom>
              <a:avLst/>
              <a:gdLst/>
              <a:ahLst/>
              <a:cxnLst/>
              <a:rect l="l" t="t" r="r" b="b"/>
              <a:pathLst>
                <a:path w="6943725" h="1323975">
                  <a:moveTo>
                    <a:pt x="6823579" y="1323974"/>
                  </a:moveTo>
                  <a:lnTo>
                    <a:pt x="120144" y="1323974"/>
                  </a:lnTo>
                  <a:lnTo>
                    <a:pt x="111782" y="1323150"/>
                  </a:lnTo>
                  <a:lnTo>
                    <a:pt x="71578" y="1310954"/>
                  </a:lnTo>
                  <a:lnTo>
                    <a:pt x="31692" y="1280341"/>
                  </a:lnTo>
                  <a:lnTo>
                    <a:pt x="6557" y="1236793"/>
                  </a:lnTo>
                  <a:lnTo>
                    <a:pt x="0" y="1203830"/>
                  </a:lnTo>
                  <a:lnTo>
                    <a:pt x="0" y="11953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6823579" y="0"/>
                  </a:lnTo>
                  <a:lnTo>
                    <a:pt x="6872144" y="13018"/>
                  </a:lnTo>
                  <a:lnTo>
                    <a:pt x="6912031" y="43632"/>
                  </a:lnTo>
                  <a:lnTo>
                    <a:pt x="6937165" y="87179"/>
                  </a:lnTo>
                  <a:lnTo>
                    <a:pt x="6943723" y="120144"/>
                  </a:lnTo>
                  <a:lnTo>
                    <a:pt x="6943723" y="1203830"/>
                  </a:lnTo>
                  <a:lnTo>
                    <a:pt x="6930704" y="1252394"/>
                  </a:lnTo>
                  <a:lnTo>
                    <a:pt x="6900091" y="1292282"/>
                  </a:lnTo>
                  <a:lnTo>
                    <a:pt x="6856543" y="1317416"/>
                  </a:lnTo>
                  <a:lnTo>
                    <a:pt x="6831941" y="1323150"/>
                  </a:lnTo>
                  <a:lnTo>
                    <a:pt x="6823579" y="1323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9562" y="7691437"/>
              <a:ext cx="6943725" cy="1323975"/>
            </a:xfrm>
            <a:custGeom>
              <a:avLst/>
              <a:gdLst/>
              <a:ahLst/>
              <a:cxnLst/>
              <a:rect l="l" t="t" r="r" b="b"/>
              <a:pathLst>
                <a:path w="6943725" h="1323975">
                  <a:moveTo>
                    <a:pt x="0" y="11953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6815136" y="0"/>
                  </a:lnTo>
                  <a:lnTo>
                    <a:pt x="6823579" y="0"/>
                  </a:lnTo>
                  <a:lnTo>
                    <a:pt x="6831941" y="823"/>
                  </a:lnTo>
                  <a:lnTo>
                    <a:pt x="6872144" y="13018"/>
                  </a:lnTo>
                  <a:lnTo>
                    <a:pt x="6886575" y="21670"/>
                  </a:lnTo>
                  <a:lnTo>
                    <a:pt x="6893595" y="26361"/>
                  </a:lnTo>
                  <a:lnTo>
                    <a:pt x="6900091" y="31691"/>
                  </a:lnTo>
                  <a:lnTo>
                    <a:pt x="6906061" y="37662"/>
                  </a:lnTo>
                  <a:lnTo>
                    <a:pt x="6912031" y="43632"/>
                  </a:lnTo>
                  <a:lnTo>
                    <a:pt x="6917362" y="50127"/>
                  </a:lnTo>
                  <a:lnTo>
                    <a:pt x="6922052" y="57147"/>
                  </a:lnTo>
                  <a:lnTo>
                    <a:pt x="6926743" y="64168"/>
                  </a:lnTo>
                  <a:lnTo>
                    <a:pt x="6941252" y="103500"/>
                  </a:lnTo>
                  <a:lnTo>
                    <a:pt x="6943724" y="128587"/>
                  </a:lnTo>
                  <a:lnTo>
                    <a:pt x="6943724" y="1195387"/>
                  </a:lnTo>
                  <a:lnTo>
                    <a:pt x="6937165" y="1236793"/>
                  </a:lnTo>
                  <a:lnTo>
                    <a:pt x="6922052" y="1266825"/>
                  </a:lnTo>
                  <a:lnTo>
                    <a:pt x="6917362" y="1273845"/>
                  </a:lnTo>
                  <a:lnTo>
                    <a:pt x="6886575" y="1302302"/>
                  </a:lnTo>
                  <a:lnTo>
                    <a:pt x="6879554" y="1306993"/>
                  </a:lnTo>
                  <a:lnTo>
                    <a:pt x="6840222" y="1321503"/>
                  </a:lnTo>
                  <a:lnTo>
                    <a:pt x="6815136" y="1323974"/>
                  </a:lnTo>
                  <a:lnTo>
                    <a:pt x="128587" y="1323974"/>
                  </a:lnTo>
                  <a:lnTo>
                    <a:pt x="87179" y="1317416"/>
                  </a:lnTo>
                  <a:lnTo>
                    <a:pt x="79379" y="1314185"/>
                  </a:lnTo>
                  <a:lnTo>
                    <a:pt x="71578" y="1310954"/>
                  </a:lnTo>
                  <a:lnTo>
                    <a:pt x="64168" y="1306993"/>
                  </a:lnTo>
                  <a:lnTo>
                    <a:pt x="57148" y="1302302"/>
                  </a:lnTo>
                  <a:lnTo>
                    <a:pt x="50127" y="1297611"/>
                  </a:lnTo>
                  <a:lnTo>
                    <a:pt x="21670" y="1266825"/>
                  </a:lnTo>
                  <a:lnTo>
                    <a:pt x="4117" y="1228752"/>
                  </a:lnTo>
                  <a:lnTo>
                    <a:pt x="0" y="1203830"/>
                  </a:lnTo>
                  <a:lnTo>
                    <a:pt x="0" y="1195387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66724" y="78200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8"/>
                  </a:lnTo>
                  <a:lnTo>
                    <a:pt x="59264" y="244225"/>
                  </a:lnTo>
                  <a:lnTo>
                    <a:pt x="30267" y="217945"/>
                  </a:lnTo>
                  <a:lnTo>
                    <a:pt x="10150" y="184379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0"/>
                  </a:lnTo>
                  <a:lnTo>
                    <a:pt x="258908" y="178265"/>
                  </a:lnTo>
                  <a:lnTo>
                    <a:pt x="240453" y="212792"/>
                  </a:lnTo>
                  <a:lnTo>
                    <a:pt x="212793" y="240452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26355" y="7878762"/>
            <a:ext cx="14732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40" b="1">
                <a:solidFill>
                  <a:srgbClr val="FFFFFF"/>
                </a:solidFill>
                <a:latin typeface="Tahoma"/>
                <a:cs typeface="Tahoma"/>
              </a:rPr>
              <a:t>05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04799" y="9963149"/>
            <a:ext cx="6953250" cy="323850"/>
            <a:chOff x="304799" y="9963149"/>
            <a:chExt cx="6953250" cy="323850"/>
          </a:xfrm>
        </p:grpSpPr>
        <p:sp>
          <p:nvSpPr>
            <p:cNvPr id="37" name="object 37"/>
            <p:cNvSpPr/>
            <p:nvPr/>
          </p:nvSpPr>
          <p:spPr>
            <a:xfrm>
              <a:off x="309562" y="9967911"/>
              <a:ext cx="6943725" cy="314325"/>
            </a:xfrm>
            <a:custGeom>
              <a:avLst/>
              <a:gdLst/>
              <a:ahLst/>
              <a:cxnLst/>
              <a:rect l="l" t="t" r="r" b="b"/>
              <a:pathLst>
                <a:path w="6943725" h="314325">
                  <a:moveTo>
                    <a:pt x="6786561" y="314324"/>
                  </a:moveTo>
                  <a:lnTo>
                    <a:pt x="157162" y="314324"/>
                  </a:lnTo>
                  <a:lnTo>
                    <a:pt x="149441" y="314135"/>
                  </a:lnTo>
                  <a:lnTo>
                    <a:pt x="111540" y="307557"/>
                  </a:lnTo>
                  <a:lnTo>
                    <a:pt x="76372" y="291969"/>
                  </a:lnTo>
                  <a:lnTo>
                    <a:pt x="46031" y="268292"/>
                  </a:lnTo>
                  <a:lnTo>
                    <a:pt x="22354" y="237951"/>
                  </a:lnTo>
                  <a:lnTo>
                    <a:pt x="6765" y="202783"/>
                  </a:lnTo>
                  <a:lnTo>
                    <a:pt x="188" y="164883"/>
                  </a:lnTo>
                  <a:lnTo>
                    <a:pt x="0" y="157162"/>
                  </a:lnTo>
                  <a:lnTo>
                    <a:pt x="188" y="149441"/>
                  </a:lnTo>
                  <a:lnTo>
                    <a:pt x="6765" y="111539"/>
                  </a:lnTo>
                  <a:lnTo>
                    <a:pt x="22354" y="76371"/>
                  </a:lnTo>
                  <a:lnTo>
                    <a:pt x="46031" y="46032"/>
                  </a:lnTo>
                  <a:lnTo>
                    <a:pt x="76372" y="22353"/>
                  </a:lnTo>
                  <a:lnTo>
                    <a:pt x="111540" y="6765"/>
                  </a:lnTo>
                  <a:lnTo>
                    <a:pt x="149441" y="188"/>
                  </a:lnTo>
                  <a:lnTo>
                    <a:pt x="157162" y="0"/>
                  </a:lnTo>
                  <a:lnTo>
                    <a:pt x="6786561" y="0"/>
                  </a:lnTo>
                  <a:lnTo>
                    <a:pt x="6824758" y="4711"/>
                  </a:lnTo>
                  <a:lnTo>
                    <a:pt x="6860647" y="18555"/>
                  </a:lnTo>
                  <a:lnTo>
                    <a:pt x="6892098" y="40705"/>
                  </a:lnTo>
                  <a:lnTo>
                    <a:pt x="6917236" y="69846"/>
                  </a:lnTo>
                  <a:lnTo>
                    <a:pt x="6934540" y="104224"/>
                  </a:lnTo>
                  <a:lnTo>
                    <a:pt x="6942968" y="141757"/>
                  </a:lnTo>
                  <a:lnTo>
                    <a:pt x="6943724" y="157162"/>
                  </a:lnTo>
                  <a:lnTo>
                    <a:pt x="6943535" y="164883"/>
                  </a:lnTo>
                  <a:lnTo>
                    <a:pt x="6936957" y="202783"/>
                  </a:lnTo>
                  <a:lnTo>
                    <a:pt x="6921369" y="237951"/>
                  </a:lnTo>
                  <a:lnTo>
                    <a:pt x="6897691" y="268292"/>
                  </a:lnTo>
                  <a:lnTo>
                    <a:pt x="6867351" y="291969"/>
                  </a:lnTo>
                  <a:lnTo>
                    <a:pt x="6832183" y="307557"/>
                  </a:lnTo>
                  <a:lnTo>
                    <a:pt x="6794283" y="314135"/>
                  </a:lnTo>
                  <a:lnTo>
                    <a:pt x="6786561" y="314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09562" y="9967911"/>
              <a:ext cx="6943725" cy="314325"/>
            </a:xfrm>
            <a:custGeom>
              <a:avLst/>
              <a:gdLst/>
              <a:ahLst/>
              <a:cxnLst/>
              <a:rect l="l" t="t" r="r" b="b"/>
              <a:pathLst>
                <a:path w="6943725" h="314325">
                  <a:moveTo>
                    <a:pt x="0" y="157162"/>
                  </a:moveTo>
                  <a:lnTo>
                    <a:pt x="4711" y="118965"/>
                  </a:lnTo>
                  <a:lnTo>
                    <a:pt x="18555" y="83075"/>
                  </a:lnTo>
                  <a:lnTo>
                    <a:pt x="40705" y="51625"/>
                  </a:lnTo>
                  <a:lnTo>
                    <a:pt x="69847" y="26486"/>
                  </a:lnTo>
                  <a:lnTo>
                    <a:pt x="104224" y="9183"/>
                  </a:lnTo>
                  <a:lnTo>
                    <a:pt x="141757" y="755"/>
                  </a:lnTo>
                  <a:lnTo>
                    <a:pt x="157162" y="0"/>
                  </a:lnTo>
                  <a:lnTo>
                    <a:pt x="6786561" y="0"/>
                  </a:lnTo>
                  <a:lnTo>
                    <a:pt x="6824758" y="4711"/>
                  </a:lnTo>
                  <a:lnTo>
                    <a:pt x="6860647" y="18555"/>
                  </a:lnTo>
                  <a:lnTo>
                    <a:pt x="6892098" y="40705"/>
                  </a:lnTo>
                  <a:lnTo>
                    <a:pt x="6917236" y="69846"/>
                  </a:lnTo>
                  <a:lnTo>
                    <a:pt x="6934540" y="104224"/>
                  </a:lnTo>
                  <a:lnTo>
                    <a:pt x="6942968" y="141757"/>
                  </a:lnTo>
                  <a:lnTo>
                    <a:pt x="6943724" y="157162"/>
                  </a:lnTo>
                  <a:lnTo>
                    <a:pt x="6943535" y="164883"/>
                  </a:lnTo>
                  <a:lnTo>
                    <a:pt x="6936957" y="202783"/>
                  </a:lnTo>
                  <a:lnTo>
                    <a:pt x="6921369" y="237951"/>
                  </a:lnTo>
                  <a:lnTo>
                    <a:pt x="6897691" y="268292"/>
                  </a:lnTo>
                  <a:lnTo>
                    <a:pt x="6867351" y="291969"/>
                  </a:lnTo>
                  <a:lnTo>
                    <a:pt x="6832183" y="307557"/>
                  </a:lnTo>
                  <a:lnTo>
                    <a:pt x="6794283" y="314135"/>
                  </a:lnTo>
                  <a:lnTo>
                    <a:pt x="6786561" y="314324"/>
                  </a:lnTo>
                  <a:lnTo>
                    <a:pt x="157162" y="314324"/>
                  </a:lnTo>
                  <a:lnTo>
                    <a:pt x="118965" y="309612"/>
                  </a:lnTo>
                  <a:lnTo>
                    <a:pt x="83075" y="295767"/>
                  </a:lnTo>
                  <a:lnTo>
                    <a:pt x="51624" y="273618"/>
                  </a:lnTo>
                  <a:lnTo>
                    <a:pt x="26486" y="244476"/>
                  </a:lnTo>
                  <a:lnTo>
                    <a:pt x="9182" y="210099"/>
                  </a:lnTo>
                  <a:lnTo>
                    <a:pt x="754" y="172566"/>
                  </a:lnTo>
                  <a:lnTo>
                    <a:pt x="0" y="15716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866774" y="2486024"/>
            <a:ext cx="6229350" cy="6000750"/>
            <a:chOff x="866774" y="2486024"/>
            <a:chExt cx="6229350" cy="6000750"/>
          </a:xfrm>
        </p:grpSpPr>
        <p:pic>
          <p:nvPicPr>
            <p:cNvPr id="40" name="object 40" descr="JSON and Excel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5024" y="7820024"/>
              <a:ext cx="1181099" cy="66674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81074" y="2486024"/>
              <a:ext cx="704850" cy="123825"/>
            </a:xfrm>
            <a:custGeom>
              <a:avLst/>
              <a:gdLst/>
              <a:ahLst/>
              <a:cxnLst/>
              <a:rect l="l" t="t" r="r" b="b"/>
              <a:pathLst>
                <a:path w="704850" h="123825">
                  <a:moveTo>
                    <a:pt x="68006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680064" y="0"/>
                  </a:lnTo>
                  <a:lnTo>
                    <a:pt x="704849" y="24785"/>
                  </a:lnTo>
                  <a:lnTo>
                    <a:pt x="704849" y="99039"/>
                  </a:lnTo>
                  <a:lnTo>
                    <a:pt x="683709" y="123099"/>
                  </a:lnTo>
                  <a:lnTo>
                    <a:pt x="68006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66774" y="253364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466849" y="2666999"/>
              <a:ext cx="609600" cy="123825"/>
            </a:xfrm>
            <a:custGeom>
              <a:avLst/>
              <a:gdLst/>
              <a:ahLst/>
              <a:cxnLst/>
              <a:rect l="l" t="t" r="r" b="b"/>
              <a:pathLst>
                <a:path w="609600" h="123825">
                  <a:moveTo>
                    <a:pt x="58481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584814" y="0"/>
                  </a:lnTo>
                  <a:lnTo>
                    <a:pt x="609600" y="24785"/>
                  </a:lnTo>
                  <a:lnTo>
                    <a:pt x="609600" y="99039"/>
                  </a:lnTo>
                  <a:lnTo>
                    <a:pt x="588459" y="123099"/>
                  </a:lnTo>
                  <a:lnTo>
                    <a:pt x="58481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66774" y="271462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943099" y="2838449"/>
              <a:ext cx="1000125" cy="123825"/>
            </a:xfrm>
            <a:custGeom>
              <a:avLst/>
              <a:gdLst/>
              <a:ahLst/>
              <a:cxnLst/>
              <a:rect l="l" t="t" r="r" b="b"/>
              <a:pathLst>
                <a:path w="1000125" h="123825">
                  <a:moveTo>
                    <a:pt x="975339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975339" y="0"/>
                  </a:lnTo>
                  <a:lnTo>
                    <a:pt x="1000124" y="24785"/>
                  </a:lnTo>
                  <a:lnTo>
                    <a:pt x="1000124" y="99039"/>
                  </a:lnTo>
                  <a:lnTo>
                    <a:pt x="978983" y="123099"/>
                  </a:lnTo>
                  <a:lnTo>
                    <a:pt x="975339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66774" y="288607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5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81074" y="3019424"/>
              <a:ext cx="590550" cy="123825"/>
            </a:xfrm>
            <a:custGeom>
              <a:avLst/>
              <a:gdLst/>
              <a:ahLst/>
              <a:cxnLst/>
              <a:rect l="l" t="t" r="r" b="b"/>
              <a:pathLst>
                <a:path w="590550" h="123825">
                  <a:moveTo>
                    <a:pt x="56576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565764" y="0"/>
                  </a:lnTo>
                  <a:lnTo>
                    <a:pt x="590549" y="24785"/>
                  </a:lnTo>
                  <a:lnTo>
                    <a:pt x="590549" y="99039"/>
                  </a:lnTo>
                  <a:lnTo>
                    <a:pt x="569409" y="123099"/>
                  </a:lnTo>
                  <a:lnTo>
                    <a:pt x="56576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2008683" y="10036175"/>
            <a:ext cx="3542665" cy="43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C4C4F"/>
                </a:solidFill>
                <a:latin typeface="Trebuchet MS"/>
                <a:cs typeface="Trebuchet MS"/>
              </a:rPr>
              <a:t>FastAPI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C4C4F"/>
                </a:solidFill>
                <a:latin typeface="Trebuchet MS"/>
                <a:cs typeface="Trebuchet MS"/>
              </a:rPr>
              <a:t>·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C4C4F"/>
                </a:solidFill>
                <a:latin typeface="Trebuchet MS"/>
                <a:cs typeface="Trebuchet MS"/>
              </a:rPr>
              <a:t>React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C4C4F"/>
                </a:solidFill>
                <a:latin typeface="Trebuchet MS"/>
                <a:cs typeface="Trebuchet MS"/>
              </a:rPr>
              <a:t>·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C4C4F"/>
                </a:solidFill>
                <a:latin typeface="Trebuchet MS"/>
                <a:cs typeface="Trebuchet MS"/>
              </a:rPr>
              <a:t>LibreOffice</a:t>
            </a:r>
            <a:r>
              <a:rPr dirty="0" sz="900" spc="30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C4C4F"/>
                </a:solidFill>
                <a:latin typeface="Trebuchet MS"/>
                <a:cs typeface="Trebuchet MS"/>
              </a:rPr>
              <a:t>·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C4C4F"/>
                </a:solidFill>
                <a:latin typeface="Trebuchet MS"/>
                <a:cs typeface="Trebuchet MS"/>
              </a:rPr>
              <a:t>poppler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C4C4F"/>
                </a:solidFill>
                <a:latin typeface="Trebuchet MS"/>
                <a:cs typeface="Trebuchet MS"/>
              </a:rPr>
              <a:t>·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C4C4F"/>
                </a:solidFill>
                <a:latin typeface="Trebuchet MS"/>
                <a:cs typeface="Trebuchet MS"/>
              </a:rPr>
              <a:t>OpenAI</a:t>
            </a:r>
            <a:r>
              <a:rPr dirty="0" sz="900" spc="30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C4C4F"/>
                </a:solidFill>
                <a:latin typeface="Trebuchet MS"/>
                <a:cs typeface="Trebuchet MS"/>
              </a:rPr>
              <a:t>·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C4C4F"/>
                </a:solidFill>
                <a:latin typeface="Trebuchet MS"/>
                <a:cs typeface="Trebuchet MS"/>
              </a:rPr>
              <a:t>LangChain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C4C4F"/>
                </a:solidFill>
                <a:latin typeface="Trebuchet MS"/>
                <a:cs typeface="Trebuchet MS"/>
              </a:rPr>
              <a:t>·</a:t>
            </a:r>
            <a:r>
              <a:rPr dirty="0" sz="900" spc="25">
                <a:solidFill>
                  <a:srgbClr val="4C4C4F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C4C4F"/>
                </a:solidFill>
                <a:latin typeface="Trebuchet MS"/>
                <a:cs typeface="Trebuchet MS"/>
              </a:rPr>
              <a:t>Docker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850" spc="-145">
                <a:solidFill>
                  <a:srgbClr val="828284"/>
                </a:solidFill>
                <a:latin typeface="Malgun Gothic"/>
                <a:cs typeface="Malgun Gothic"/>
              </a:rPr>
              <a:t>오픈소스</a:t>
            </a:r>
            <a:r>
              <a:rPr dirty="0" sz="850" spc="-60">
                <a:solidFill>
                  <a:srgbClr val="828284"/>
                </a:solidFill>
                <a:latin typeface="Malgun Gothic"/>
                <a:cs typeface="Malgun Gothic"/>
              </a:rPr>
              <a:t> </a:t>
            </a:r>
            <a:r>
              <a:rPr dirty="0" sz="800" spc="-80">
                <a:solidFill>
                  <a:srgbClr val="828284"/>
                </a:solidFill>
                <a:latin typeface="Trebuchet MS"/>
                <a:cs typeface="Trebuchet MS"/>
              </a:rPr>
              <a:t>·</a:t>
            </a:r>
            <a:r>
              <a:rPr dirty="0" sz="800" spc="35">
                <a:solidFill>
                  <a:srgbClr val="828284"/>
                </a:solidFill>
                <a:latin typeface="Trebuchet MS"/>
                <a:cs typeface="Trebuchet MS"/>
              </a:rPr>
              <a:t> </a:t>
            </a:r>
            <a:r>
              <a:rPr dirty="0" sz="850" spc="-145">
                <a:solidFill>
                  <a:srgbClr val="828284"/>
                </a:solidFill>
                <a:latin typeface="Malgun Gothic"/>
                <a:cs typeface="Malgun Gothic"/>
              </a:rPr>
              <a:t>단일</a:t>
            </a:r>
            <a:r>
              <a:rPr dirty="0" sz="850" spc="-10">
                <a:solidFill>
                  <a:srgbClr val="828284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828284"/>
                </a:solidFill>
                <a:latin typeface="Trebuchet MS"/>
                <a:cs typeface="Trebuchet MS"/>
              </a:rPr>
              <a:t>Docker</a:t>
            </a:r>
            <a:r>
              <a:rPr dirty="0" sz="800" spc="35">
                <a:solidFill>
                  <a:srgbClr val="828284"/>
                </a:solidFill>
                <a:latin typeface="Trebuchet MS"/>
                <a:cs typeface="Trebuchet MS"/>
              </a:rPr>
              <a:t> </a:t>
            </a:r>
            <a:r>
              <a:rPr dirty="0" sz="850" spc="-140">
                <a:solidFill>
                  <a:srgbClr val="828284"/>
                </a:solidFill>
                <a:latin typeface="Malgun Gothic"/>
                <a:cs typeface="Malgun Gothic"/>
              </a:rPr>
              <a:t>컨테이너로</a:t>
            </a:r>
            <a:r>
              <a:rPr dirty="0" sz="850" spc="-60">
                <a:solidFill>
                  <a:srgbClr val="828284"/>
                </a:solidFill>
                <a:latin typeface="Malgun Gothic"/>
                <a:cs typeface="Malgun Gothic"/>
              </a:rPr>
              <a:t> </a:t>
            </a:r>
            <a:r>
              <a:rPr dirty="0" sz="850" spc="-25">
                <a:solidFill>
                  <a:srgbClr val="828284"/>
                </a:solidFill>
                <a:latin typeface="Malgun Gothic"/>
                <a:cs typeface="Malgun Gothic"/>
              </a:rPr>
              <a:t>실행</a:t>
            </a:r>
            <a:r>
              <a:rPr dirty="0" sz="800" spc="-25">
                <a:solidFill>
                  <a:srgbClr val="828284"/>
                </a:solidFill>
                <a:latin typeface="Trebuchet MS"/>
                <a:cs typeface="Trebuchet MS"/>
              </a:rPr>
              <a:t>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4075" y="1999324"/>
            <a:ext cx="3486150" cy="115252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00" spc="-225" b="1">
                <a:solidFill>
                  <a:srgbClr val="1C1C1F"/>
                </a:solidFill>
                <a:latin typeface="Malgun Gothic"/>
                <a:cs typeface="Malgun Gothic"/>
              </a:rPr>
              <a:t>전처리</a:t>
            </a:r>
            <a:r>
              <a:rPr dirty="0" sz="1100" spc="-8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050" spc="-105" b="1">
                <a:solidFill>
                  <a:srgbClr val="1C1C1F"/>
                </a:solidFill>
                <a:latin typeface="Tahoma"/>
                <a:cs typeface="Tahoma"/>
              </a:rPr>
              <a:t>·</a:t>
            </a:r>
            <a:r>
              <a:rPr dirty="0" sz="1050" spc="-40" b="1">
                <a:solidFill>
                  <a:srgbClr val="1C1C1F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렌더링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165">
                <a:solidFill>
                  <a:srgbClr val="5E5E60"/>
                </a:solidFill>
                <a:latin typeface="Malgun Gothic"/>
                <a:cs typeface="Malgun Gothic"/>
              </a:rPr>
              <a:t>슬라이드를</a:t>
            </a:r>
            <a:r>
              <a:rPr dirty="0" sz="900" spc="-9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60">
                <a:solidFill>
                  <a:srgbClr val="5E5E60"/>
                </a:solidFill>
                <a:latin typeface="Malgun Gothic"/>
                <a:cs typeface="Malgun Gothic"/>
              </a:rPr>
              <a:t>이미지로</a:t>
            </a:r>
            <a:r>
              <a:rPr dirty="0" sz="900" spc="-9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40">
                <a:solidFill>
                  <a:srgbClr val="5E5E60"/>
                </a:solidFill>
                <a:latin typeface="Malgun Gothic"/>
                <a:cs typeface="Malgun Gothic"/>
              </a:rPr>
              <a:t>굽고</a:t>
            </a:r>
            <a:r>
              <a:rPr dirty="0" sz="850" spc="-140">
                <a:solidFill>
                  <a:srgbClr val="5E5E60"/>
                </a:solidFill>
                <a:latin typeface="Trebuchet MS"/>
                <a:cs typeface="Trebuchet MS"/>
              </a:rPr>
              <a:t>,</a:t>
            </a:r>
            <a:r>
              <a:rPr dirty="0" sz="850" spc="5">
                <a:solidFill>
                  <a:srgbClr val="5E5E60"/>
                </a:solidFill>
                <a:latin typeface="Trebuchet MS"/>
                <a:cs typeface="Trebuchet MS"/>
              </a:rPr>
              <a:t> </a:t>
            </a: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복잡한</a:t>
            </a:r>
            <a:r>
              <a:rPr dirty="0" sz="900" spc="-11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표는</a:t>
            </a:r>
            <a:r>
              <a:rPr dirty="0" sz="900" spc="-9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70">
                <a:solidFill>
                  <a:srgbClr val="5E5E60"/>
                </a:solidFill>
                <a:latin typeface="Malgun Gothic"/>
                <a:cs typeface="Malgun Gothic"/>
              </a:rPr>
              <a:t>분리해서</a:t>
            </a:r>
            <a:r>
              <a:rPr dirty="0" sz="900" spc="-1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0">
                <a:solidFill>
                  <a:srgbClr val="5E5E60"/>
                </a:solidFill>
                <a:latin typeface="Malgun Gothic"/>
                <a:cs typeface="Malgun Gothic"/>
              </a:rPr>
              <a:t>따로</a:t>
            </a:r>
            <a:r>
              <a:rPr dirty="0" sz="900" spc="-9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5E5E60"/>
                </a:solidFill>
                <a:latin typeface="Malgun Gothic"/>
                <a:cs typeface="Malgun Gothic"/>
              </a:rPr>
              <a:t>다룬다</a:t>
            </a:r>
            <a:r>
              <a:rPr dirty="0" sz="850" spc="-20">
                <a:solidFill>
                  <a:srgbClr val="5E5E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  <a:p>
            <a:pPr marL="126364" marR="5080" indent="38100">
              <a:lnSpc>
                <a:spcPct val="129400"/>
              </a:lnSpc>
              <a:spcBef>
                <a:spcPts val="110"/>
              </a:spcBef>
            </a:pP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python-pptx</a:t>
            </a:r>
            <a:r>
              <a:rPr dirty="0" sz="750" spc="10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로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20">
                <a:solidFill>
                  <a:srgbClr val="757577"/>
                </a:solidFill>
                <a:latin typeface="Malgun Gothic"/>
                <a:cs typeface="Malgun Gothic"/>
              </a:rPr>
              <a:t>슬라이드</a:t>
            </a:r>
            <a:r>
              <a:rPr dirty="0" sz="800" spc="-8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파싱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55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셀</a:t>
            </a:r>
            <a:r>
              <a:rPr dirty="0" sz="800" spc="-7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25">
                <a:solidFill>
                  <a:srgbClr val="757577"/>
                </a:solidFill>
                <a:latin typeface="Malgun Gothic"/>
                <a:cs typeface="Malgun Gothic"/>
              </a:rPr>
              <a:t>병합</a:t>
            </a:r>
            <a:r>
              <a:rPr dirty="0" sz="750" spc="-125">
                <a:solidFill>
                  <a:srgbClr val="757577"/>
                </a:solidFill>
                <a:latin typeface="Trebuchet MS"/>
                <a:cs typeface="Trebuchet MS"/>
              </a:rPr>
              <a:t>·</a:t>
            </a:r>
            <a:r>
              <a:rPr dirty="0" sz="800" spc="-125">
                <a:solidFill>
                  <a:srgbClr val="757577"/>
                </a:solidFill>
                <a:latin typeface="Malgun Gothic"/>
                <a:cs typeface="Malgun Gothic"/>
              </a:rPr>
              <a:t>중첩</a:t>
            </a:r>
            <a:r>
              <a:rPr dirty="0" sz="800" spc="-1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셀</a:t>
            </a:r>
            <a:r>
              <a:rPr dirty="0" sz="800" spc="-6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25">
                <a:solidFill>
                  <a:srgbClr val="757577"/>
                </a:solidFill>
                <a:latin typeface="Malgun Gothic"/>
                <a:cs typeface="Malgun Gothic"/>
              </a:rPr>
              <a:t>휴리스틱으로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복잡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표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감지 </a:t>
            </a:r>
            <a:r>
              <a:rPr dirty="0" sz="800" spc="-140">
                <a:solidFill>
                  <a:srgbClr val="757577"/>
                </a:solidFill>
                <a:latin typeface="Malgun Gothic"/>
                <a:cs typeface="Malgun Gothic"/>
              </a:rPr>
              <a:t>감지된</a:t>
            </a:r>
            <a:r>
              <a:rPr dirty="0" sz="800" spc="-5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표는</a:t>
            </a:r>
            <a:r>
              <a:rPr dirty="0" sz="800" spc="22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"</a:t>
            </a:r>
            <a:r>
              <a:rPr dirty="0" sz="750">
                <a:solidFill>
                  <a:srgbClr val="1C1C1F"/>
                </a:solidFill>
                <a:latin typeface="Malgun Gothic"/>
                <a:cs typeface="Malgun Gothic"/>
              </a:rPr>
              <a:t>표</a:t>
            </a:r>
            <a:r>
              <a:rPr dirty="0" sz="750" spc="160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1C1C1F"/>
                </a:solidFill>
                <a:latin typeface="Malgun Gothic"/>
                <a:cs typeface="Malgun Gothic"/>
              </a:rPr>
              <a:t>자리</a:t>
            </a:r>
            <a:r>
              <a:rPr dirty="0" sz="800" spc="210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N"</a:t>
            </a:r>
            <a:r>
              <a:rPr dirty="0" sz="750" spc="7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placeholder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로 </a:t>
            </a:r>
            <a:r>
              <a:rPr dirty="0" sz="800" spc="-140">
                <a:solidFill>
                  <a:srgbClr val="757577"/>
                </a:solidFill>
                <a:latin typeface="Malgun Gothic"/>
                <a:cs typeface="Malgun Gothic"/>
              </a:rPr>
              <a:t>마스킹</a:t>
            </a:r>
            <a:r>
              <a:rPr dirty="0" sz="800" spc="-3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+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별도</a:t>
            </a:r>
            <a:r>
              <a:rPr dirty="0" sz="800" spc="-9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sub-pptx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로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저장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LibreOffice</a:t>
            </a:r>
            <a:r>
              <a:rPr dirty="0" sz="750" spc="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headless</a:t>
            </a:r>
            <a:r>
              <a:rPr dirty="0" sz="750" spc="2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(</a:t>
            </a:r>
            <a:r>
              <a:rPr dirty="0" sz="750" spc="10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UserInstallation</a:t>
            </a:r>
            <a:r>
              <a:rPr dirty="0" sz="750" spc="13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격리</a:t>
            </a:r>
            <a:r>
              <a:rPr dirty="0" sz="750" spc="-114">
                <a:solidFill>
                  <a:srgbClr val="757577"/>
                </a:solidFill>
                <a:latin typeface="Trebuchet MS"/>
                <a:cs typeface="Trebuchet MS"/>
              </a:rPr>
              <a:t>)</a:t>
            </a:r>
            <a:r>
              <a:rPr dirty="0" sz="750" spc="2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로</a:t>
            </a:r>
            <a:r>
              <a:rPr dirty="0" sz="800" spc="-7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.pptx</a:t>
            </a:r>
            <a:r>
              <a:rPr dirty="0" sz="750" spc="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70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PDF</a:t>
            </a:r>
            <a:r>
              <a:rPr dirty="0" sz="750" spc="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변환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pdf2image</a:t>
            </a:r>
            <a:r>
              <a:rPr dirty="0" sz="750" spc="15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80">
                <a:solidFill>
                  <a:srgbClr val="757577"/>
                </a:solidFill>
                <a:latin typeface="Malgun Gothic"/>
                <a:cs typeface="Malgun Gothic"/>
              </a:rPr>
              <a:t>가</a:t>
            </a:r>
            <a:r>
              <a:rPr dirty="0" sz="800" spc="-9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PDF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80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800" spc="-120">
                <a:solidFill>
                  <a:srgbClr val="757577"/>
                </a:solidFill>
                <a:latin typeface="Malgun Gothic"/>
                <a:cs typeface="Malgun Gothic"/>
              </a:rPr>
              <a:t>슬라이드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85">
                <a:solidFill>
                  <a:srgbClr val="757577"/>
                </a:solidFill>
                <a:latin typeface="Trebuchet MS"/>
                <a:cs typeface="Trebuchet MS"/>
              </a:rPr>
              <a:t>PNG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300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DPI,</a:t>
            </a:r>
            <a:r>
              <a:rPr dirty="0" sz="750" spc="3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shape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35">
                <a:solidFill>
                  <a:srgbClr val="757577"/>
                </a:solidFill>
                <a:latin typeface="Malgun Gothic"/>
                <a:cs typeface="Malgun Gothic"/>
              </a:rPr>
              <a:t>별</a:t>
            </a:r>
            <a:r>
              <a:rPr dirty="0" sz="800" spc="-1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-10">
                <a:solidFill>
                  <a:srgbClr val="757577"/>
                </a:solidFill>
                <a:latin typeface="Trebuchet MS"/>
                <a:cs typeface="Trebuchet MS"/>
              </a:rPr>
              <a:t>entity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90">
                <a:solidFill>
                  <a:srgbClr val="757577"/>
                </a:solidFill>
                <a:latin typeface="Trebuchet MS"/>
                <a:cs typeface="Trebuchet MS"/>
              </a:rPr>
              <a:t>JSON</a:t>
            </a:r>
            <a:r>
              <a:rPr dirty="0" sz="750" spc="3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직렬화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66774" y="1914144"/>
            <a:ext cx="6463665" cy="2534285"/>
            <a:chOff x="866774" y="1914144"/>
            <a:chExt cx="6463665" cy="2534285"/>
          </a:xfrm>
        </p:grpSpPr>
        <p:sp>
          <p:nvSpPr>
            <p:cNvPr id="51" name="object 51"/>
            <p:cNvSpPr/>
            <p:nvPr/>
          </p:nvSpPr>
          <p:spPr>
            <a:xfrm>
              <a:off x="866774" y="306704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5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742431" y="1914144"/>
              <a:ext cx="1588135" cy="1100455"/>
            </a:xfrm>
            <a:custGeom>
              <a:avLst/>
              <a:gdLst/>
              <a:ahLst/>
              <a:cxnLst/>
              <a:rect l="l" t="t" r="r" b="b"/>
              <a:pathLst>
                <a:path w="1588134" h="1100455">
                  <a:moveTo>
                    <a:pt x="1588007" y="1100327"/>
                  </a:moveTo>
                  <a:lnTo>
                    <a:pt x="0" y="1100327"/>
                  </a:lnTo>
                  <a:lnTo>
                    <a:pt x="0" y="0"/>
                  </a:lnTo>
                  <a:lnTo>
                    <a:pt x="1588007" y="0"/>
                  </a:lnTo>
                  <a:lnTo>
                    <a:pt x="1588007" y="144370"/>
                  </a:lnTo>
                  <a:lnTo>
                    <a:pt x="1278426" y="144370"/>
                  </a:lnTo>
                  <a:lnTo>
                    <a:pt x="213089" y="200202"/>
                  </a:lnTo>
                  <a:lnTo>
                    <a:pt x="173609" y="219033"/>
                  </a:lnTo>
                  <a:lnTo>
                    <a:pt x="159008" y="260264"/>
                  </a:lnTo>
                  <a:lnTo>
                    <a:pt x="188317" y="819525"/>
                  </a:lnTo>
                  <a:lnTo>
                    <a:pt x="212383" y="856508"/>
                  </a:lnTo>
                  <a:lnTo>
                    <a:pt x="240415" y="866434"/>
                  </a:lnTo>
                  <a:lnTo>
                    <a:pt x="1588007" y="866434"/>
                  </a:lnTo>
                  <a:lnTo>
                    <a:pt x="1588007" y="1100327"/>
                  </a:lnTo>
                  <a:close/>
                </a:path>
                <a:path w="1588134" h="1100455">
                  <a:moveTo>
                    <a:pt x="1588007" y="866434"/>
                  </a:moveTo>
                  <a:lnTo>
                    <a:pt x="240415" y="866434"/>
                  </a:lnTo>
                  <a:lnTo>
                    <a:pt x="1313321" y="810206"/>
                  </a:lnTo>
                  <a:lnTo>
                    <a:pt x="1324654" y="808564"/>
                  </a:lnTo>
                  <a:lnTo>
                    <a:pt x="1359654" y="782201"/>
                  </a:lnTo>
                  <a:lnTo>
                    <a:pt x="1367402" y="750143"/>
                  </a:lnTo>
                  <a:lnTo>
                    <a:pt x="1338667" y="201843"/>
                  </a:lnTo>
                  <a:lnTo>
                    <a:pt x="1338581" y="200202"/>
                  </a:lnTo>
                  <a:lnTo>
                    <a:pt x="1319658" y="158971"/>
                  </a:lnTo>
                  <a:lnTo>
                    <a:pt x="1278426" y="144370"/>
                  </a:lnTo>
                  <a:lnTo>
                    <a:pt x="1588007" y="144370"/>
                  </a:lnTo>
                  <a:lnTo>
                    <a:pt x="1588007" y="866434"/>
                  </a:lnTo>
                  <a:close/>
                </a:path>
              </a:pathLst>
            </a:custGeom>
            <a:solidFill>
              <a:srgbClr val="000000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Slide thumbnail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1043" y="2058117"/>
              <a:ext cx="1209186" cy="72246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305049" y="3971924"/>
              <a:ext cx="476250" cy="123825"/>
            </a:xfrm>
            <a:custGeom>
              <a:avLst/>
              <a:gdLst/>
              <a:ahLst/>
              <a:cxnLst/>
              <a:rect l="l" t="t" r="r" b="b"/>
              <a:pathLst>
                <a:path w="476250" h="123825">
                  <a:moveTo>
                    <a:pt x="45146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451464" y="0"/>
                  </a:lnTo>
                  <a:lnTo>
                    <a:pt x="476249" y="24785"/>
                  </a:lnTo>
                  <a:lnTo>
                    <a:pt x="476249" y="99039"/>
                  </a:lnTo>
                  <a:lnTo>
                    <a:pt x="455109" y="123099"/>
                  </a:lnTo>
                  <a:lnTo>
                    <a:pt x="45146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6774" y="401954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5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990724" y="4143374"/>
              <a:ext cx="990600" cy="123825"/>
            </a:xfrm>
            <a:custGeom>
              <a:avLst/>
              <a:gdLst/>
              <a:ahLst/>
              <a:cxnLst/>
              <a:rect l="l" t="t" r="r" b="b"/>
              <a:pathLst>
                <a:path w="990600" h="123825">
                  <a:moveTo>
                    <a:pt x="96581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965814" y="0"/>
                  </a:lnTo>
                  <a:lnTo>
                    <a:pt x="990600" y="24785"/>
                  </a:lnTo>
                  <a:lnTo>
                    <a:pt x="990600" y="99039"/>
                  </a:lnTo>
                  <a:lnTo>
                    <a:pt x="969458" y="123099"/>
                  </a:lnTo>
                  <a:lnTo>
                    <a:pt x="96581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66774" y="419099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438262" y="4324349"/>
              <a:ext cx="2019300" cy="123825"/>
            </a:xfrm>
            <a:custGeom>
              <a:avLst/>
              <a:gdLst/>
              <a:ahLst/>
              <a:cxnLst/>
              <a:rect l="l" t="t" r="r" b="b"/>
              <a:pathLst>
                <a:path w="2019300" h="123825">
                  <a:moveTo>
                    <a:pt x="771525" y="24790"/>
                  </a:moveTo>
                  <a:lnTo>
                    <a:pt x="746747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95250"/>
                  </a:lnTo>
                  <a:lnTo>
                    <a:pt x="0" y="99047"/>
                  </a:lnTo>
                  <a:lnTo>
                    <a:pt x="24790" y="123825"/>
                  </a:lnTo>
                  <a:lnTo>
                    <a:pt x="746747" y="123825"/>
                  </a:lnTo>
                  <a:lnTo>
                    <a:pt x="771525" y="99047"/>
                  </a:lnTo>
                  <a:lnTo>
                    <a:pt x="771525" y="24790"/>
                  </a:lnTo>
                  <a:close/>
                </a:path>
                <a:path w="2019300" h="123825">
                  <a:moveTo>
                    <a:pt x="2019300" y="24790"/>
                  </a:moveTo>
                  <a:lnTo>
                    <a:pt x="1994522" y="0"/>
                  </a:lnTo>
                  <a:lnTo>
                    <a:pt x="1110640" y="0"/>
                  </a:lnTo>
                  <a:lnTo>
                    <a:pt x="1085850" y="24790"/>
                  </a:lnTo>
                  <a:lnTo>
                    <a:pt x="1085850" y="95250"/>
                  </a:lnTo>
                  <a:lnTo>
                    <a:pt x="1085850" y="99047"/>
                  </a:lnTo>
                  <a:lnTo>
                    <a:pt x="1110640" y="123825"/>
                  </a:lnTo>
                  <a:lnTo>
                    <a:pt x="1994522" y="123825"/>
                  </a:lnTo>
                  <a:lnTo>
                    <a:pt x="2019300" y="99047"/>
                  </a:lnTo>
                  <a:lnTo>
                    <a:pt x="2019300" y="24790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854075" y="3475699"/>
            <a:ext cx="3074035" cy="9779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50" spc="-60" b="1">
                <a:solidFill>
                  <a:srgbClr val="1C1C1F"/>
                </a:solidFill>
                <a:latin typeface="Tahoma"/>
                <a:cs typeface="Tahoma"/>
              </a:rPr>
              <a:t>Key-</a:t>
            </a:r>
            <a:r>
              <a:rPr dirty="0" sz="1050" spc="-65" b="1">
                <a:solidFill>
                  <a:srgbClr val="1C1C1F"/>
                </a:solidFill>
                <a:latin typeface="Tahoma"/>
                <a:cs typeface="Tahoma"/>
              </a:rPr>
              <a:t>Value</a:t>
            </a:r>
            <a:r>
              <a:rPr dirty="0" sz="1050" spc="-30" b="1">
                <a:solidFill>
                  <a:srgbClr val="1C1C1F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추출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125">
                <a:solidFill>
                  <a:srgbClr val="5E5E60"/>
                </a:solidFill>
                <a:latin typeface="Malgun Gothic"/>
                <a:cs typeface="Malgun Gothic"/>
              </a:rPr>
              <a:t>비전</a:t>
            </a:r>
            <a:r>
              <a:rPr dirty="0" sz="850" spc="-125">
                <a:solidFill>
                  <a:srgbClr val="5E5E60"/>
                </a:solidFill>
                <a:latin typeface="Trebuchet MS"/>
                <a:cs typeface="Trebuchet MS"/>
              </a:rPr>
              <a:t>-</a:t>
            </a:r>
            <a:r>
              <a:rPr dirty="0" sz="900" spc="-190">
                <a:solidFill>
                  <a:srgbClr val="5E5E60"/>
                </a:solidFill>
                <a:latin typeface="Malgun Gothic"/>
                <a:cs typeface="Malgun Gothic"/>
              </a:rPr>
              <a:t>언어</a:t>
            </a:r>
            <a:r>
              <a:rPr dirty="0" sz="900" spc="-2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80">
                <a:solidFill>
                  <a:srgbClr val="5E5E60"/>
                </a:solidFill>
                <a:latin typeface="Malgun Gothic"/>
                <a:cs typeface="Malgun Gothic"/>
              </a:rPr>
              <a:t>모델이</a:t>
            </a:r>
            <a:r>
              <a:rPr dirty="0" sz="900" spc="-2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65">
                <a:solidFill>
                  <a:srgbClr val="5E5E60"/>
                </a:solidFill>
                <a:latin typeface="Malgun Gothic"/>
                <a:cs typeface="Malgun Gothic"/>
              </a:rPr>
              <a:t>슬라이드를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0">
                <a:solidFill>
                  <a:srgbClr val="5E5E60"/>
                </a:solidFill>
                <a:latin typeface="Malgun Gothic"/>
                <a:cs typeface="Malgun Gothic"/>
              </a:rPr>
              <a:t>읽고</a:t>
            </a:r>
            <a:r>
              <a:rPr dirty="0" sz="900" spc="-10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90">
                <a:solidFill>
                  <a:srgbClr val="5E5E60"/>
                </a:solidFill>
                <a:latin typeface="Malgun Gothic"/>
                <a:cs typeface="Malgun Gothic"/>
              </a:rPr>
              <a:t>초기</a:t>
            </a:r>
            <a:r>
              <a:rPr dirty="0" sz="900" spc="-1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850" spc="85">
                <a:solidFill>
                  <a:srgbClr val="5E5E60"/>
                </a:solidFill>
                <a:latin typeface="Trebuchet MS"/>
                <a:cs typeface="Trebuchet MS"/>
              </a:rPr>
              <a:t>JSON</a:t>
            </a:r>
            <a:r>
              <a:rPr dirty="0" sz="850" spc="-5">
                <a:solidFill>
                  <a:srgbClr val="5E5E60"/>
                </a:solidFill>
                <a:latin typeface="Trebuchet MS"/>
                <a:cs typeface="Trebuchet MS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을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0">
                <a:solidFill>
                  <a:srgbClr val="5E5E60"/>
                </a:solidFill>
                <a:latin typeface="Malgun Gothic"/>
                <a:cs typeface="Malgun Gothic"/>
              </a:rPr>
              <a:t>만든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95">
                <a:solidFill>
                  <a:srgbClr val="5E5E60"/>
                </a:solidFill>
                <a:latin typeface="Malgun Gothic"/>
                <a:cs typeface="Malgun Gothic"/>
              </a:rPr>
              <a:t>뒤</a:t>
            </a:r>
            <a:r>
              <a:rPr dirty="0" sz="900" spc="-2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850" spc="-30">
                <a:solidFill>
                  <a:srgbClr val="5E5E60"/>
                </a:solidFill>
                <a:latin typeface="Trebuchet MS"/>
                <a:cs typeface="Trebuchet MS"/>
              </a:rPr>
              <a:t>reflect</a:t>
            </a:r>
            <a:r>
              <a:rPr dirty="0" sz="850" spc="-5">
                <a:solidFill>
                  <a:srgbClr val="5E5E60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5E5E60"/>
                </a:solidFill>
                <a:latin typeface="Malgun Gothic"/>
                <a:cs typeface="Malgun Gothic"/>
              </a:rPr>
              <a:t>한다</a:t>
            </a:r>
            <a:r>
              <a:rPr dirty="0" sz="850" spc="-30">
                <a:solidFill>
                  <a:srgbClr val="5E5E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  <a:p>
            <a:pPr marL="126364" marR="61594">
              <a:lnSpc>
                <a:spcPct val="131600"/>
              </a:lnSpc>
              <a:spcBef>
                <a:spcPts val="365"/>
              </a:spcBef>
            </a:pPr>
            <a:r>
              <a:rPr dirty="0" sz="800" spc="-120">
                <a:solidFill>
                  <a:srgbClr val="757577"/>
                </a:solidFill>
                <a:latin typeface="Malgun Gothic"/>
                <a:cs typeface="Malgun Gothic"/>
              </a:rPr>
              <a:t>슬라이드</a:t>
            </a:r>
            <a:r>
              <a:rPr dirty="0" sz="800" spc="-9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0">
                <a:solidFill>
                  <a:srgbClr val="757577"/>
                </a:solidFill>
                <a:latin typeface="Malgun Gothic"/>
                <a:cs typeface="Malgun Gothic"/>
              </a:rPr>
              <a:t>이미지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+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추출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80">
                <a:solidFill>
                  <a:srgbClr val="757577"/>
                </a:solidFill>
                <a:latin typeface="Malgun Gothic"/>
                <a:cs typeface="Malgun Gothic"/>
              </a:rPr>
              <a:t>텍스트를</a:t>
            </a:r>
            <a:r>
              <a:rPr dirty="0" sz="800" spc="22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gpt-5.4</a:t>
            </a:r>
            <a:r>
              <a:rPr dirty="0" sz="750" spc="8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Vision </a:t>
            </a:r>
            <a:r>
              <a:rPr dirty="0" sz="800" spc="-125">
                <a:solidFill>
                  <a:srgbClr val="757577"/>
                </a:solidFill>
                <a:latin typeface="Malgun Gothic"/>
                <a:cs typeface="Malgun Gothic"/>
              </a:rPr>
              <a:t>입력으로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동시</a:t>
            </a:r>
            <a:r>
              <a:rPr dirty="0" sz="800" spc="-3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75">
                <a:solidFill>
                  <a:srgbClr val="757577"/>
                </a:solidFill>
                <a:latin typeface="Malgun Gothic"/>
                <a:cs typeface="Malgun Gothic"/>
              </a:rPr>
              <a:t>전달 </a:t>
            </a:r>
            <a:r>
              <a:rPr dirty="0" sz="800" spc="-150">
                <a:solidFill>
                  <a:srgbClr val="757577"/>
                </a:solidFill>
                <a:latin typeface="Malgun Gothic"/>
                <a:cs typeface="Malgun Gothic"/>
              </a:rPr>
              <a:t>초기</a:t>
            </a:r>
            <a:r>
              <a:rPr dirty="0" sz="800" spc="-3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응답</a:t>
            </a:r>
            <a:r>
              <a:rPr dirty="0" sz="800" spc="-10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35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800" spc="-135">
                <a:solidFill>
                  <a:srgbClr val="757577"/>
                </a:solidFill>
                <a:latin typeface="Malgun Gothic"/>
                <a:cs typeface="Malgun Gothic"/>
              </a:rPr>
              <a:t>동일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 모델로</a:t>
            </a:r>
            <a:r>
              <a:rPr dirty="0" sz="800" spc="15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max_refine_iters</a:t>
            </a:r>
            <a:r>
              <a:rPr dirty="0" sz="750" spc="5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60">
                <a:solidFill>
                  <a:srgbClr val="757577"/>
                </a:solidFill>
                <a:latin typeface="Malgun Gothic"/>
                <a:cs typeface="Malgun Gothic"/>
              </a:rPr>
              <a:t>회</a:t>
            </a:r>
            <a:r>
              <a:rPr dirty="0" sz="800" spc="-3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-10">
                <a:solidFill>
                  <a:srgbClr val="757577"/>
                </a:solidFill>
                <a:latin typeface="Trebuchet MS"/>
                <a:cs typeface="Trebuchet MS"/>
              </a:rPr>
              <a:t>self-refine</a:t>
            </a:r>
            <a:r>
              <a:rPr dirty="0" sz="750" spc="-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루프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슬라이드별</a:t>
            </a:r>
            <a:r>
              <a:rPr dirty="0" sz="800" spc="18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{slide}.json</a:t>
            </a:r>
            <a:r>
              <a:rPr dirty="0" sz="750" spc="-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+</a:t>
            </a:r>
            <a:r>
              <a:rPr dirty="0" sz="750" spc="-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통합</a:t>
            </a:r>
            <a:r>
              <a:rPr dirty="0" sz="800" spc="13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kv_results.json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저장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66774" y="4371974"/>
            <a:ext cx="1190625" cy="1371600"/>
            <a:chOff x="866774" y="4371974"/>
            <a:chExt cx="1190625" cy="1371600"/>
          </a:xfrm>
        </p:grpSpPr>
        <p:sp>
          <p:nvSpPr>
            <p:cNvPr id="61" name="object 61"/>
            <p:cNvSpPr/>
            <p:nvPr/>
          </p:nvSpPr>
          <p:spPr>
            <a:xfrm>
              <a:off x="866762" y="4371974"/>
              <a:ext cx="38100" cy="1162050"/>
            </a:xfrm>
            <a:custGeom>
              <a:avLst/>
              <a:gdLst/>
              <a:ahLst/>
              <a:cxnLst/>
              <a:rect l="l" t="t" r="r" b="b"/>
              <a:pathLst>
                <a:path w="38100" h="1162050">
                  <a:moveTo>
                    <a:pt x="38100" y="1140485"/>
                  </a:moveTo>
                  <a:lnTo>
                    <a:pt x="21577" y="1123950"/>
                  </a:lnTo>
                  <a:lnTo>
                    <a:pt x="16535" y="1123950"/>
                  </a:lnTo>
                  <a:lnTo>
                    <a:pt x="0" y="1140485"/>
                  </a:lnTo>
                  <a:lnTo>
                    <a:pt x="0" y="1145527"/>
                  </a:lnTo>
                  <a:lnTo>
                    <a:pt x="16535" y="1162050"/>
                  </a:lnTo>
                  <a:lnTo>
                    <a:pt x="21577" y="1162050"/>
                  </a:lnTo>
                  <a:lnTo>
                    <a:pt x="38100" y="1145527"/>
                  </a:lnTo>
                  <a:lnTo>
                    <a:pt x="38100" y="1143000"/>
                  </a:lnTo>
                  <a:lnTo>
                    <a:pt x="38100" y="1140485"/>
                  </a:lnTo>
                  <a:close/>
                </a:path>
                <a:path w="38100" h="1162050">
                  <a:moveTo>
                    <a:pt x="38100" y="969035"/>
                  </a:moveTo>
                  <a:lnTo>
                    <a:pt x="21577" y="952500"/>
                  </a:lnTo>
                  <a:lnTo>
                    <a:pt x="16535" y="952500"/>
                  </a:lnTo>
                  <a:lnTo>
                    <a:pt x="0" y="969035"/>
                  </a:lnTo>
                  <a:lnTo>
                    <a:pt x="0" y="974077"/>
                  </a:lnTo>
                  <a:lnTo>
                    <a:pt x="16535" y="990600"/>
                  </a:lnTo>
                  <a:lnTo>
                    <a:pt x="21577" y="990600"/>
                  </a:lnTo>
                  <a:lnTo>
                    <a:pt x="38100" y="974077"/>
                  </a:lnTo>
                  <a:lnTo>
                    <a:pt x="38100" y="971550"/>
                  </a:lnTo>
                  <a:lnTo>
                    <a:pt x="38100" y="969035"/>
                  </a:lnTo>
                  <a:close/>
                </a:path>
                <a:path w="38100" h="116205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466849" y="5619749"/>
              <a:ext cx="590550" cy="123825"/>
            </a:xfrm>
            <a:custGeom>
              <a:avLst/>
              <a:gdLst/>
              <a:ahLst/>
              <a:cxnLst/>
              <a:rect l="l" t="t" r="r" b="b"/>
              <a:pathLst>
                <a:path w="590550" h="123825">
                  <a:moveTo>
                    <a:pt x="56576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9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565764" y="0"/>
                  </a:lnTo>
                  <a:lnTo>
                    <a:pt x="590549" y="24785"/>
                  </a:lnTo>
                  <a:lnTo>
                    <a:pt x="590549" y="99039"/>
                  </a:lnTo>
                  <a:lnTo>
                    <a:pt x="569409" y="123099"/>
                  </a:lnTo>
                  <a:lnTo>
                    <a:pt x="56576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66774" y="566737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854075" y="4780624"/>
            <a:ext cx="3552825" cy="115252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00" spc="-225" b="1">
                <a:solidFill>
                  <a:srgbClr val="1C1C1F"/>
                </a:solidFill>
                <a:latin typeface="Malgun Gothic"/>
                <a:cs typeface="Malgun Gothic"/>
              </a:rPr>
              <a:t>중첩</a:t>
            </a:r>
            <a:r>
              <a:rPr dirty="0" sz="1100" spc="-8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150" b="1">
                <a:solidFill>
                  <a:srgbClr val="1C1C1F"/>
                </a:solidFill>
                <a:latin typeface="Malgun Gothic"/>
                <a:cs typeface="Malgun Gothic"/>
              </a:rPr>
              <a:t>표</a:t>
            </a:r>
            <a:r>
              <a:rPr dirty="0" sz="1100" spc="-17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100" spc="-225" b="1">
                <a:solidFill>
                  <a:srgbClr val="1C1C1F"/>
                </a:solidFill>
                <a:latin typeface="Malgun Gothic"/>
                <a:cs typeface="Malgun Gothic"/>
              </a:rPr>
              <a:t>분석</a:t>
            </a:r>
            <a:r>
              <a:rPr dirty="0" sz="1100" spc="-85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050" spc="-20" b="1">
                <a:solidFill>
                  <a:srgbClr val="1C1C1F"/>
                </a:solidFill>
                <a:latin typeface="Tahoma"/>
                <a:cs typeface="Tahoma"/>
              </a:rPr>
              <a:t>(VQA)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170">
                <a:solidFill>
                  <a:srgbClr val="5E5E60"/>
                </a:solidFill>
                <a:latin typeface="Malgun Gothic"/>
                <a:cs typeface="Malgun Gothic"/>
              </a:rPr>
              <a:t>마스킹해</a:t>
            </a:r>
            <a:r>
              <a:rPr dirty="0" sz="900" spc="-5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둔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복잡한</a:t>
            </a:r>
            <a:r>
              <a:rPr dirty="0" sz="900" spc="-114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표를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0">
                <a:solidFill>
                  <a:srgbClr val="5E5E60"/>
                </a:solidFill>
                <a:latin typeface="Malgun Gothic"/>
                <a:cs typeface="Malgun Gothic"/>
              </a:rPr>
              <a:t>따로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두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70">
                <a:solidFill>
                  <a:srgbClr val="5E5E60"/>
                </a:solidFill>
                <a:latin typeface="Malgun Gothic"/>
                <a:cs typeface="Malgun Gothic"/>
              </a:rPr>
              <a:t>번째</a:t>
            </a:r>
            <a:r>
              <a:rPr dirty="0" sz="900" spc="-6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65">
                <a:solidFill>
                  <a:srgbClr val="5E5E60"/>
                </a:solidFill>
                <a:latin typeface="Malgun Gothic"/>
                <a:cs typeface="Malgun Gothic"/>
              </a:rPr>
              <a:t>모델에게</a:t>
            </a:r>
            <a:r>
              <a:rPr dirty="0" sz="900" spc="-4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90">
                <a:solidFill>
                  <a:srgbClr val="5E5E60"/>
                </a:solidFill>
                <a:latin typeface="Malgun Gothic"/>
                <a:cs typeface="Malgun Gothic"/>
              </a:rPr>
              <a:t>물어</a:t>
            </a:r>
            <a:r>
              <a:rPr dirty="0" sz="900" spc="-2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60">
                <a:solidFill>
                  <a:srgbClr val="5E5E60"/>
                </a:solidFill>
                <a:latin typeface="Malgun Gothic"/>
                <a:cs typeface="Malgun Gothic"/>
              </a:rPr>
              <a:t>구조를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5E5E60"/>
                </a:solidFill>
                <a:latin typeface="Malgun Gothic"/>
                <a:cs typeface="Malgun Gothic"/>
              </a:rPr>
              <a:t>복원한다</a:t>
            </a:r>
            <a:r>
              <a:rPr dirty="0" sz="850" spc="-20">
                <a:solidFill>
                  <a:srgbClr val="5E5E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  <a:p>
            <a:pPr marL="126364">
              <a:lnSpc>
                <a:spcPct val="100000"/>
              </a:lnSpc>
              <a:spcBef>
                <a:spcPts val="670"/>
              </a:spcBef>
            </a:pP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sub-slide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60">
                <a:solidFill>
                  <a:srgbClr val="757577"/>
                </a:solidFill>
                <a:latin typeface="Malgun Gothic"/>
                <a:cs typeface="Malgun Gothic"/>
              </a:rPr>
              <a:t>의</a:t>
            </a:r>
            <a:r>
              <a:rPr dirty="0" sz="800" spc="1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표</a:t>
            </a:r>
            <a:r>
              <a:rPr dirty="0" sz="800" spc="-6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20">
                <a:solidFill>
                  <a:srgbClr val="757577"/>
                </a:solidFill>
                <a:latin typeface="Malgun Gothic"/>
                <a:cs typeface="Malgun Gothic"/>
              </a:rPr>
              <a:t>영역을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잘라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60">
                <a:solidFill>
                  <a:srgbClr val="757577"/>
                </a:solidFill>
                <a:latin typeface="Trebuchet MS"/>
                <a:cs typeface="Trebuchet MS"/>
              </a:rPr>
              <a:t>ASCII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표로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직렬화</a:t>
            </a:r>
            <a:r>
              <a:rPr dirty="0" sz="800" spc="-9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후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85">
                <a:solidFill>
                  <a:srgbClr val="757577"/>
                </a:solidFill>
                <a:latin typeface="Trebuchet MS"/>
                <a:cs typeface="Trebuchet MS"/>
              </a:rPr>
              <a:t>LLM</a:t>
            </a:r>
            <a:r>
              <a:rPr dirty="0" sz="750" spc="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입력</a:t>
            </a:r>
            <a:endParaRPr sz="800">
              <a:latin typeface="Malgun Gothic"/>
              <a:cs typeface="Malgun Gothic"/>
            </a:endParaRPr>
          </a:p>
          <a:p>
            <a:pPr marL="126364" marR="534035">
              <a:lnSpc>
                <a:spcPct val="140600"/>
              </a:lnSpc>
            </a:pPr>
            <a:r>
              <a:rPr dirty="0" sz="800" spc="-140">
                <a:solidFill>
                  <a:srgbClr val="757577"/>
                </a:solidFill>
                <a:latin typeface="Malgun Gothic"/>
                <a:cs typeface="Malgun Gothic"/>
              </a:rPr>
              <a:t>모델이</a:t>
            </a:r>
            <a:r>
              <a:rPr dirty="0" sz="800" spc="2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Key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60">
                <a:solidFill>
                  <a:srgbClr val="757577"/>
                </a:solidFill>
                <a:latin typeface="Trebuchet MS"/>
                <a:cs typeface="Trebuchet MS"/>
              </a:rPr>
              <a:t>Row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-125">
                <a:solidFill>
                  <a:srgbClr val="757577"/>
                </a:solidFill>
                <a:latin typeface="Trebuchet MS"/>
                <a:cs typeface="Trebuchet MS"/>
              </a:rPr>
              <a:t>(</a:t>
            </a:r>
            <a:r>
              <a:rPr dirty="0" sz="800" spc="-125">
                <a:solidFill>
                  <a:srgbClr val="757577"/>
                </a:solidFill>
                <a:latin typeface="Malgun Gothic"/>
                <a:cs typeface="Malgun Gothic"/>
              </a:rPr>
              <a:t>헤더</a:t>
            </a:r>
            <a:r>
              <a:rPr dirty="0" sz="800" spc="2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55">
                <a:solidFill>
                  <a:srgbClr val="757577"/>
                </a:solidFill>
                <a:latin typeface="Trebuchet MS"/>
                <a:cs typeface="Trebuchet MS"/>
              </a:rPr>
              <a:t>1–</a:t>
            </a:r>
            <a:r>
              <a:rPr dirty="0" sz="750" spc="95">
                <a:solidFill>
                  <a:srgbClr val="757577"/>
                </a:solidFill>
                <a:latin typeface="Trebuchet MS"/>
                <a:cs typeface="Trebuchet MS"/>
              </a:rPr>
              <a:t>3</a:t>
            </a:r>
            <a:r>
              <a:rPr dirty="0" sz="750" spc="4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757577"/>
                </a:solidFill>
                <a:latin typeface="Malgun Gothic"/>
                <a:cs typeface="Malgun Gothic"/>
              </a:rPr>
              <a:t>행</a:t>
            </a:r>
            <a:r>
              <a:rPr dirty="0" sz="750" spc="-105">
                <a:solidFill>
                  <a:srgbClr val="757577"/>
                </a:solidFill>
                <a:latin typeface="Trebuchet MS"/>
                <a:cs typeface="Trebuchet MS"/>
              </a:rPr>
              <a:t>)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+</a:t>
            </a:r>
            <a:r>
              <a:rPr dirty="0" sz="750" spc="4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Key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Column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-100">
                <a:solidFill>
                  <a:srgbClr val="757577"/>
                </a:solidFill>
                <a:latin typeface="Trebuchet MS"/>
                <a:cs typeface="Trebuchet MS"/>
              </a:rPr>
              <a:t>(</a:t>
            </a:r>
            <a:r>
              <a:rPr dirty="0" sz="800" spc="-100">
                <a:solidFill>
                  <a:srgbClr val="757577"/>
                </a:solidFill>
                <a:latin typeface="Malgun Gothic"/>
                <a:cs typeface="Malgun Gothic"/>
              </a:rPr>
              <a:t>좌측</a:t>
            </a:r>
            <a:r>
              <a:rPr dirty="0" sz="800" spc="-5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ID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757577"/>
                </a:solidFill>
                <a:latin typeface="Malgun Gothic"/>
                <a:cs typeface="Malgun Gothic"/>
              </a:rPr>
              <a:t>열</a:t>
            </a:r>
            <a:r>
              <a:rPr dirty="0" sz="750" spc="-105">
                <a:solidFill>
                  <a:srgbClr val="757577"/>
                </a:solidFill>
                <a:latin typeface="Trebuchet MS"/>
                <a:cs typeface="Trebuchet MS"/>
              </a:rPr>
              <a:t>)</a:t>
            </a:r>
            <a:r>
              <a:rPr dirty="0" sz="750" spc="3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인덱스</a:t>
            </a:r>
            <a:r>
              <a:rPr dirty="0" sz="800" spc="-5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식별</a:t>
            </a:r>
            <a:r>
              <a:rPr dirty="0" sz="800" spc="50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35">
                <a:solidFill>
                  <a:srgbClr val="757577"/>
                </a:solidFill>
                <a:latin typeface="Malgun Gothic"/>
                <a:cs typeface="Malgun Gothic"/>
              </a:rPr>
              <a:t>식별된</a:t>
            </a:r>
            <a:r>
              <a:rPr dirty="0" sz="800" spc="-5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키로</a:t>
            </a:r>
            <a:r>
              <a:rPr dirty="0" sz="800" spc="13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TableTree</a:t>
            </a:r>
            <a:r>
              <a:rPr dirty="0" sz="750" spc="3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행</a:t>
            </a:r>
            <a:r>
              <a:rPr dirty="0" sz="750" spc="-110">
                <a:solidFill>
                  <a:srgbClr val="757577"/>
                </a:solidFill>
                <a:latin typeface="Trebuchet MS"/>
                <a:cs typeface="Trebuchet MS"/>
              </a:rPr>
              <a:t>·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열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트리</a:t>
            </a:r>
            <a:r>
              <a:rPr dirty="0" sz="800" spc="-3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재구성</a:t>
            </a:r>
            <a:endParaRPr sz="800">
              <a:latin typeface="Malgun Gothic"/>
              <a:cs typeface="Malgun Gothic"/>
            </a:endParaRPr>
          </a:p>
          <a:p>
            <a:pPr marL="126364">
              <a:lnSpc>
                <a:spcPct val="100000"/>
              </a:lnSpc>
              <a:spcBef>
                <a:spcPts val="315"/>
              </a:spcBef>
            </a:pPr>
            <a:r>
              <a:rPr dirty="0" sz="750" spc="-10">
                <a:solidFill>
                  <a:srgbClr val="757577"/>
                </a:solidFill>
                <a:latin typeface="Trebuchet MS"/>
                <a:cs typeface="Trebuchet MS"/>
              </a:rPr>
              <a:t>parent-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child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중복</a:t>
            </a:r>
            <a:r>
              <a:rPr dirty="0" sz="800" spc="-4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105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empty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key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105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750" spc="-10">
                <a:solidFill>
                  <a:srgbClr val="757577"/>
                </a:solidFill>
                <a:latin typeface="Trebuchet MS"/>
                <a:cs typeface="Trebuchet MS"/>
              </a:rPr>
              <a:t>majority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compression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(depth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20,</a:t>
            </a:r>
            <a:r>
              <a:rPr dirty="0" sz="750" spc="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t=0.5)</a:t>
            </a:r>
            <a:r>
              <a:rPr dirty="0" sz="750" spc="5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57577"/>
                </a:solidFill>
                <a:latin typeface="Malgun Gothic"/>
                <a:cs typeface="Malgun Gothic"/>
              </a:rPr>
              <a:t>정제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66774" y="5848349"/>
            <a:ext cx="3438525" cy="1552575"/>
            <a:chOff x="866774" y="5848349"/>
            <a:chExt cx="3438525" cy="1552575"/>
          </a:xfrm>
        </p:grpSpPr>
        <p:sp>
          <p:nvSpPr>
            <p:cNvPr id="66" name="object 66"/>
            <p:cNvSpPr/>
            <p:nvPr/>
          </p:nvSpPr>
          <p:spPr>
            <a:xfrm>
              <a:off x="866774" y="584834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590674" y="6743699"/>
              <a:ext cx="609600" cy="123825"/>
            </a:xfrm>
            <a:custGeom>
              <a:avLst/>
              <a:gdLst/>
              <a:ahLst/>
              <a:cxnLst/>
              <a:rect l="l" t="t" r="r" b="b"/>
              <a:pathLst>
                <a:path w="609600" h="123825">
                  <a:moveTo>
                    <a:pt x="58481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8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584814" y="0"/>
                  </a:lnTo>
                  <a:lnTo>
                    <a:pt x="609599" y="24785"/>
                  </a:lnTo>
                  <a:lnTo>
                    <a:pt x="609599" y="99038"/>
                  </a:lnTo>
                  <a:lnTo>
                    <a:pt x="588459" y="123099"/>
                  </a:lnTo>
                  <a:lnTo>
                    <a:pt x="58481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866774" y="679132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6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971799" y="6924674"/>
              <a:ext cx="1333500" cy="123825"/>
            </a:xfrm>
            <a:custGeom>
              <a:avLst/>
              <a:gdLst/>
              <a:ahLst/>
              <a:cxnLst/>
              <a:rect l="l" t="t" r="r" b="b"/>
              <a:pathLst>
                <a:path w="1333500" h="123825">
                  <a:moveTo>
                    <a:pt x="1308714" y="123824"/>
                  </a:moveTo>
                  <a:lnTo>
                    <a:pt x="24785" y="123824"/>
                  </a:lnTo>
                  <a:lnTo>
                    <a:pt x="21140" y="123099"/>
                  </a:lnTo>
                  <a:lnTo>
                    <a:pt x="0" y="99038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308714" y="0"/>
                  </a:lnTo>
                  <a:lnTo>
                    <a:pt x="1333499" y="24785"/>
                  </a:lnTo>
                  <a:lnTo>
                    <a:pt x="1333499" y="99038"/>
                  </a:lnTo>
                  <a:lnTo>
                    <a:pt x="1312359" y="123099"/>
                  </a:lnTo>
                  <a:lnTo>
                    <a:pt x="1308714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866762" y="6972299"/>
              <a:ext cx="38100" cy="209550"/>
            </a:xfrm>
            <a:custGeom>
              <a:avLst/>
              <a:gdLst/>
              <a:ahLst/>
              <a:cxnLst/>
              <a:rect l="l" t="t" r="r" b="b"/>
              <a:pathLst>
                <a:path w="38100" h="209550">
                  <a:moveTo>
                    <a:pt x="38100" y="187972"/>
                  </a:moveTo>
                  <a:lnTo>
                    <a:pt x="21577" y="171450"/>
                  </a:lnTo>
                  <a:lnTo>
                    <a:pt x="16535" y="171450"/>
                  </a:lnTo>
                  <a:lnTo>
                    <a:pt x="0" y="187972"/>
                  </a:lnTo>
                  <a:lnTo>
                    <a:pt x="0" y="193027"/>
                  </a:lnTo>
                  <a:lnTo>
                    <a:pt x="16535" y="209550"/>
                  </a:lnTo>
                  <a:lnTo>
                    <a:pt x="21577" y="209550"/>
                  </a:lnTo>
                  <a:lnTo>
                    <a:pt x="38100" y="193027"/>
                  </a:lnTo>
                  <a:lnTo>
                    <a:pt x="38100" y="190500"/>
                  </a:lnTo>
                  <a:lnTo>
                    <a:pt x="38100" y="187972"/>
                  </a:lnTo>
                  <a:close/>
                </a:path>
                <a:path w="38100" h="20955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466849" y="7277099"/>
              <a:ext cx="1857375" cy="123825"/>
            </a:xfrm>
            <a:custGeom>
              <a:avLst/>
              <a:gdLst/>
              <a:ahLst/>
              <a:cxnLst/>
              <a:rect l="l" t="t" r="r" b="b"/>
              <a:pathLst>
                <a:path w="1857375" h="123825">
                  <a:moveTo>
                    <a:pt x="1832589" y="123824"/>
                  </a:moveTo>
                  <a:lnTo>
                    <a:pt x="24785" y="123824"/>
                  </a:lnTo>
                  <a:lnTo>
                    <a:pt x="21140" y="123098"/>
                  </a:lnTo>
                  <a:lnTo>
                    <a:pt x="0" y="99038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832589" y="0"/>
                  </a:lnTo>
                  <a:lnTo>
                    <a:pt x="1857374" y="24785"/>
                  </a:lnTo>
                  <a:lnTo>
                    <a:pt x="1857374" y="99038"/>
                  </a:lnTo>
                  <a:lnTo>
                    <a:pt x="1836234" y="123098"/>
                  </a:lnTo>
                  <a:lnTo>
                    <a:pt x="1832589" y="123824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854075" y="6256998"/>
            <a:ext cx="3493135" cy="11493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00" spc="-175" b="1">
                <a:solidFill>
                  <a:srgbClr val="1C1C1F"/>
                </a:solidFill>
                <a:latin typeface="Malgun Gothic"/>
                <a:cs typeface="Malgun Gothic"/>
              </a:rPr>
              <a:t>병합</a:t>
            </a:r>
            <a:r>
              <a:rPr dirty="0" sz="1100" spc="-190" b="1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1050" spc="-105" b="1">
                <a:solidFill>
                  <a:srgbClr val="1C1C1F"/>
                </a:solidFill>
                <a:latin typeface="Tahoma"/>
                <a:cs typeface="Tahoma"/>
              </a:rPr>
              <a:t>·</a:t>
            </a:r>
            <a:r>
              <a:rPr dirty="0" sz="1050" spc="-35" b="1">
                <a:solidFill>
                  <a:srgbClr val="1C1C1F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1C1C1F"/>
                </a:solidFill>
                <a:latin typeface="Malgun Gothic"/>
                <a:cs typeface="Malgun Gothic"/>
              </a:rPr>
              <a:t>후처리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본문</a:t>
            </a:r>
            <a:r>
              <a:rPr dirty="0" sz="900" spc="-11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850" spc="85">
                <a:solidFill>
                  <a:srgbClr val="5E5E60"/>
                </a:solidFill>
                <a:latin typeface="Trebuchet MS"/>
                <a:cs typeface="Trebuchet MS"/>
              </a:rPr>
              <a:t>JSON</a:t>
            </a:r>
            <a:r>
              <a:rPr dirty="0" sz="850" spc="-5">
                <a:solidFill>
                  <a:srgbClr val="5E5E60"/>
                </a:solidFill>
                <a:latin typeface="Trebuchet MS"/>
                <a:cs typeface="Trebuchet MS"/>
              </a:rPr>
              <a:t> </a:t>
            </a:r>
            <a:r>
              <a:rPr dirty="0" sz="900" spc="-195">
                <a:solidFill>
                  <a:srgbClr val="5E5E60"/>
                </a:solidFill>
                <a:latin typeface="Malgun Gothic"/>
                <a:cs typeface="Malgun Gothic"/>
              </a:rPr>
              <a:t>의</a:t>
            </a:r>
            <a:r>
              <a:rPr dirty="0" sz="900" spc="-3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표</a:t>
            </a:r>
            <a:r>
              <a:rPr dirty="0" sz="900" spc="-10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70">
                <a:solidFill>
                  <a:srgbClr val="5E5E60"/>
                </a:solidFill>
                <a:latin typeface="Malgun Gothic"/>
                <a:cs typeface="Malgun Gothic"/>
              </a:rPr>
              <a:t>자리에</a:t>
            </a:r>
            <a:r>
              <a:rPr dirty="0" sz="900" spc="-5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70">
                <a:solidFill>
                  <a:srgbClr val="5E5E60"/>
                </a:solidFill>
                <a:latin typeface="Malgun Gothic"/>
                <a:cs typeface="Malgun Gothic"/>
              </a:rPr>
              <a:t>복원된</a:t>
            </a:r>
            <a:r>
              <a:rPr dirty="0" sz="900" spc="-4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표</a:t>
            </a:r>
            <a:r>
              <a:rPr dirty="0" sz="900" spc="-10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850" spc="85">
                <a:solidFill>
                  <a:srgbClr val="5E5E60"/>
                </a:solidFill>
                <a:latin typeface="Trebuchet MS"/>
                <a:cs typeface="Trebuchet MS"/>
              </a:rPr>
              <a:t>JSON</a:t>
            </a:r>
            <a:r>
              <a:rPr dirty="0" sz="850" spc="-10">
                <a:solidFill>
                  <a:srgbClr val="5E5E60"/>
                </a:solidFill>
                <a:latin typeface="Trebuchet MS"/>
                <a:cs typeface="Trebuchet MS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을</a:t>
            </a:r>
            <a:r>
              <a:rPr dirty="0" sz="900" spc="-10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80">
                <a:solidFill>
                  <a:srgbClr val="5E5E60"/>
                </a:solidFill>
                <a:latin typeface="Malgun Gothic"/>
                <a:cs typeface="Malgun Gothic"/>
              </a:rPr>
              <a:t>다시</a:t>
            </a:r>
            <a:r>
              <a:rPr dirty="0" sz="900" spc="-4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80">
                <a:solidFill>
                  <a:srgbClr val="5E5E60"/>
                </a:solidFill>
                <a:latin typeface="Malgun Gothic"/>
                <a:cs typeface="Malgun Gothic"/>
              </a:rPr>
              <a:t>끼워</a:t>
            </a:r>
            <a:r>
              <a:rPr dirty="0" sz="900" spc="-3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0">
                <a:solidFill>
                  <a:srgbClr val="5E5E60"/>
                </a:solidFill>
                <a:latin typeface="Malgun Gothic"/>
                <a:cs typeface="Malgun Gothic"/>
              </a:rPr>
              <a:t>넣고</a:t>
            </a:r>
            <a:r>
              <a:rPr dirty="0" sz="900" spc="-10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5E5E60"/>
                </a:solidFill>
                <a:latin typeface="Malgun Gothic"/>
                <a:cs typeface="Malgun Gothic"/>
              </a:rPr>
              <a:t>정리한다</a:t>
            </a:r>
            <a:r>
              <a:rPr dirty="0" sz="850" spc="-20">
                <a:solidFill>
                  <a:srgbClr val="5E5E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  <a:p>
            <a:pPr marL="126364">
              <a:lnSpc>
                <a:spcPct val="100000"/>
              </a:lnSpc>
              <a:spcBef>
                <a:spcPts val="595"/>
              </a:spcBef>
            </a:pP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본문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90">
                <a:solidFill>
                  <a:srgbClr val="757577"/>
                </a:solidFill>
                <a:latin typeface="Trebuchet MS"/>
                <a:cs typeface="Trebuchet MS"/>
              </a:rPr>
              <a:t>JSON</a:t>
            </a:r>
            <a:r>
              <a:rPr dirty="0" sz="750" spc="-6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57577"/>
                </a:solidFill>
                <a:latin typeface="Malgun Gothic"/>
                <a:cs typeface="Malgun Gothic"/>
              </a:rPr>
              <a:t>의</a:t>
            </a:r>
            <a:r>
              <a:rPr dirty="0" sz="800" spc="20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"</a:t>
            </a:r>
            <a:r>
              <a:rPr dirty="0" sz="750">
                <a:solidFill>
                  <a:srgbClr val="1C1C1F"/>
                </a:solidFill>
                <a:latin typeface="Malgun Gothic"/>
                <a:cs typeface="Malgun Gothic"/>
              </a:rPr>
              <a:t>표</a:t>
            </a:r>
            <a:r>
              <a:rPr dirty="0" sz="750" spc="114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1C1C1F"/>
                </a:solidFill>
                <a:latin typeface="Malgun Gothic"/>
                <a:cs typeface="Malgun Gothic"/>
              </a:rPr>
              <a:t>자리</a:t>
            </a:r>
            <a:r>
              <a:rPr dirty="0" sz="800" spc="165">
                <a:solidFill>
                  <a:srgbClr val="1C1C1F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N"</a:t>
            </a:r>
            <a:r>
              <a:rPr dirty="0" sz="750" spc="2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20">
                <a:solidFill>
                  <a:srgbClr val="757577"/>
                </a:solidFill>
                <a:latin typeface="Malgun Gothic"/>
                <a:cs typeface="Malgun Gothic"/>
              </a:rPr>
              <a:t>패턴을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normalize</a:t>
            </a:r>
            <a:r>
              <a:rPr dirty="0" sz="750" spc="-2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후 </a:t>
            </a:r>
            <a:r>
              <a:rPr dirty="0" sz="800" spc="-105">
                <a:solidFill>
                  <a:srgbClr val="757577"/>
                </a:solidFill>
                <a:latin typeface="Malgun Gothic"/>
                <a:cs typeface="Malgun Gothic"/>
              </a:rPr>
              <a:t>정확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매칭</a:t>
            </a:r>
            <a:endParaRPr sz="800">
              <a:latin typeface="Malgun Gothic"/>
              <a:cs typeface="Malgun Gothic"/>
            </a:endParaRPr>
          </a:p>
          <a:p>
            <a:pPr marL="126364" marR="5080">
              <a:lnSpc>
                <a:spcPct val="125000"/>
              </a:lnSpc>
              <a:spcBef>
                <a:spcPts val="225"/>
              </a:spcBef>
            </a:pPr>
            <a:r>
              <a:rPr dirty="0" sz="800" spc="-130">
                <a:solidFill>
                  <a:srgbClr val="757577"/>
                </a:solidFill>
                <a:latin typeface="Malgun Gothic"/>
                <a:cs typeface="Malgun Gothic"/>
              </a:rPr>
              <a:t>매칭된</a:t>
            </a:r>
            <a:r>
              <a:rPr dirty="0" sz="800" spc="-4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30">
                <a:solidFill>
                  <a:srgbClr val="757577"/>
                </a:solidFill>
                <a:latin typeface="Malgun Gothic"/>
                <a:cs typeface="Malgun Gothic"/>
              </a:rPr>
              <a:t>위치에</a:t>
            </a:r>
            <a:r>
              <a:rPr dirty="0" sz="800" spc="-4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nested table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90">
                <a:solidFill>
                  <a:srgbClr val="757577"/>
                </a:solidFill>
                <a:latin typeface="Trebuchet MS"/>
                <a:cs typeface="Trebuchet MS"/>
              </a:rPr>
              <a:t>JSON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을</a:t>
            </a:r>
            <a:r>
              <a:rPr dirty="0" sz="800" spc="-8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재귀</a:t>
            </a:r>
            <a:r>
              <a:rPr dirty="0" sz="800" spc="-3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50">
                <a:solidFill>
                  <a:srgbClr val="757577"/>
                </a:solidFill>
                <a:latin typeface="Malgun Gothic"/>
                <a:cs typeface="Malgun Gothic"/>
              </a:rPr>
              <a:t>삽입</a:t>
            </a:r>
            <a:r>
              <a:rPr dirty="0" sz="800" spc="-2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(</a:t>
            </a:r>
            <a:r>
              <a:rPr dirty="0" sz="750" spc="8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merge_tables_recursive</a:t>
            </a:r>
            <a:r>
              <a:rPr dirty="0" sz="750" spc="-14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757577"/>
                </a:solidFill>
                <a:latin typeface="Trebuchet MS"/>
                <a:cs typeface="Trebuchet MS"/>
              </a:rPr>
              <a:t>)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 key</a:t>
            </a:r>
            <a:r>
              <a:rPr dirty="0" sz="750" spc="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normalize</a:t>
            </a:r>
            <a:r>
              <a:rPr dirty="0" sz="750" spc="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70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부모</a:t>
            </a:r>
            <a:r>
              <a:rPr dirty="0" sz="750" spc="-95">
                <a:solidFill>
                  <a:srgbClr val="757577"/>
                </a:solidFill>
                <a:latin typeface="Trebuchet MS"/>
                <a:cs typeface="Trebuchet MS"/>
              </a:rPr>
              <a:t>-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자식</a:t>
            </a:r>
            <a:r>
              <a:rPr dirty="0" sz="800" spc="-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중복</a:t>
            </a:r>
            <a:r>
              <a:rPr dirty="0" sz="800" spc="-7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제거</a:t>
            </a:r>
            <a:r>
              <a:rPr dirty="0" sz="800" spc="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950" spc="-11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65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빈</a:t>
            </a:r>
            <a:r>
              <a:rPr dirty="0" sz="800" spc="-2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노드</a:t>
            </a:r>
            <a:r>
              <a:rPr dirty="0" sz="800" spc="-7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prune</a:t>
            </a:r>
            <a:r>
              <a:rPr dirty="0" sz="750" spc="2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으로</a:t>
            </a:r>
            <a:r>
              <a:rPr dirty="0" sz="800" spc="-7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트리</a:t>
            </a:r>
            <a:r>
              <a:rPr dirty="0" sz="800" spc="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정제</a:t>
            </a:r>
            <a:endParaRPr sz="800">
              <a:latin typeface="Malgun Gothic"/>
              <a:cs typeface="Malgun Gothic"/>
            </a:endParaRPr>
          </a:p>
          <a:p>
            <a:pPr marL="126364">
              <a:lnSpc>
                <a:spcPct val="100000"/>
              </a:lnSpc>
              <a:spcBef>
                <a:spcPts val="434"/>
              </a:spcBef>
            </a:pP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최종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60">
                <a:solidFill>
                  <a:srgbClr val="757577"/>
                </a:solidFill>
                <a:latin typeface="Malgun Gothic"/>
                <a:cs typeface="Malgun Gothic"/>
              </a:rPr>
              <a:t>결과를</a:t>
            </a:r>
            <a:r>
              <a:rPr dirty="0" sz="800" spc="13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merged_json_post/{file_id}.json</a:t>
            </a:r>
            <a:r>
              <a:rPr dirty="0" sz="750" spc="2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으로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직렬화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66774" y="7324724"/>
            <a:ext cx="2847975" cy="1552575"/>
            <a:chOff x="866774" y="7324724"/>
            <a:chExt cx="2847975" cy="1552575"/>
          </a:xfrm>
        </p:grpSpPr>
        <p:sp>
          <p:nvSpPr>
            <p:cNvPr id="74" name="object 74"/>
            <p:cNvSpPr/>
            <p:nvPr/>
          </p:nvSpPr>
          <p:spPr>
            <a:xfrm>
              <a:off x="866774" y="732472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5"/>
                  </a:lnTo>
                  <a:lnTo>
                    <a:pt x="0" y="16522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352549" y="8229599"/>
              <a:ext cx="771525" cy="123825"/>
            </a:xfrm>
            <a:custGeom>
              <a:avLst/>
              <a:gdLst/>
              <a:ahLst/>
              <a:cxnLst/>
              <a:rect l="l" t="t" r="r" b="b"/>
              <a:pathLst>
                <a:path w="771525" h="123825">
                  <a:moveTo>
                    <a:pt x="746739" y="123823"/>
                  </a:moveTo>
                  <a:lnTo>
                    <a:pt x="24785" y="123823"/>
                  </a:lnTo>
                  <a:lnTo>
                    <a:pt x="21140" y="123098"/>
                  </a:lnTo>
                  <a:lnTo>
                    <a:pt x="0" y="99038"/>
                  </a:lnTo>
                  <a:lnTo>
                    <a:pt x="0" y="9524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746739" y="0"/>
                  </a:lnTo>
                  <a:lnTo>
                    <a:pt x="771524" y="24785"/>
                  </a:lnTo>
                  <a:lnTo>
                    <a:pt x="771524" y="99038"/>
                  </a:lnTo>
                  <a:lnTo>
                    <a:pt x="750384" y="123098"/>
                  </a:lnTo>
                  <a:lnTo>
                    <a:pt x="746739" y="123823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66774" y="827722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5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81062" y="8401049"/>
              <a:ext cx="2733675" cy="123825"/>
            </a:xfrm>
            <a:custGeom>
              <a:avLst/>
              <a:gdLst/>
              <a:ahLst/>
              <a:cxnLst/>
              <a:rect l="l" t="t" r="r" b="b"/>
              <a:pathLst>
                <a:path w="2733675" h="123825">
                  <a:moveTo>
                    <a:pt x="762000" y="24790"/>
                  </a:moveTo>
                  <a:lnTo>
                    <a:pt x="73722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95250"/>
                  </a:lnTo>
                  <a:lnTo>
                    <a:pt x="0" y="99047"/>
                  </a:lnTo>
                  <a:lnTo>
                    <a:pt x="24790" y="123825"/>
                  </a:lnTo>
                  <a:lnTo>
                    <a:pt x="737222" y="123825"/>
                  </a:lnTo>
                  <a:lnTo>
                    <a:pt x="762000" y="99047"/>
                  </a:lnTo>
                  <a:lnTo>
                    <a:pt x="762000" y="24790"/>
                  </a:lnTo>
                  <a:close/>
                </a:path>
                <a:path w="2733675" h="123825">
                  <a:moveTo>
                    <a:pt x="2733675" y="24790"/>
                  </a:moveTo>
                  <a:lnTo>
                    <a:pt x="2708897" y="0"/>
                  </a:lnTo>
                  <a:lnTo>
                    <a:pt x="1529740" y="0"/>
                  </a:lnTo>
                  <a:lnTo>
                    <a:pt x="1504950" y="24790"/>
                  </a:lnTo>
                  <a:lnTo>
                    <a:pt x="1504950" y="95250"/>
                  </a:lnTo>
                  <a:lnTo>
                    <a:pt x="1504950" y="99047"/>
                  </a:lnTo>
                  <a:lnTo>
                    <a:pt x="1529740" y="123825"/>
                  </a:lnTo>
                  <a:lnTo>
                    <a:pt x="2708897" y="123825"/>
                  </a:lnTo>
                  <a:lnTo>
                    <a:pt x="2733675" y="99047"/>
                  </a:lnTo>
                  <a:lnTo>
                    <a:pt x="2733675" y="24790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66774" y="844867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5"/>
                  </a:lnTo>
                  <a:lnTo>
                    <a:pt x="0" y="16522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981062" y="8582024"/>
              <a:ext cx="1066800" cy="123825"/>
            </a:xfrm>
            <a:custGeom>
              <a:avLst/>
              <a:gdLst/>
              <a:ahLst/>
              <a:cxnLst/>
              <a:rect l="l" t="t" r="r" b="b"/>
              <a:pathLst>
                <a:path w="1066800" h="123825">
                  <a:moveTo>
                    <a:pt x="419100" y="24790"/>
                  </a:moveTo>
                  <a:lnTo>
                    <a:pt x="39432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95250"/>
                  </a:lnTo>
                  <a:lnTo>
                    <a:pt x="0" y="99047"/>
                  </a:lnTo>
                  <a:lnTo>
                    <a:pt x="24790" y="123825"/>
                  </a:lnTo>
                  <a:lnTo>
                    <a:pt x="394322" y="123825"/>
                  </a:lnTo>
                  <a:lnTo>
                    <a:pt x="419100" y="99047"/>
                  </a:lnTo>
                  <a:lnTo>
                    <a:pt x="419100" y="24790"/>
                  </a:lnTo>
                  <a:close/>
                </a:path>
                <a:path w="1066800" h="123825">
                  <a:moveTo>
                    <a:pt x="1066800" y="24790"/>
                  </a:moveTo>
                  <a:lnTo>
                    <a:pt x="1042022" y="0"/>
                  </a:lnTo>
                  <a:lnTo>
                    <a:pt x="558190" y="0"/>
                  </a:lnTo>
                  <a:lnTo>
                    <a:pt x="533400" y="24790"/>
                  </a:lnTo>
                  <a:lnTo>
                    <a:pt x="533400" y="95250"/>
                  </a:lnTo>
                  <a:lnTo>
                    <a:pt x="533400" y="99047"/>
                  </a:lnTo>
                  <a:lnTo>
                    <a:pt x="558190" y="123825"/>
                  </a:lnTo>
                  <a:lnTo>
                    <a:pt x="1042022" y="123825"/>
                  </a:lnTo>
                  <a:lnTo>
                    <a:pt x="1066800" y="99047"/>
                  </a:lnTo>
                  <a:lnTo>
                    <a:pt x="1066800" y="24790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66774" y="862964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576" y="38099"/>
                  </a:moveTo>
                  <a:lnTo>
                    <a:pt x="16523" y="38099"/>
                  </a:lnTo>
                  <a:lnTo>
                    <a:pt x="14093" y="37615"/>
                  </a:lnTo>
                  <a:lnTo>
                    <a:pt x="0" y="21575"/>
                  </a:lnTo>
                  <a:lnTo>
                    <a:pt x="0" y="16522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100" y="19049"/>
                  </a:lnTo>
                  <a:lnTo>
                    <a:pt x="38099" y="21575"/>
                  </a:lnTo>
                  <a:lnTo>
                    <a:pt x="21576" y="3809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81062" y="8753474"/>
              <a:ext cx="1933575" cy="123825"/>
            </a:xfrm>
            <a:custGeom>
              <a:avLst/>
              <a:gdLst/>
              <a:ahLst/>
              <a:cxnLst/>
              <a:rect l="l" t="t" r="r" b="b"/>
              <a:pathLst>
                <a:path w="1933575" h="123825">
                  <a:moveTo>
                    <a:pt x="1219200" y="24790"/>
                  </a:moveTo>
                  <a:lnTo>
                    <a:pt x="119442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95250"/>
                  </a:lnTo>
                  <a:lnTo>
                    <a:pt x="0" y="99047"/>
                  </a:lnTo>
                  <a:lnTo>
                    <a:pt x="24790" y="123825"/>
                  </a:lnTo>
                  <a:lnTo>
                    <a:pt x="1194422" y="123825"/>
                  </a:lnTo>
                  <a:lnTo>
                    <a:pt x="1219200" y="99047"/>
                  </a:lnTo>
                  <a:lnTo>
                    <a:pt x="1219200" y="24790"/>
                  </a:lnTo>
                  <a:close/>
                </a:path>
                <a:path w="1933575" h="123825">
                  <a:moveTo>
                    <a:pt x="1933575" y="24790"/>
                  </a:moveTo>
                  <a:lnTo>
                    <a:pt x="1908797" y="0"/>
                  </a:lnTo>
                  <a:lnTo>
                    <a:pt x="1586890" y="0"/>
                  </a:lnTo>
                  <a:lnTo>
                    <a:pt x="1562100" y="24790"/>
                  </a:lnTo>
                  <a:lnTo>
                    <a:pt x="1562100" y="95250"/>
                  </a:lnTo>
                  <a:lnTo>
                    <a:pt x="1562100" y="99047"/>
                  </a:lnTo>
                  <a:lnTo>
                    <a:pt x="1586890" y="123825"/>
                  </a:lnTo>
                  <a:lnTo>
                    <a:pt x="1908797" y="123825"/>
                  </a:lnTo>
                  <a:lnTo>
                    <a:pt x="1933575" y="99047"/>
                  </a:lnTo>
                  <a:lnTo>
                    <a:pt x="1933575" y="24790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854075" y="7734377"/>
            <a:ext cx="3279775" cy="114871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50" b="1">
                <a:solidFill>
                  <a:srgbClr val="1C1C1F"/>
                </a:solidFill>
                <a:latin typeface="Tahoma"/>
                <a:cs typeface="Tahoma"/>
              </a:rPr>
              <a:t>JSON</a:t>
            </a:r>
            <a:r>
              <a:rPr dirty="0" sz="1050" spc="-50" b="1">
                <a:solidFill>
                  <a:srgbClr val="1C1C1F"/>
                </a:solidFill>
                <a:latin typeface="Tahoma"/>
                <a:cs typeface="Tahoma"/>
              </a:rPr>
              <a:t> </a:t>
            </a:r>
            <a:r>
              <a:rPr dirty="0" sz="1050" spc="-105" b="1">
                <a:solidFill>
                  <a:srgbClr val="1C1C1F"/>
                </a:solidFill>
                <a:latin typeface="Tahoma"/>
                <a:cs typeface="Tahoma"/>
              </a:rPr>
              <a:t>·</a:t>
            </a:r>
            <a:r>
              <a:rPr dirty="0" sz="1050" spc="-45" b="1">
                <a:solidFill>
                  <a:srgbClr val="1C1C1F"/>
                </a:solidFill>
                <a:latin typeface="Tahoma"/>
                <a:cs typeface="Tahoma"/>
              </a:rPr>
              <a:t> </a:t>
            </a:r>
            <a:r>
              <a:rPr dirty="0" sz="1050" spc="-30" b="1">
                <a:solidFill>
                  <a:srgbClr val="1C1C1F"/>
                </a:solidFill>
                <a:latin typeface="Tahoma"/>
                <a:cs typeface="Tahoma"/>
              </a:rPr>
              <a:t>Excel</a:t>
            </a:r>
            <a:r>
              <a:rPr dirty="0" sz="1050" spc="-45" b="1">
                <a:solidFill>
                  <a:srgbClr val="1C1C1F"/>
                </a:solidFill>
                <a:latin typeface="Tahoma"/>
                <a:cs typeface="Tahoma"/>
              </a:rPr>
              <a:t> </a:t>
            </a:r>
            <a:r>
              <a:rPr dirty="0" sz="1100" spc="-20" b="1">
                <a:solidFill>
                  <a:srgbClr val="1C1C1F"/>
                </a:solidFill>
                <a:latin typeface="Malgun Gothic"/>
                <a:cs typeface="Malgun Gothic"/>
              </a:rPr>
              <a:t>내보내기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결과를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80">
                <a:solidFill>
                  <a:srgbClr val="5E5E60"/>
                </a:solidFill>
                <a:latin typeface="Malgun Gothic"/>
                <a:cs typeface="Malgun Gothic"/>
              </a:rPr>
              <a:t>웹에서</a:t>
            </a:r>
            <a:r>
              <a:rPr dirty="0" sz="900" spc="-2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0">
                <a:solidFill>
                  <a:srgbClr val="5E5E60"/>
                </a:solidFill>
                <a:latin typeface="Malgun Gothic"/>
                <a:cs typeface="Malgun Gothic"/>
              </a:rPr>
              <a:t>바로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45">
                <a:solidFill>
                  <a:srgbClr val="5E5E60"/>
                </a:solidFill>
                <a:latin typeface="Malgun Gothic"/>
                <a:cs typeface="Malgun Gothic"/>
              </a:rPr>
              <a:t>보고</a:t>
            </a:r>
            <a:r>
              <a:rPr dirty="0" sz="850" spc="-145">
                <a:solidFill>
                  <a:srgbClr val="5E5E60"/>
                </a:solidFill>
                <a:latin typeface="Trebuchet MS"/>
                <a:cs typeface="Trebuchet MS"/>
              </a:rPr>
              <a:t>,</a:t>
            </a:r>
            <a:r>
              <a:rPr dirty="0" sz="850">
                <a:solidFill>
                  <a:srgbClr val="5E5E60"/>
                </a:solidFill>
                <a:latin typeface="Trebuchet MS"/>
                <a:cs typeface="Trebuchet MS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표</a:t>
            </a:r>
            <a:r>
              <a:rPr dirty="0" sz="900" spc="-9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55">
                <a:solidFill>
                  <a:srgbClr val="5E5E60"/>
                </a:solidFill>
                <a:latin typeface="Malgun Gothic"/>
                <a:cs typeface="Malgun Gothic"/>
              </a:rPr>
              <a:t>형태로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받아</a:t>
            </a:r>
            <a:r>
              <a:rPr dirty="0" sz="900" spc="-12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14">
                <a:solidFill>
                  <a:srgbClr val="5E5E60"/>
                </a:solidFill>
                <a:latin typeface="Malgun Gothic"/>
                <a:cs typeface="Malgun Gothic"/>
              </a:rPr>
              <a:t>갈 </a:t>
            </a:r>
            <a:r>
              <a:rPr dirty="0" sz="900" spc="-135">
                <a:solidFill>
                  <a:srgbClr val="5E5E60"/>
                </a:solidFill>
                <a:latin typeface="Malgun Gothic"/>
                <a:cs typeface="Malgun Gothic"/>
              </a:rPr>
              <a:t>수</a:t>
            </a:r>
            <a:r>
              <a:rPr dirty="0" sz="900" spc="-100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175">
                <a:solidFill>
                  <a:srgbClr val="5E5E60"/>
                </a:solidFill>
                <a:latin typeface="Malgun Gothic"/>
                <a:cs typeface="Malgun Gothic"/>
              </a:rPr>
              <a:t>있게</a:t>
            </a:r>
            <a:r>
              <a:rPr dirty="0" sz="900" spc="-45">
                <a:solidFill>
                  <a:srgbClr val="5E5E60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5E5E60"/>
                </a:solidFill>
                <a:latin typeface="Malgun Gothic"/>
                <a:cs typeface="Malgun Gothic"/>
              </a:rPr>
              <a:t>노출한다</a:t>
            </a:r>
            <a:r>
              <a:rPr dirty="0" sz="850" spc="-20">
                <a:solidFill>
                  <a:srgbClr val="5E5E60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  <a:p>
            <a:pPr marL="164465" marR="5080" indent="-38100">
              <a:lnSpc>
                <a:spcPct val="131600"/>
              </a:lnSpc>
              <a:spcBef>
                <a:spcPts val="365"/>
              </a:spcBef>
            </a:pP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FastAPI</a:t>
            </a:r>
            <a:r>
              <a:rPr dirty="0" sz="750" spc="4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/api/convert</a:t>
            </a:r>
            <a:r>
              <a:rPr dirty="0" sz="750" spc="19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30">
                <a:solidFill>
                  <a:srgbClr val="757577"/>
                </a:solidFill>
                <a:latin typeface="Malgun Gothic"/>
                <a:cs typeface="Malgun Gothic"/>
              </a:rPr>
              <a:t>응답에</a:t>
            </a:r>
            <a:r>
              <a:rPr dirty="0" sz="800" spc="1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통합</a:t>
            </a:r>
            <a:r>
              <a:rPr dirty="0" sz="800" spc="-6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 spc="90">
                <a:solidFill>
                  <a:srgbClr val="757577"/>
                </a:solidFill>
                <a:latin typeface="Trebuchet MS"/>
                <a:cs typeface="Trebuchet MS"/>
              </a:rPr>
              <a:t>JSON</a:t>
            </a:r>
            <a:r>
              <a:rPr dirty="0" sz="750" spc="4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+</a:t>
            </a:r>
            <a:r>
              <a:rPr dirty="0" sz="750" spc="4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Excel</a:t>
            </a:r>
            <a:r>
              <a:rPr dirty="0" sz="750" spc="4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preview</a:t>
            </a:r>
            <a:r>
              <a:rPr dirty="0" sz="750" spc="4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(≤200</a:t>
            </a:r>
            <a:r>
              <a:rPr dirty="0" sz="750" spc="4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행</a:t>
            </a:r>
            <a:r>
              <a:rPr dirty="0" sz="750" spc="-25">
                <a:solidFill>
                  <a:srgbClr val="757577"/>
                </a:solidFill>
                <a:latin typeface="Trebuchet MS"/>
                <a:cs typeface="Trebuchet MS"/>
              </a:rPr>
              <a:t>)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flatten_json</a:t>
            </a:r>
            <a:r>
              <a:rPr dirty="0" sz="750" spc="4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으로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중첩</a:t>
            </a:r>
            <a:r>
              <a:rPr dirty="0" sz="800" spc="-3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dict</a:t>
            </a:r>
            <a:r>
              <a:rPr dirty="0" sz="750" spc="-1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757577"/>
                </a:solidFill>
                <a:latin typeface="Cambria"/>
                <a:cs typeface="Cambria"/>
              </a:rPr>
              <a:t>→</a:t>
            </a:r>
            <a:r>
              <a:rPr dirty="0" sz="950" spc="330">
                <a:solidFill>
                  <a:srgbClr val="757577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(key1..key11,</a:t>
            </a:r>
            <a:r>
              <a:rPr dirty="0" sz="750" spc="-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value)</a:t>
            </a:r>
            <a:r>
              <a:rPr dirty="0" sz="750" spc="5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145">
                <a:solidFill>
                  <a:srgbClr val="757577"/>
                </a:solidFill>
                <a:latin typeface="Malgun Gothic"/>
                <a:cs typeface="Malgun Gothic"/>
              </a:rPr>
              <a:t>행</a:t>
            </a:r>
            <a:r>
              <a:rPr dirty="0" sz="800" spc="-5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평탄화</a:t>
            </a:r>
            <a:r>
              <a:rPr dirty="0" sz="80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pandas</a:t>
            </a:r>
            <a:r>
              <a:rPr dirty="0" sz="750" spc="7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750" spc="80">
                <a:solidFill>
                  <a:srgbClr val="757577"/>
                </a:solidFill>
                <a:latin typeface="Trebuchet MS"/>
                <a:cs typeface="Trebuchet MS"/>
              </a:rPr>
              <a:t>+</a:t>
            </a:r>
            <a:r>
              <a:rPr dirty="0" sz="750" spc="30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openpyxl</a:t>
            </a:r>
            <a:r>
              <a:rPr dirty="0" sz="750" spc="75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로</a:t>
            </a:r>
            <a:r>
              <a:rPr dirty="0" sz="800" spc="-9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4">
                <a:solidFill>
                  <a:srgbClr val="757577"/>
                </a:solidFill>
                <a:latin typeface="Malgun Gothic"/>
                <a:cs typeface="Malgun Gothic"/>
              </a:rPr>
              <a:t>시트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110">
                <a:solidFill>
                  <a:srgbClr val="757577"/>
                </a:solidFill>
                <a:latin typeface="Malgun Gothic"/>
                <a:cs typeface="Malgun Gothic"/>
              </a:rPr>
              <a:t>작성</a:t>
            </a:r>
            <a:r>
              <a:rPr dirty="0" sz="750" spc="-110">
                <a:solidFill>
                  <a:srgbClr val="757577"/>
                </a:solidFill>
                <a:latin typeface="Trebuchet MS"/>
                <a:cs typeface="Trebuchet MS"/>
              </a:rPr>
              <a:t>,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alternating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row</a:t>
            </a:r>
            <a:r>
              <a:rPr dirty="0" sz="750" spc="-5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757577"/>
                </a:solidFill>
                <a:latin typeface="Trebuchet MS"/>
                <a:cs typeface="Trebuchet MS"/>
              </a:rPr>
              <a:t>shading</a:t>
            </a:r>
            <a:endParaRPr sz="750">
              <a:latin typeface="Trebuchet MS"/>
              <a:cs typeface="Trebuchet MS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</a:pP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/api/excel/{file_id}</a:t>
            </a:r>
            <a:r>
              <a:rPr dirty="0" sz="750" spc="1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80">
                <a:solidFill>
                  <a:srgbClr val="757577"/>
                </a:solidFill>
                <a:latin typeface="Malgun Gothic"/>
                <a:cs typeface="Malgun Gothic"/>
              </a:rPr>
              <a:t>가</a:t>
            </a:r>
            <a:r>
              <a:rPr dirty="0" sz="800" spc="-12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757577"/>
                </a:solidFill>
                <a:latin typeface="Malgun Gothic"/>
                <a:cs typeface="Malgun Gothic"/>
              </a:rPr>
              <a:t>원본</a:t>
            </a:r>
            <a:r>
              <a:rPr dirty="0" sz="800" spc="180">
                <a:solidFill>
                  <a:srgbClr val="757577"/>
                </a:solidFill>
                <a:latin typeface="Malgun Gothic"/>
                <a:cs typeface="Malgun Gothic"/>
              </a:rPr>
              <a:t> </a:t>
            </a:r>
            <a:r>
              <a:rPr dirty="0" sz="750">
                <a:solidFill>
                  <a:srgbClr val="1C1C1F"/>
                </a:solidFill>
                <a:latin typeface="Courier New"/>
                <a:cs typeface="Courier New"/>
              </a:rPr>
              <a:t>.xlsx</a:t>
            </a:r>
            <a:r>
              <a:rPr dirty="0" sz="750" spc="40">
                <a:solidFill>
                  <a:srgbClr val="1C1C1F"/>
                </a:solidFill>
                <a:latin typeface="Courier New"/>
                <a:cs typeface="Courier New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를 </a:t>
            </a:r>
            <a:r>
              <a:rPr dirty="0" sz="750">
                <a:solidFill>
                  <a:srgbClr val="757577"/>
                </a:solidFill>
                <a:latin typeface="Trebuchet MS"/>
                <a:cs typeface="Trebuchet MS"/>
              </a:rPr>
              <a:t>attachment</a:t>
            </a:r>
            <a:r>
              <a:rPr dirty="0" sz="750" spc="-20">
                <a:solidFill>
                  <a:srgbClr val="757577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757577"/>
                </a:solidFill>
                <a:latin typeface="Malgun Gothic"/>
                <a:cs typeface="Malgun Gothic"/>
              </a:rPr>
              <a:t>로 </a:t>
            </a:r>
            <a:r>
              <a:rPr dirty="0" sz="800" spc="-20">
                <a:solidFill>
                  <a:srgbClr val="757577"/>
                </a:solidFill>
                <a:latin typeface="Malgun Gothic"/>
                <a:cs typeface="Malgun Gothic"/>
              </a:rPr>
              <a:t>다운로드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66774" y="8801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2026-06-29T02:34:00Z</dcterms:created>
  <dcterms:modified xsi:type="dcterms:W3CDTF">2026-06-29T02:34:00Z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2026-06-29T00:00:00Z</vt:filetime>
  </property>
  <property fmtid="{D5CDD505-2E9C-101B-9397-08002B2CF9AE}" pid="4" name="LastSaved">
    <vt:filetime>2026-06-29T00:00:00Z</vt:filetime>
  </property>
  <property fmtid="{D5CDD505-2E9C-101B-9397-08002B2CF9AE}" pid="5" name="Producer">
    <vt:lpwstr>iLovePDF</vt:lpwstr>
  </property>
</Properties>
</file>