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</p:sldIdLst>
  <p:sldSz cx="7559675" cy="10691813"/>
  <p:notesSz cx="6858000" cy="9144000"/>
  <p:embeddedFontLst>
    <p:embeddedFont>
      <p:font typeface="Malgun Gothic" panose="020B0503020000020004" pitchFamily="50" charset="-127"/>
      <p:regular r:id="rId4"/>
      <p:bold r:id="rId5"/>
    </p:embeddedFon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Cambria" panose="02040503050406030204" pitchFamily="18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50" d="100"/>
          <a:sy n="150" d="100"/>
        </p:scale>
        <p:origin x="1224" y="-52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59984" cy="3493008"/>
          </a:xfrm>
          <a:prstGeom prst="rect">
            <a:avLst/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38125"/>
            <a:ext cx="6645584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20" dirty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SW BOOTCAMP 13기   ·   </a:t>
            </a:r>
            <a:r>
              <a:rPr sz="1100" b="1" i="0" spc="120" dirty="0" err="1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C반</a:t>
            </a:r>
            <a:r>
              <a:rPr sz="1100" b="1" i="0" spc="120" dirty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 4팀   ·   </a:t>
            </a:r>
            <a:r>
              <a:rPr sz="1100" b="1" i="0" spc="120" dirty="0" err="1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프로젝트</a:t>
            </a:r>
            <a:r>
              <a:rPr sz="1100" b="1" i="0" spc="120" dirty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00" b="1" i="0" spc="120" dirty="0" err="1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요약</a:t>
            </a:r>
            <a:r>
              <a:rPr sz="1100" b="1" i="0" spc="120" dirty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00" b="1" i="0" spc="120" dirty="0" err="1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포스터</a:t>
            </a:r>
            <a:endParaRPr sz="1100" b="1" i="0" spc="120" dirty="0">
              <a:solidFill>
                <a:srgbClr val="CADCFC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8912" y="822960"/>
            <a:ext cx="6645584" cy="82296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ambria"/>
                <a:ea typeface="Malgun Gothic"/>
                <a:cs typeface="Cambria"/>
              </a:rPr>
              <a:t>Copilot </a:t>
            </a:r>
            <a:r>
              <a:rPr sz="3600" b="1" i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Meta-Prompting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672" y="656823"/>
            <a:ext cx="3048000" cy="125804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00" b="0" i="0" dirty="0" err="1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김태용</a:t>
            </a:r>
            <a:r>
              <a:rPr sz="800" b="0" i="0" dirty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00" b="0" i="0" dirty="0" err="1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연구원</a:t>
            </a:r>
            <a:r>
              <a:rPr lang="en-US" sz="800" b="0" i="0" dirty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800" b="0" i="0" dirty="0" err="1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김민정</a:t>
            </a:r>
            <a:r>
              <a:rPr sz="800" b="0" i="0" dirty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800" b="0" i="0" dirty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연</a:t>
            </a:r>
            <a:r>
              <a:rPr sz="800" b="0" i="0" dirty="0" err="1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구원</a:t>
            </a:r>
            <a:r>
              <a:rPr lang="en-US" sz="800" dirty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800" b="0" i="0" dirty="0" err="1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박혜림</a:t>
            </a:r>
            <a:r>
              <a:rPr sz="800" b="0" i="0" dirty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00" b="0" i="0" dirty="0" err="1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연구원</a:t>
            </a:r>
            <a:r>
              <a:rPr lang="en-US" sz="800" b="0" i="0" dirty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800" b="0" i="0" dirty="0" err="1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홍창표</a:t>
            </a:r>
            <a:r>
              <a:rPr sz="800" b="0" i="0" dirty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00" b="0" i="0" dirty="0" err="1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연구원</a:t>
            </a:r>
            <a:endParaRPr sz="800" b="0" i="0" dirty="0">
              <a:solidFill>
                <a:srgbClr val="CADCFC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627632"/>
            <a:ext cx="6645584" cy="384048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VSCode Copilot 확장에서 간편하게 사용하는 프롬프트 개선 서비스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39696"/>
            <a:ext cx="6645584" cy="548640"/>
          </a:xfrm>
          <a:prstGeom prst="roundRect">
            <a:avLst>
              <a:gd name="adj" fmla="val 9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139696"/>
            <a:ext cx="6279824" cy="548640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 dirty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@refine</a:t>
            </a:r>
            <a:r>
              <a:rPr sz="1250" b="0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250" b="0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간단한</a:t>
            </a:r>
            <a:r>
              <a:rPr sz="1250" b="0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프롬프트를</a:t>
            </a:r>
            <a:r>
              <a:rPr sz="1250" b="0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구조화된</a:t>
            </a:r>
            <a:r>
              <a:rPr sz="1250" b="0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프롬프트로</a:t>
            </a:r>
            <a:endParaRPr sz="1250" b="0" i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2779776"/>
            <a:ext cx="1371600" cy="493776"/>
          </a:xfrm>
          <a:prstGeom prst="roundRect">
            <a:avLst>
              <a:gd name="adj" fmla="val 50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779776"/>
            <a:ext cx="137160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사용자 입력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779776"/>
            <a:ext cx="41148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2779776"/>
            <a:ext cx="3127248" cy="493776"/>
          </a:xfrm>
          <a:prstGeom prst="roundRect">
            <a:avLst>
              <a:gd name="adj" fmla="val 16000"/>
            </a:avLst>
          </a:prstGeom>
          <a:solidFill>
            <a:srgbClr val="1A253D"/>
          </a:solidFill>
          <a:ln w="12700">
            <a:solidFill>
              <a:srgbClr val="23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40280" y="2779776"/>
            <a:ext cx="3127248" cy="493776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정제</a:t>
            </a:r>
            <a:r>
              <a:rPr sz="1200" b="1" i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  ›  </a:t>
            </a:r>
            <a:r>
              <a:rPr sz="11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검색</a:t>
            </a:r>
            <a:r>
              <a:rPr sz="1200" b="1" i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  ›  </a:t>
            </a:r>
            <a:r>
              <a:rPr sz="11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리랭킹</a:t>
            </a:r>
            <a:r>
              <a:rPr sz="1200" b="1" i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  ›  </a:t>
            </a:r>
            <a:r>
              <a:rPr sz="11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생성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2779776"/>
            <a:ext cx="41148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79008" y="2779776"/>
            <a:ext cx="1323776" cy="493776"/>
          </a:xfrm>
          <a:prstGeom prst="roundRect">
            <a:avLst>
              <a:gd name="adj" fmla="val 50000"/>
            </a:avLst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79008" y="2779776"/>
            <a:ext cx="132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향상된 프롬프트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3675887"/>
            <a:ext cx="420624" cy="42062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  <a:ea typeface="Malgun Gothic"/>
                <a:cs typeface="Cambria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639311"/>
            <a:ext cx="6042080" cy="256032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6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배경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822191"/>
            <a:ext cx="6042080" cy="36576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왜 메타프롬프팅인가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60520"/>
            <a:ext cx="6645584" cy="411480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문제   </a:t>
            </a:r>
            <a:r>
              <a:rPr sz="125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짧고 모호한 프롬프트 → 빗나간 답 → 다시 묻는 비효율. 토큰·시간 낭비.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617720"/>
            <a:ext cx="6645584" cy="713232"/>
          </a:xfrm>
          <a:prstGeom prst="roundRect">
            <a:avLst>
              <a:gd name="adj" fmla="val 6000"/>
            </a:avLst>
          </a:prstGeom>
          <a:solidFill>
            <a:srgbClr val="1A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" y="4757930"/>
            <a:ext cx="6206672" cy="432811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1" i="0" dirty="0" err="1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핵심</a:t>
            </a:r>
            <a:r>
              <a:rPr sz="1150" b="1" i="0" dirty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1" i="0" dirty="0" err="1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인사이트</a:t>
            </a:r>
            <a:r>
              <a:rPr sz="1150" b="1" i="0" dirty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    </a:t>
            </a:r>
            <a:r>
              <a:rPr lang="ko-KR" altLang="en-US" sz="1250" b="0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답은</a:t>
            </a:r>
            <a:r>
              <a:rPr sz="1250" b="0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50" b="1" i="0" dirty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“더 </a:t>
            </a:r>
            <a:r>
              <a:rPr sz="1250" b="1" i="0" dirty="0" err="1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비싼</a:t>
            </a:r>
            <a:r>
              <a:rPr sz="1250" b="1" i="0" dirty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50" b="1" i="0" dirty="0" err="1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모델”</a:t>
            </a:r>
            <a:r>
              <a:rPr sz="1250" b="0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</a:t>
            </a:r>
            <a:r>
              <a:rPr sz="1250" b="0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아니라</a:t>
            </a:r>
            <a:r>
              <a:rPr sz="1250" b="0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50" b="1" i="0" dirty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“더 </a:t>
            </a:r>
            <a:r>
              <a:rPr lang="ko-KR" altLang="en-US" sz="1250" b="1" dirty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구조화된</a:t>
            </a:r>
            <a:r>
              <a:rPr sz="1250" b="1" i="0" dirty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50" b="1" i="0" dirty="0" err="1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프롬프트</a:t>
            </a:r>
            <a:r>
              <a:rPr sz="1250" b="1" i="0" dirty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”</a:t>
            </a:r>
            <a:r>
              <a:rPr sz="1250" b="0" i="0" dirty="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.</a:t>
            </a:r>
          </a:p>
          <a:p>
            <a:pPr algn="l">
              <a:spcAft>
                <a:spcPts val="0"/>
              </a:spcAft>
            </a:pPr>
            <a:r>
              <a:rPr lang="en-US" sz="1250" b="0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		    </a:t>
            </a:r>
            <a:r>
              <a:rPr sz="1250" b="0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소형</a:t>
            </a:r>
            <a:r>
              <a:rPr sz="1250" b="0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모델도</a:t>
            </a:r>
            <a:r>
              <a:rPr sz="1250" b="0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잘 </a:t>
            </a:r>
            <a:r>
              <a:rPr sz="1250" b="0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설계된</a:t>
            </a:r>
            <a:r>
              <a:rPr sz="1250" b="0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프롬프트면</a:t>
            </a:r>
            <a:r>
              <a:rPr sz="1250" b="0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고품질</a:t>
            </a:r>
            <a:r>
              <a:rPr sz="1250" b="0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→ </a:t>
            </a:r>
            <a:r>
              <a:rPr lang="ko-KR" altLang="en-US" sz="1250" b="1" dirty="0">
                <a:solidFill>
                  <a:srgbClr val="1E9E57"/>
                </a:solidFill>
                <a:latin typeface="Malgun Gothic"/>
                <a:ea typeface="Malgun Gothic"/>
                <a:cs typeface="Malgun Gothic"/>
              </a:rPr>
              <a:t>비용</a:t>
            </a:r>
            <a:r>
              <a:rPr sz="1250" b="1" i="0" dirty="0">
                <a:solidFill>
                  <a:srgbClr val="1E9E5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50" b="1" i="0" dirty="0" err="1">
                <a:solidFill>
                  <a:srgbClr val="1E9E57"/>
                </a:solidFill>
                <a:latin typeface="Malgun Gothic"/>
                <a:ea typeface="Malgun Gothic"/>
                <a:cs typeface="Malgun Gothic"/>
              </a:rPr>
              <a:t>절감</a:t>
            </a:r>
            <a:r>
              <a:rPr sz="1250" b="0" i="0" dirty="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40680"/>
            <a:ext cx="6645584" cy="207749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 dirty="0" err="1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실제</a:t>
            </a:r>
            <a:r>
              <a:rPr sz="1350" b="1" i="0" dirty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1" i="0" dirty="0" err="1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사용사례</a:t>
            </a:r>
            <a:r>
              <a:rPr sz="1100" b="0" i="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    </a:t>
            </a:r>
            <a:r>
              <a:rPr sz="1100" b="0" i="0" dirty="0" err="1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원본</a:t>
            </a:r>
            <a:r>
              <a:rPr sz="1100" b="0" i="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 한 </a:t>
            </a:r>
            <a:r>
              <a:rPr sz="1100" b="0" i="0" dirty="0" err="1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줄이</a:t>
            </a:r>
            <a:r>
              <a:rPr sz="1100" b="0" i="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00" b="0" i="0" dirty="0" err="1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실무</a:t>
            </a:r>
            <a:r>
              <a:rPr sz="1100" b="0" i="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00" b="0" i="0" dirty="0" err="1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설계</a:t>
            </a:r>
            <a:r>
              <a:rPr sz="1100" b="0" i="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00" b="0" i="0" dirty="0" err="1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명세로</a:t>
            </a:r>
            <a:r>
              <a:rPr sz="1100" b="0" i="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100" b="0" i="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정제</a:t>
            </a:r>
            <a:r>
              <a:rPr sz="1100" b="0" i="0" dirty="0" err="1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됩니다</a:t>
            </a:r>
            <a:endParaRPr sz="1100" b="0" i="0" dirty="0">
              <a:solidFill>
                <a:srgbClr val="66717E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57200" y="5742432"/>
            <a:ext cx="6645584" cy="566928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0080" y="587959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5879592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BEFORE · 원본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5742432"/>
            <a:ext cx="4771064" cy="566928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“레이트 리미터 만들어줘”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327648"/>
            <a:ext cx="6645584" cy="274320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@refine</a:t>
            </a:r>
            <a:r>
              <a:rPr sz="1100" b="1" i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  정제  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6656832"/>
            <a:ext cx="6645584" cy="3504803"/>
          </a:xfrm>
          <a:prstGeom prst="roundRect">
            <a:avLst>
              <a:gd name="adj" fmla="val 350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40080" y="6803136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6803136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AFTER · 정제본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7223760"/>
            <a:ext cx="1024128" cy="45720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역할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7360" y="7223760"/>
            <a:ext cx="5182544" cy="45720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대규모 트래픽 백엔드·분산 시스템 아키텍트 — 동시성·부하 분산·안정성 전문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7680960"/>
            <a:ext cx="1024128" cy="45720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임무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7680960"/>
            <a:ext cx="5182544" cy="45720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프로덕션급 Rate Limiter 설계·구현 — 단순 코드를 넘어 견고한 아키텍처 제안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8138160"/>
            <a:ext cx="1024128" cy="36576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필수 포함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37360" y="8138160"/>
            <a:ext cx="5182544" cy="141732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① 알고리즘 비교 — Token Bucket · Sliding Window · Fixed Window (버스트·메모리 트레이드오프)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② 동시성 안전 구현 — Python/Go, Redis 분산으로 단일 인스턴스 한계 극복. 한국어 주석 첨부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③ Race Condition 방지 — Lock 메커니즘 · Atomic 연산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④ 아키텍처 — 배치 위치(Gateway vs App) · 파라미터(window·max) · 예외(HTTP 상태코드)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9601200"/>
            <a:ext cx="1024128" cy="45720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출력 형식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37360" y="9601200"/>
            <a:ext cx="5182544" cy="45720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알고리즘 선택 근거 · 아키텍처 다이어그램 · 구현 코드 블록 · 동시성·확장성 요약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10271363"/>
            <a:ext cx="6096944" cy="274320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81F2B"/>
                </a:solidFill>
                <a:latin typeface="Cambria"/>
                <a:ea typeface="Malgun Gothic"/>
                <a:cs typeface="Cambria"/>
              </a:rPr>
              <a:t>Copilot Meta-Prompting</a:t>
            </a:r>
            <a:r>
              <a:rPr sz="850" b="0" i="0">
                <a:solidFill>
                  <a:srgbClr val="9AA4AE"/>
                </a:solidFill>
                <a:latin typeface="Malgun Gothic"/>
                <a:ea typeface="Malgun Gothic"/>
                <a:cs typeface="Malgun Gothic"/>
              </a:rPr>
              <a:t>    ·    SW Bootcamp 13기 C반 4팀    ·    github.com/swbteng/copilot-meta-prompting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1264" y="10271363"/>
            <a:ext cx="731520" cy="274320"/>
          </a:xfrm>
          <a:prstGeom prst="rect">
            <a:avLst/>
          </a:prstGeom>
          <a:noFill/>
        </p:spPr>
        <p:txBody>
          <a:bodyPr wrap="square" lIns="73152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9AA4AE"/>
                </a:solidFill>
                <a:latin typeface="Cambria"/>
                <a:ea typeface="Malgun Gothic"/>
                <a:cs typeface="Cambria"/>
              </a:rPr>
              <a:t>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566928"/>
            <a:ext cx="420624" cy="42062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  <a:ea typeface="Malgun Gothic"/>
                <a:cs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530352"/>
            <a:ext cx="6042080" cy="256032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6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아키텍처 &amp;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713232"/>
            <a:ext cx="6042080" cy="36576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전체 구조 — FE 확장 ↔ BE 파이프라인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6645584" cy="2121408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53895"/>
            <a:ext cx="6188384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6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FRONTEND</a:t>
            </a:r>
            <a:r>
              <a:rPr sz="14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  —   VS Code 확장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19656"/>
            <a:ext cx="6188384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19656"/>
            <a:ext cx="2286000" cy="402336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@refine 참가자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940032"/>
            <a:ext cx="3628064" cy="161583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ko-KR" altLang="en-US" sz="105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개선</a:t>
            </a:r>
            <a:r>
              <a:rPr sz="1050" b="0" i="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된 </a:t>
            </a:r>
            <a:r>
              <a:rPr sz="1050" b="0" i="0" dirty="0" err="1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프롬프트</a:t>
            </a:r>
            <a:r>
              <a:rPr sz="1050" b="0" i="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i="0" dirty="0" err="1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체크</a:t>
            </a:r>
            <a:r>
              <a:rPr sz="1050" b="0" i="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 + 5선택지 </a:t>
            </a:r>
            <a:r>
              <a:rPr sz="1050" b="0" i="0" dirty="0" err="1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제시</a:t>
            </a:r>
            <a:endParaRPr sz="1050" b="0" i="0" dirty="0">
              <a:solidFill>
                <a:srgbClr val="66717E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5800" y="2276856"/>
            <a:ext cx="6188384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276856"/>
            <a:ext cx="2286000" cy="402336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사이드바 (Webview)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276856"/>
            <a:ext cx="3628064" cy="402336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 dirty="0" err="1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원본→정제본</a:t>
            </a:r>
            <a:r>
              <a:rPr sz="1050" b="0" i="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i="0" dirty="0" err="1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카드</a:t>
            </a:r>
            <a:r>
              <a:rPr sz="1050" b="0" i="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050" b="0" i="0" dirty="0" err="1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검색</a:t>
            </a:r>
            <a:endParaRPr sz="1050" b="0" i="0" dirty="0">
              <a:solidFill>
                <a:srgbClr val="66717E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85800" y="2734056"/>
            <a:ext cx="6188384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734056"/>
            <a:ext cx="2286000" cy="402336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로그 (JSONL)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734056"/>
            <a:ext cx="3628064" cy="402336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6717E"/>
                </a:solidFill>
                <a:latin typeface="Calibri"/>
                <a:ea typeface="Malgun Gothic"/>
                <a:cs typeface="Calibri"/>
              </a:rPr>
              <a:t>observe-YYYY-MM-DD.log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172968"/>
            <a:ext cx="6188384" cy="256032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40">
                <a:solidFill>
                  <a:srgbClr val="9AA4AE"/>
                </a:solidFill>
                <a:latin typeface="Malgun Gothic"/>
                <a:ea typeface="Malgun Gothic"/>
                <a:cs typeface="Malgun Gothic"/>
              </a:rPr>
              <a:t>순수 JS   ·   런타임 의존성 0   ·   승인 게이트 기반 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483863"/>
            <a:ext cx="6645584" cy="31089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 spc="4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▼  HTTP   POST /refine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49624"/>
            <a:ext cx="6645584" cy="420624"/>
          </a:xfrm>
          <a:prstGeom prst="roundRect">
            <a:avLst>
              <a:gd name="adj" fmla="val 12000"/>
            </a:avLst>
          </a:prstGeom>
          <a:solidFill>
            <a:srgbClr val="1A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849624"/>
            <a:ext cx="6188384" cy="420624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6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BACKEND</a:t>
            </a: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  —   FastAPI · 프롬프트 향상 매커니즘 4단계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361688"/>
            <a:ext cx="6645584" cy="713232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0080" y="4535424"/>
            <a:ext cx="365760" cy="36576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  <a:ea typeface="Malgun Gothic"/>
                <a:cs typeface="Cambria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434840"/>
            <a:ext cx="2103120" cy="292608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LLM 정제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4754879"/>
            <a:ext cx="914400" cy="246888"/>
          </a:xfrm>
          <a:prstGeom prst="roundRect">
            <a:avLst>
              <a:gd name="adj" fmla="val 35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43000" y="4754879"/>
            <a:ext cx="9144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CADCFC"/>
                </a:solidFill>
                <a:latin typeface="Calibri"/>
                <a:ea typeface="Malgun Gothic"/>
                <a:cs typeface="Calibri"/>
              </a:rPr>
              <a:t>/rewrite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4361688"/>
            <a:ext cx="3993824" cy="713232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모호한 입력을 명료한 영어 프롬프트로 재작성. 의도 보존.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111496"/>
            <a:ext cx="6645584" cy="713232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Oval 26"/>
          <p:cNvSpPr/>
          <p:nvPr/>
        </p:nvSpPr>
        <p:spPr>
          <a:xfrm>
            <a:off x="640080" y="5285232"/>
            <a:ext cx="365760" cy="36576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  <a:ea typeface="Malgun Gothic"/>
                <a:cs typeface="Cambria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184648"/>
            <a:ext cx="2103120" cy="292608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벡터 검색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" y="5504688"/>
            <a:ext cx="914400" cy="246888"/>
          </a:xfrm>
          <a:prstGeom prst="roundRect">
            <a:avLst>
              <a:gd name="adj" fmla="val 35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43000" y="5504688"/>
            <a:ext cx="9144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CADCFC"/>
                </a:solidFill>
                <a:latin typeface="Calibri"/>
                <a:ea typeface="Malgun Gothic"/>
                <a:cs typeface="Calibri"/>
              </a:rPr>
              <a:t>/search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71800" y="5289409"/>
            <a:ext cx="3993824" cy="357406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ko-KR" altLang="en-US" sz="115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검증된 프롬프트 템플릿을 </a:t>
            </a:r>
            <a:r>
              <a:rPr lang="ko-KR" altLang="en-US" sz="1150" dirty="0" err="1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임베딩화하여</a:t>
            </a:r>
            <a:r>
              <a:rPr lang="ko-KR" altLang="en-US" sz="115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 벡터</a:t>
            </a:r>
            <a:r>
              <a:rPr lang="en-US" altLang="ko-KR" sz="115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DB </a:t>
            </a:r>
            <a:r>
              <a:rPr lang="ko-KR" altLang="en-US" sz="115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구성</a:t>
            </a:r>
            <a:r>
              <a:rPr lang="en-US" altLang="ko-KR" sz="115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 -&gt; </a:t>
            </a:r>
            <a:r>
              <a:rPr lang="ko-KR" altLang="en-US" sz="115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유저 입력</a:t>
            </a:r>
            <a:r>
              <a:rPr sz="1150" b="0" i="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을 </a:t>
            </a:r>
            <a:r>
              <a:rPr sz="1150" b="0" i="0" dirty="0" err="1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임베딩해</a:t>
            </a:r>
            <a:r>
              <a:rPr sz="1150" b="0" i="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0" i="0" dirty="0" err="1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코사인</a:t>
            </a:r>
            <a:r>
              <a:rPr sz="1150" b="0" i="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0" i="0" dirty="0" err="1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유사도</a:t>
            </a:r>
            <a:r>
              <a:rPr sz="1150" b="0" i="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 Top-20 </a:t>
            </a:r>
            <a:r>
              <a:rPr sz="1150" b="0" i="0" dirty="0" err="1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검색</a:t>
            </a:r>
            <a:r>
              <a:rPr lang="en-US" sz="1150" b="0" i="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1150" b="0" i="0" dirty="0">
              <a:solidFill>
                <a:srgbClr val="66717E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57200" y="5861304"/>
            <a:ext cx="6645584" cy="713232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40080" y="6035040"/>
            <a:ext cx="365760" cy="36576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  <a:ea typeface="Malgun Gothic"/>
                <a:cs typeface="Cambria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5934456"/>
            <a:ext cx="2103120" cy="292608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리랭킹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43000" y="6254496"/>
            <a:ext cx="914400" cy="246888"/>
          </a:xfrm>
          <a:prstGeom prst="roundRect">
            <a:avLst>
              <a:gd name="adj" fmla="val 35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43000" y="6254496"/>
            <a:ext cx="9144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CADCFC"/>
                </a:solidFill>
                <a:latin typeface="Calibri"/>
                <a:ea typeface="Malgun Gothic"/>
                <a:cs typeface="Calibri"/>
              </a:rPr>
              <a:t>/rerank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71800" y="5861304"/>
            <a:ext cx="3993824" cy="713232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Reranker로 의미 적합성 재점수화 → 최종 Top-3 선별.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6611112"/>
            <a:ext cx="6645584" cy="713232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40080" y="6784848"/>
            <a:ext cx="365760" cy="36576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  <a:ea typeface="Malgun Gothic"/>
                <a:cs typeface="Cambria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6684264"/>
            <a:ext cx="2103120" cy="292608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LLM 최종 생성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43000" y="7004304"/>
            <a:ext cx="914400" cy="246888"/>
          </a:xfrm>
          <a:prstGeom prst="roundRect">
            <a:avLst>
              <a:gd name="adj" fmla="val 35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43000" y="7004304"/>
            <a:ext cx="9144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CADCFC"/>
                </a:solidFill>
                <a:latin typeface="Calibri"/>
                <a:ea typeface="Malgun Gothic"/>
                <a:cs typeface="Calibri"/>
              </a:rPr>
              <a:t>/generate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71800" y="6881935"/>
            <a:ext cx="3993824" cy="171585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Top-3 </a:t>
            </a:r>
            <a:r>
              <a:rPr lang="ko-KR" altLang="en-US" sz="115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참고 및</a:t>
            </a:r>
            <a:r>
              <a:rPr sz="1150" b="0" i="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0" i="0" dirty="0" err="1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원본</a:t>
            </a:r>
            <a:r>
              <a:rPr sz="1150" b="0" i="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0" i="0" dirty="0" err="1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의도로</a:t>
            </a:r>
            <a:r>
              <a:rPr sz="1150" b="0" i="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0" i="0" dirty="0" err="1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최종</a:t>
            </a:r>
            <a:r>
              <a:rPr sz="1150" b="0" i="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0" i="0" dirty="0" err="1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프롬프트</a:t>
            </a:r>
            <a:r>
              <a:rPr sz="1150" b="0" i="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15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작성</a:t>
            </a:r>
            <a:r>
              <a:rPr sz="1150" b="0" i="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7470648"/>
            <a:ext cx="6645584" cy="292608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81F2B"/>
                </a:solidFill>
                <a:latin typeface="Cambria"/>
                <a:ea typeface="Malgun Gothic"/>
                <a:cs typeface="Cambria"/>
              </a:rPr>
              <a:t>@refine UX</a:t>
            </a:r>
            <a:r>
              <a:rPr sz="1250" b="1" i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  —  5가지 승인 선택지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7836408"/>
            <a:ext cx="6645584" cy="402336"/>
          </a:xfrm>
          <a:prstGeom prst="roundRect">
            <a:avLst>
              <a:gd name="adj" fmla="val 9000"/>
            </a:avLst>
          </a:prstGeom>
          <a:solidFill>
            <a:srgbClr val="F3F5F8"/>
          </a:solidFill>
          <a:ln w="9525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80" y="7836408"/>
            <a:ext cx="2011680" cy="402336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✓  전송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97480" y="7836408"/>
            <a:ext cx="4222424" cy="402336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정제본 자동 전송 (기록 남김)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8257032"/>
            <a:ext cx="6645584" cy="402336"/>
          </a:xfrm>
          <a:prstGeom prst="roundRect">
            <a:avLst>
              <a:gd name="adj" fmla="val 9000"/>
            </a:avLst>
          </a:prstGeom>
          <a:solidFill>
            <a:srgbClr val="F3F5F8"/>
          </a:solidFill>
          <a:ln w="9525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" y="8257032"/>
            <a:ext cx="2011680" cy="402336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✎  수정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97480" y="8257032"/>
            <a:ext cx="4222424" cy="402336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정제본을 입력창에 채워 편집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8677656"/>
            <a:ext cx="6645584" cy="402336"/>
          </a:xfrm>
          <a:prstGeom prst="roundRect">
            <a:avLst>
              <a:gd name="adj" fmla="val 9000"/>
            </a:avLst>
          </a:prstGeom>
          <a:solidFill>
            <a:srgbClr val="F3F5F8"/>
          </a:solidFill>
          <a:ln w="9525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0080" y="8677656"/>
            <a:ext cx="2011680" cy="402336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↻  다시 정제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97480" y="8677656"/>
            <a:ext cx="4222424" cy="402336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동일 원본으로 재정제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9098280"/>
            <a:ext cx="6645584" cy="402336"/>
          </a:xfrm>
          <a:prstGeom prst="roundRect">
            <a:avLst>
              <a:gd name="adj" fmla="val 9000"/>
            </a:avLst>
          </a:prstGeom>
          <a:solidFill>
            <a:srgbClr val="F3F5F8"/>
          </a:solidFill>
          <a:ln w="9525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0080" y="9098280"/>
            <a:ext cx="2011680" cy="402336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→  원본 전송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97480" y="9098280"/>
            <a:ext cx="4222424" cy="402336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정제</a:t>
            </a:r>
            <a:r>
              <a:rPr sz="110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0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없이</a:t>
            </a:r>
            <a:r>
              <a:rPr sz="110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0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원본</a:t>
            </a:r>
            <a:r>
              <a:rPr sz="110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0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그대로</a:t>
            </a:r>
            <a:r>
              <a:rPr sz="110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0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전송</a:t>
            </a:r>
            <a:endParaRPr sz="1100" b="0" i="0" dirty="0">
              <a:solidFill>
                <a:srgbClr val="181F2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457200" y="9518904"/>
            <a:ext cx="6645584" cy="402336"/>
          </a:xfrm>
          <a:prstGeom prst="roundRect">
            <a:avLst>
              <a:gd name="adj" fmla="val 9000"/>
            </a:avLst>
          </a:prstGeom>
          <a:solidFill>
            <a:srgbClr val="F3F5F8"/>
          </a:solidFill>
          <a:ln w="9525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0080" y="9518904"/>
            <a:ext cx="2011680" cy="402336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✕  취소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97480" y="9518904"/>
            <a:ext cx="4222424" cy="402336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@refine 원본을 입력창에 복원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10271363"/>
            <a:ext cx="6096944" cy="274320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81F2B"/>
                </a:solidFill>
                <a:latin typeface="Cambria"/>
                <a:ea typeface="Malgun Gothic"/>
                <a:cs typeface="Cambria"/>
              </a:rPr>
              <a:t>Copilot Meta-Prompting</a:t>
            </a:r>
            <a:r>
              <a:rPr sz="850" b="0" i="0">
                <a:solidFill>
                  <a:srgbClr val="9AA4AE"/>
                </a:solidFill>
                <a:latin typeface="Malgun Gothic"/>
                <a:ea typeface="Malgun Gothic"/>
                <a:cs typeface="Malgun Gothic"/>
              </a:rPr>
              <a:t>    ·    SW Bootcamp 13기 C반 4팀    ·    github.com/swbteng/copilot-meta-prompting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71264" y="10271363"/>
            <a:ext cx="731520" cy="274320"/>
          </a:xfrm>
          <a:prstGeom prst="rect">
            <a:avLst/>
          </a:prstGeom>
          <a:noFill/>
        </p:spPr>
        <p:txBody>
          <a:bodyPr wrap="square" lIns="73152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9AA4AE"/>
                </a:solidFill>
                <a:latin typeface="Cambria"/>
                <a:ea typeface="Malgun Gothic"/>
                <a:cs typeface="Cambria"/>
              </a:rPr>
              <a:t>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472</Words>
  <Application>Microsoft Office PowerPoint</Application>
  <PresentationFormat>사용자 지정</PresentationFormat>
  <Paragraphs>76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Cambria</vt:lpstr>
      <vt:lpstr>Arial</vt:lpstr>
      <vt:lpstr>Malgun Gothic</vt:lpstr>
      <vt:lpstr>Calibri</vt:lpstr>
      <vt:lpstr>Office Theme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홍창표/연구원/O&amp;O서비스개발팀</cp:lastModifiedBy>
  <cp:revision>4</cp:revision>
  <dcterms:created xsi:type="dcterms:W3CDTF">2013-01-27T09:14:16Z</dcterms:created>
  <dcterms:modified xsi:type="dcterms:W3CDTF">2026-07-01T07:02:11Z</dcterms:modified>
  <cp:category/>
</cp:coreProperties>
</file>